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b085bff3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b085bff3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a:t>
            </a:r>
            <a:r>
              <a:rPr lang="en-GB" sz="1800">
                <a:latin typeface="Google Sans Flex"/>
                <a:ea typeface="Google Sans Flex"/>
                <a:cs typeface="Google Sans Flex"/>
                <a:sym typeface="Google Sans Flex"/>
              </a:rPr>
              <a:t>ServerMaya</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a:t>
            </a:r>
            <a:r>
              <a:rPr lang="en-GB" sz="1800">
                <a:latin typeface="Google Sans Flex"/>
                <a:ea typeface="Google Sans Flex"/>
                <a:cs typeface="Google Sans Flex"/>
                <a:sym typeface="Google Sans Flex"/>
              </a:rPr>
              <a:t>Jan Beatrix Escarda</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a:t>
            </a:r>
            <a:r>
              <a:rPr lang="en-GB" sz="1300">
                <a:latin typeface="Google Sans Flex"/>
                <a:ea typeface="Google Sans Flex"/>
                <a:cs typeface="Google Sans Flex"/>
                <a:sym typeface="Google Sans Flex"/>
              </a:rPr>
              <a:t>Southeast Asia lost up to US$23.6B to scams and fraud in 2024 (ASEAN Foundation). Small sellers face fake receipts and disputed deliveries. Records split across chats, payment apps and couriers make claims hard to check before shipping or refunding. Source: https://aseanfoundation.org/programme/scam-ready-asean/</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sp>
        <p:nvSpPr>
          <p:cNvPr id="62" name="Google Shape;62;p14"/>
          <p:cNvSpPr/>
          <p:nvPr/>
        </p:nvSpPr>
        <p:spPr>
          <a:xfrm>
            <a:off x="0"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txBox="1"/>
          <p:nvPr/>
        </p:nvSpPr>
        <p:spPr>
          <a:xfrm>
            <a:off x="5092475" y="1968750"/>
            <a:ext cx="3311400" cy="120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lt1"/>
                </a:solidFill>
                <a:latin typeface="Google Sans Flex Medium"/>
                <a:ea typeface="Google Sans Flex Medium"/>
                <a:cs typeface="Google Sans Flex Medium"/>
                <a:sym typeface="Google Sans Flex Medium"/>
              </a:rPr>
              <a:t>Note:</a:t>
            </a:r>
            <a:r>
              <a:rPr lang="en-GB" sz="1100">
                <a:solidFill>
                  <a:schemeClr val="lt1"/>
                </a:solidFill>
                <a:latin typeface="Google Sans Flex"/>
                <a:ea typeface="Google Sans Flex"/>
                <a:cs typeface="Google Sans Flex"/>
                <a:sym typeface="Google Sans Flex"/>
              </a:rPr>
              <a:t> Please download this template to make your edits and submit the final version.</a:t>
            </a:r>
            <a:br>
              <a:rPr lang="en-GB" sz="1100">
                <a:solidFill>
                  <a:schemeClr val="lt1"/>
                </a:solidFill>
                <a:latin typeface="Google Sans Flex"/>
                <a:ea typeface="Google Sans Flex"/>
                <a:cs typeface="Google Sans Flex"/>
                <a:sym typeface="Google Sans Flex"/>
              </a:rPr>
            </a:br>
            <a:br>
              <a:rPr lang="en-GB" sz="1100">
                <a:solidFill>
                  <a:schemeClr val="lt1"/>
                </a:solidFill>
                <a:latin typeface="Google Sans Flex"/>
                <a:ea typeface="Google Sans Flex"/>
                <a:cs typeface="Google Sans Flex"/>
                <a:sym typeface="Google Sans Flex"/>
              </a:rPr>
            </a:br>
            <a:r>
              <a:rPr lang="en-GB" sz="1100">
                <a:solidFill>
                  <a:schemeClr val="lt1"/>
                </a:solidFill>
                <a:latin typeface="Google Sans Flex"/>
                <a:ea typeface="Google Sans Flex"/>
                <a:cs typeface="Google Sans Flex"/>
                <a:sym typeface="Google Sans Flex"/>
              </a:rPr>
              <a:t>To download, go to File &gt; Download &gt; Microsoft PowerPoint (.PPTX). Kindly refrain from sending edit requests.</a:t>
            </a:r>
            <a:endParaRPr sz="1100">
              <a:solidFill>
                <a:schemeClr val="lt1"/>
              </a:solidFill>
              <a:latin typeface="Google Sans Flex"/>
              <a:ea typeface="Google Sans Flex"/>
              <a:cs typeface="Google Sans Flex"/>
              <a:sym typeface="Google Sans Flex"/>
            </a:endParaRPr>
          </a:p>
          <a:p>
            <a:pPr indent="0" lvl="0" marL="0" rtl="0" algn="l">
              <a:spcBef>
                <a:spcPts val="0"/>
              </a:spcBef>
              <a:spcAft>
                <a:spcPts val="0"/>
              </a:spcAft>
              <a:buNone/>
            </a:pPr>
            <a:r>
              <a:t/>
            </a:r>
            <a:endParaRPr sz="1100">
              <a:solidFill>
                <a:schemeClr val="lt1"/>
              </a:solidFill>
              <a:latin typeface="Google Sans Flex"/>
              <a:ea typeface="Google Sans Flex"/>
              <a:cs typeface="Google Sans Flex"/>
              <a:sym typeface="Google Sans Flex"/>
            </a:endParaRPr>
          </a:p>
        </p:txBody>
      </p:sp>
      <p:pic>
        <p:nvPicPr>
          <p:cNvPr id="64" name="Google Shape;64;p14"/>
          <p:cNvPicPr preferRelativeResize="0"/>
          <p:nvPr/>
        </p:nvPicPr>
        <p:blipFill>
          <a:blip r:embed="rId4">
            <a:alphaModFix/>
          </a:blip>
          <a:stretch>
            <a:fillRect/>
          </a:stretch>
        </p:blipFill>
        <p:spPr>
          <a:xfrm>
            <a:off x="924203" y="1194675"/>
            <a:ext cx="3604250" cy="2621725"/>
          </a:xfrm>
          <a:prstGeom prst="rect">
            <a:avLst/>
          </a:prstGeom>
          <a:noFill/>
          <a:ln>
            <a:noFill/>
          </a:ln>
          <a:effectLst>
            <a:outerShdw blurRad="971550" rotWithShape="0" algn="bl" dir="5400000" dist="19050">
              <a:schemeClr val="lt1">
                <a:alpha val="50000"/>
              </a:scheme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Google Shape;72;p15"/>
          <p:cNvSpPr txBox="1"/>
          <p:nvPr/>
        </p:nvSpPr>
        <p:spPr>
          <a:xfrm>
            <a:off x="342900" y="1017963"/>
            <a:ext cx="8458200" cy="1155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800">
                <a:latin typeface="Google Sans Flex Medium"/>
                <a:ea typeface="Google Sans Flex Medium"/>
                <a:cs typeface="Google Sans Flex Medium"/>
                <a:sym typeface="Google Sans Flex Medium"/>
              </a:rPr>
              <a:t>SURI: Seller Understanding, Risk &amp; Insights</a:t>
            </a:r>
            <a:endParaRPr sz="18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200">
                <a:latin typeface="Google Sans Flex"/>
                <a:ea typeface="Google Sans Flex"/>
                <a:cs typeface="Google Sans Flex"/>
                <a:sym typeface="Google Sans Flex"/>
              </a:rPr>
              <a:t>An AI assistant for small sellers taking orders through Messenger.</a:t>
            </a:r>
            <a:endParaRPr sz="12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200">
                <a:latin typeface="Google Sans Flex"/>
                <a:ea typeface="Google Sans Flex"/>
                <a:cs typeface="Google Sans Flex"/>
                <a:sym typeface="Google Sans Flex"/>
              </a:rPr>
              <a:t>Helps sellers check payment claims and complaints against order records,</a:t>
            </a:r>
            <a:endParaRPr sz="1200">
              <a:latin typeface="Google Sans Flex"/>
              <a:ea typeface="Google Sans Flex"/>
              <a:cs typeface="Google Sans Flex"/>
              <a:sym typeface="Google Sans Flex"/>
            </a:endParaRPr>
          </a:p>
          <a:p>
            <a:pPr indent="0" lvl="0" marL="0" rtl="0" algn="l">
              <a:lnSpc>
                <a:spcPct val="110000"/>
              </a:lnSpc>
              <a:spcBef>
                <a:spcPts val="600"/>
              </a:spcBef>
              <a:spcAft>
                <a:spcPts val="600"/>
              </a:spcAft>
              <a:buNone/>
            </a:pPr>
            <a:r>
              <a:rPr lang="en-GB" sz="1200">
                <a:latin typeface="Google Sans Flex"/>
                <a:ea typeface="Google Sans Flex"/>
                <a:cs typeface="Google Sans Flex"/>
                <a:sym typeface="Google Sans Flex"/>
              </a:rPr>
              <a:t>packing photos and delivery proofs. Starting with the Philippines.</a:t>
            </a:r>
            <a:endParaRPr sz="1200">
              <a:latin typeface="Google Sans Flex"/>
              <a:ea typeface="Google Sans Flex"/>
              <a:cs typeface="Google Sans Flex"/>
              <a:sym typeface="Google Sans Flex"/>
            </a:endParaRPr>
          </a:p>
        </p:txBody>
      </p:sp>
      <p:sp>
        <p:nvSpPr>
          <p:cNvPr id="73" name="Google Shape;73;p15"/>
          <p:cNvSpPr txBox="1"/>
          <p:nvPr/>
        </p:nvSpPr>
        <p:spPr>
          <a:xfrm>
            <a:off x="342900" y="2478463"/>
            <a:ext cx="3936900" cy="1155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00">
                <a:latin typeface="Google Sans Flex Medium"/>
                <a:ea typeface="Google Sans Flex Medium"/>
                <a:cs typeface="Google Sans Flex Medium"/>
                <a:sym typeface="Google Sans Flex Medium"/>
              </a:rPr>
              <a:t>The problem</a:t>
            </a:r>
            <a:endParaRPr sz="14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200">
                <a:latin typeface="Google Sans Flex"/>
                <a:ea typeface="Google Sans Flex"/>
                <a:cs typeface="Google Sans Flex"/>
                <a:sym typeface="Google Sans Flex"/>
              </a:rPr>
              <a:t>Fake receipts and disputed deliveries can</a:t>
            </a:r>
            <a:endParaRPr sz="12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200">
                <a:latin typeface="Google Sans Flex"/>
                <a:ea typeface="Google Sans Flex"/>
                <a:cs typeface="Google Sans Flex"/>
                <a:sym typeface="Google Sans Flex"/>
              </a:rPr>
              <a:t>cost sellers goods or refunds. Records split</a:t>
            </a:r>
            <a:endParaRPr sz="1200">
              <a:latin typeface="Google Sans Flex"/>
              <a:ea typeface="Google Sans Flex"/>
              <a:cs typeface="Google Sans Flex"/>
              <a:sym typeface="Google Sans Flex"/>
            </a:endParaRPr>
          </a:p>
          <a:p>
            <a:pPr indent="0" lvl="0" marL="0" rtl="0" algn="l">
              <a:lnSpc>
                <a:spcPct val="110000"/>
              </a:lnSpc>
              <a:spcBef>
                <a:spcPts val="600"/>
              </a:spcBef>
              <a:spcAft>
                <a:spcPts val="600"/>
              </a:spcAft>
              <a:buNone/>
            </a:pPr>
            <a:r>
              <a:rPr lang="en-GB" sz="1200">
                <a:latin typeface="Google Sans Flex"/>
                <a:ea typeface="Google Sans Flex"/>
                <a:cs typeface="Google Sans Flex"/>
                <a:sym typeface="Google Sans Flex"/>
              </a:rPr>
              <a:t>across apps make claims hard to check.</a:t>
            </a:r>
            <a:endParaRPr sz="1200">
              <a:latin typeface="Google Sans Flex"/>
              <a:ea typeface="Google Sans Flex"/>
              <a:cs typeface="Google Sans Flex"/>
              <a:sym typeface="Google Sans Flex"/>
            </a:endParaRPr>
          </a:p>
        </p:txBody>
      </p:sp>
      <p:sp>
        <p:nvSpPr>
          <p:cNvPr id="74" name="Google Shape;74;p15"/>
          <p:cNvSpPr txBox="1"/>
          <p:nvPr/>
        </p:nvSpPr>
        <p:spPr>
          <a:xfrm>
            <a:off x="4762500" y="2478463"/>
            <a:ext cx="4038600" cy="1155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00">
                <a:latin typeface="Google Sans Flex Medium"/>
                <a:ea typeface="Google Sans Flex Medium"/>
                <a:cs typeface="Google Sans Flex Medium"/>
                <a:sym typeface="Google Sans Flex Medium"/>
              </a:rPr>
              <a:t>The solution</a:t>
            </a:r>
            <a:endParaRPr sz="14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200">
                <a:latin typeface="Google Sans Flex"/>
                <a:ea typeface="Google Sans Flex"/>
                <a:cs typeface="Google Sans Flex"/>
                <a:sym typeface="Google Sans Flex"/>
              </a:rPr>
              <a:t>AI reads chats, receipts and visual evidence.</a:t>
            </a:r>
            <a:endParaRPr sz="12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200">
                <a:latin typeface="Google Sans Flex"/>
                <a:ea typeface="Google Sans Flex"/>
                <a:cs typeface="Google Sans Flex"/>
                <a:sym typeface="Google Sans Flex"/>
              </a:rPr>
              <a:t>It highlights conflicts and missing proof,</a:t>
            </a:r>
            <a:endParaRPr sz="1200">
              <a:latin typeface="Google Sans Flex"/>
              <a:ea typeface="Google Sans Flex"/>
              <a:cs typeface="Google Sans Flex"/>
              <a:sym typeface="Google Sans Flex"/>
            </a:endParaRPr>
          </a:p>
          <a:p>
            <a:pPr indent="0" lvl="0" marL="0" rtl="0" algn="l">
              <a:lnSpc>
                <a:spcPct val="110000"/>
              </a:lnSpc>
              <a:spcBef>
                <a:spcPts val="600"/>
              </a:spcBef>
              <a:spcAft>
                <a:spcPts val="600"/>
              </a:spcAft>
              <a:buNone/>
            </a:pPr>
            <a:r>
              <a:rPr lang="en-GB" sz="1200">
                <a:latin typeface="Google Sans Flex"/>
                <a:ea typeface="Google Sans Flex"/>
                <a:cs typeface="Google Sans Flex"/>
                <a:sym typeface="Google Sans Flex"/>
              </a:rPr>
              <a:t>so sellers can check before shipping or refunding.</a:t>
            </a:r>
            <a:endParaRPr sz="1200">
              <a:latin typeface="Google Sans Flex"/>
              <a:ea typeface="Google Sans Flex"/>
              <a:cs typeface="Google Sans Flex"/>
              <a:sym typeface="Google Sans Flex"/>
            </a:endParaRPr>
          </a:p>
        </p:txBody>
      </p:sp>
      <p:sp>
        <p:nvSpPr>
          <p:cNvPr id="75" name="Google Shape;75;p15"/>
          <p:cNvSpPr txBox="1"/>
          <p:nvPr/>
        </p:nvSpPr>
        <p:spPr>
          <a:xfrm>
            <a:off x="342900" y="3837363"/>
            <a:ext cx="8458200" cy="723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00">
                <a:latin typeface="Google Sans Flex Medium"/>
                <a:ea typeface="Google Sans Flex Medium"/>
                <a:cs typeface="Google Sans Flex Medium"/>
                <a:sym typeface="Google Sans Flex Medium"/>
              </a:rPr>
              <a:t>Regional scale</a:t>
            </a:r>
            <a:endParaRPr sz="1400">
              <a:latin typeface="Google Sans Flex"/>
              <a:ea typeface="Google Sans Flex"/>
              <a:cs typeface="Google Sans Flex"/>
              <a:sym typeface="Google Sans Flex"/>
            </a:endParaRPr>
          </a:p>
          <a:p>
            <a:pPr indent="0" lvl="0" marL="0" rtl="0" algn="l">
              <a:lnSpc>
                <a:spcPct val="110000"/>
              </a:lnSpc>
              <a:spcBef>
                <a:spcPts val="600"/>
              </a:spcBef>
              <a:spcAft>
                <a:spcPts val="0"/>
              </a:spcAft>
              <a:buNone/>
            </a:pPr>
            <a:r>
              <a:rPr lang="en-GB" sz="1200">
                <a:latin typeface="Google Sans Flex"/>
                <a:ea typeface="Google Sans Flex"/>
                <a:cs typeface="Google Sans Flex"/>
                <a:sym typeface="Google Sans Flex"/>
              </a:rPr>
              <a:t>Southeast Asia lost up to US$23.6B to scams and fraud in 2024.</a:t>
            </a:r>
            <a:endParaRPr sz="1200">
              <a:latin typeface="Google Sans Flex"/>
              <a:ea typeface="Google Sans Flex"/>
              <a:cs typeface="Google Sans Flex"/>
              <a:sym typeface="Google Sans Flex"/>
            </a:endParaRPr>
          </a:p>
          <a:p>
            <a:pPr indent="0" lvl="0" marL="0" rtl="0" algn="l">
              <a:lnSpc>
                <a:spcPct val="110000"/>
              </a:lnSpc>
              <a:spcBef>
                <a:spcPts val="600"/>
              </a:spcBef>
              <a:spcAft>
                <a:spcPts val="600"/>
              </a:spcAft>
              <a:buNone/>
            </a:pPr>
            <a:r>
              <a:rPr lang="en-GB" sz="1200">
                <a:latin typeface="Google Sans Flex"/>
                <a:ea typeface="Google Sans Flex"/>
                <a:cs typeface="Google Sans Flex"/>
                <a:sym typeface="Google Sans Flex"/>
              </a:rPr>
              <a:t>Source: https://aseanfoundation.org/programme/scam-ready-asean/</a:t>
            </a:r>
            <a:endParaRPr sz="1200">
              <a:latin typeface="Google Sans Flex"/>
              <a:ea typeface="Google Sans Flex"/>
              <a:cs typeface="Google Sans Flex"/>
              <a:sym typeface="Google Sans Flex"/>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7871100" cy="35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How different is it from any of the other existing ideas?</a:t>
            </a:r>
            <a:endParaRPr sz="1300">
              <a:latin typeface="Google Sans Flex"/>
              <a:ea typeface="Google Sans Flex"/>
              <a:cs typeface="Google Sans Flex"/>
              <a:sym typeface="Google Sans Flex"/>
            </a:endParaRPr>
          </a:p>
          <a:p>
            <a:pPr indent="0" lvl="0" marL="457200" rtl="0" algn="l">
              <a:spcBef>
                <a:spcPts val="0"/>
              </a:spcBef>
              <a:spcAft>
                <a:spcPts val="0"/>
              </a:spcAft>
              <a:buNone/>
            </a:pPr>
            <a:r>
              <a:rPr lang="en-GB" sz="1100">
                <a:latin typeface="Google Sans Flex"/>
                <a:ea typeface="Google Sans Flex"/>
                <a:cs typeface="Google Sans Flex"/>
                <a:sym typeface="Google Sans Flex"/>
              </a:rPr>
              <a:t>Meta warns about scams, Manychat helps businesses sell through chat, and Chargeflow handles card payment disputes. Our app goes beyond flagging a suspicious message: it checks the buyer’s claim against payment records, packing photos and delivery proofs, shows where the evidence conflicts, and recommends what the seller should check next.</a:t>
            </a:r>
            <a:endParaRPr sz="1100">
              <a:latin typeface="Google Sans Flex"/>
              <a:ea typeface="Google Sans Flex"/>
              <a:cs typeface="Google Sans Flex"/>
              <a:sym typeface="Google Sans Flex"/>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How will it be able to solve the problem?</a:t>
            </a:r>
            <a:endParaRPr sz="1300">
              <a:latin typeface="Google Sans Flex"/>
              <a:ea typeface="Google Sans Flex"/>
              <a:cs typeface="Google Sans Flex"/>
              <a:sym typeface="Google Sans Flex"/>
            </a:endParaRPr>
          </a:p>
          <a:p>
            <a:pPr indent="0" lvl="0" marL="457200" rtl="0" algn="l">
              <a:spcBef>
                <a:spcPts val="0"/>
              </a:spcBef>
              <a:spcAft>
                <a:spcPts val="0"/>
              </a:spcAft>
              <a:buNone/>
            </a:pPr>
            <a:r>
              <a:rPr lang="en-GB" sz="1100">
                <a:latin typeface="Google Sans Flex"/>
                <a:ea typeface="Google Sans Flex"/>
                <a:cs typeface="Google Sans Flex"/>
                <a:sym typeface="Google Sans Flex"/>
              </a:rPr>
              <a:t>If a buyer says “I already paid” or “an item is missing,” the seller can check that claim against the order’s records. The app also flags pressure to ship before payment is confirmed. Across orders, it highlights reused payment references, repeated complaints and damage linked to a product or courier. Each flag points to records the seller can check. It does not automatically label anyone a fraudster.</a:t>
            </a:r>
            <a:endParaRPr sz="1100">
              <a:latin typeface="Google Sans Flex"/>
              <a:ea typeface="Google Sans Flex"/>
              <a:cs typeface="Google Sans Flex"/>
              <a:sym typeface="Google Sans Flex"/>
            </a:endParaRPr>
          </a:p>
          <a:p>
            <a:pPr indent="-311150" lvl="0" marL="457200" rtl="0" algn="l">
              <a:spcBef>
                <a:spcPts val="0"/>
              </a:spcBef>
              <a:spcAft>
                <a:spcPts val="0"/>
              </a:spcAft>
              <a:buSzPts val="1300"/>
              <a:buFont typeface="Google Sans Flex"/>
              <a:buChar char="●"/>
            </a:pPr>
            <a:r>
              <a:rPr lang="en-GB" sz="1300">
                <a:latin typeface="Google Sans Flex"/>
                <a:ea typeface="Google Sans Flex"/>
                <a:cs typeface="Google Sans Flex"/>
                <a:sym typeface="Google Sans Flex"/>
              </a:rPr>
              <a:t>USP of the proposed solution</a:t>
            </a:r>
            <a:endParaRPr sz="1300">
              <a:latin typeface="Google Sans Flex"/>
              <a:ea typeface="Google Sans Flex"/>
              <a:cs typeface="Google Sans Flex"/>
              <a:sym typeface="Google Sans Flex"/>
            </a:endParaRPr>
          </a:p>
          <a:p>
            <a:pPr indent="0" lvl="0" marL="457200" rtl="0" algn="l">
              <a:spcBef>
                <a:spcPts val="0"/>
              </a:spcBef>
              <a:spcAft>
                <a:spcPts val="0"/>
              </a:spcAft>
              <a:buNone/>
            </a:pPr>
            <a:r>
              <a:rPr lang="en-GB" sz="1100">
                <a:latin typeface="Google Sans Flex"/>
                <a:ea typeface="Google Sans Flex"/>
                <a:cs typeface="Google Sans Flex"/>
                <a:sym typeface="Google Sans Flex"/>
              </a:rPr>
              <a:t>Built for small sellers who manage orders in chat, payments in a wallet app and deliveries through a courier. It brings those records together so sellers can check before shipping or refunding. The first version uses Messenger, GCash, PayMongo and Lalamove.</a:t>
            </a:r>
            <a:endParaRPr sz="1100">
              <a:latin typeface="Google Sans Flex"/>
              <a:ea typeface="Google Sans Flex"/>
              <a:cs typeface="Google Sans Flex"/>
              <a:sym typeface="Google Sans Flex"/>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Google Shape;103;p18"/>
          <p:cNvSpPr txBox="1"/>
          <p:nvPr/>
        </p:nvSpPr>
        <p:spPr>
          <a:xfrm>
            <a:off x="342900" y="1473200"/>
            <a:ext cx="40386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00">
                <a:latin typeface="Google Sans Flex Medium"/>
                <a:ea typeface="Google Sans Flex Medium"/>
                <a:cs typeface="Google Sans Flex Medium"/>
                <a:sym typeface="Google Sans Flex Medium"/>
              </a:rPr>
              <a:t>Conversation understanding</a:t>
            </a:r>
            <a:endParaRPr sz="1400">
              <a:latin typeface="Google Sans Flex"/>
              <a:ea typeface="Google Sans Flex"/>
              <a:cs typeface="Google Sans Flex"/>
              <a:sym typeface="Google Sans Flex"/>
            </a:endParaRPr>
          </a:p>
          <a:p>
            <a:pPr indent="0" lvl="0" marL="0" rtl="0" algn="l">
              <a:lnSpc>
                <a:spcPct val="110000"/>
              </a:lnSpc>
              <a:spcBef>
                <a:spcPts val="400"/>
              </a:spcBef>
              <a:spcAft>
                <a:spcPts val="400"/>
              </a:spcAft>
              <a:buNone/>
            </a:pPr>
            <a:r>
              <a:rPr lang="en-GB" sz="1200">
                <a:latin typeface="Google Sans Flex"/>
                <a:ea typeface="Google Sans Flex"/>
                <a:cs typeface="Google Sans Flex"/>
                <a:sym typeface="Google Sans Flex"/>
              </a:rPr>
              <a:t>Extracts Messenger orders and flags conflicting details, suspicious requests or pressure to ship.</a:t>
            </a:r>
            <a:endParaRPr sz="1200">
              <a:latin typeface="Google Sans Flex"/>
              <a:ea typeface="Google Sans Flex"/>
              <a:cs typeface="Google Sans Flex"/>
              <a:sym typeface="Google Sans Flex"/>
            </a:endParaRPr>
          </a:p>
        </p:txBody>
      </p:sp>
      <p:sp>
        <p:nvSpPr>
          <p:cNvPr id="89" name="Google Shape;104;p18"/>
          <p:cNvSpPr txBox="1"/>
          <p:nvPr/>
        </p:nvSpPr>
        <p:spPr>
          <a:xfrm>
            <a:off x="342900" y="2578100"/>
            <a:ext cx="40386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00">
                <a:latin typeface="Google Sans Flex Medium"/>
                <a:ea typeface="Google Sans Flex Medium"/>
                <a:cs typeface="Google Sans Flex Medium"/>
                <a:sym typeface="Google Sans Flex Medium"/>
              </a:rPr>
              <a:t>Customer history summaries</a:t>
            </a:r>
            <a:endParaRPr sz="1400">
              <a:latin typeface="Google Sans Flex"/>
              <a:ea typeface="Google Sans Flex"/>
              <a:cs typeface="Google Sans Flex"/>
              <a:sym typeface="Google Sans Flex"/>
            </a:endParaRPr>
          </a:p>
          <a:p>
            <a:pPr indent="0" lvl="0" marL="0" rtl="0" algn="l">
              <a:lnSpc>
                <a:spcPct val="110000"/>
              </a:lnSpc>
              <a:spcBef>
                <a:spcPts val="400"/>
              </a:spcBef>
              <a:spcAft>
                <a:spcPts val="400"/>
              </a:spcAft>
              <a:buNone/>
            </a:pPr>
            <a:r>
              <a:rPr lang="en-GB" sz="1200">
                <a:latin typeface="Google Sans Flex"/>
                <a:ea typeface="Google Sans Flex"/>
                <a:cs typeface="Google Sans Flex"/>
                <a:sym typeface="Google Sans Flex"/>
              </a:rPr>
              <a:t>Summarizes previous orders, payments and claims for the seller.</a:t>
            </a:r>
            <a:endParaRPr sz="1200">
              <a:latin typeface="Google Sans Flex"/>
              <a:ea typeface="Google Sans Flex"/>
              <a:cs typeface="Google Sans Flex"/>
              <a:sym typeface="Google Sans Flex"/>
            </a:endParaRPr>
          </a:p>
        </p:txBody>
      </p:sp>
      <p:sp>
        <p:nvSpPr>
          <p:cNvPr id="90" name="Google Shape;105;p18"/>
          <p:cNvSpPr txBox="1"/>
          <p:nvPr/>
        </p:nvSpPr>
        <p:spPr>
          <a:xfrm>
            <a:off x="342900" y="3683000"/>
            <a:ext cx="40386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00">
                <a:latin typeface="Google Sans Flex Medium"/>
                <a:ea typeface="Google Sans Flex Medium"/>
                <a:cs typeface="Google Sans Flex Medium"/>
                <a:sym typeface="Google Sans Flex Medium"/>
              </a:rPr>
              <a:t>Packing review</a:t>
            </a:r>
            <a:endParaRPr sz="1400">
              <a:latin typeface="Google Sans Flex"/>
              <a:ea typeface="Google Sans Flex"/>
              <a:cs typeface="Google Sans Flex"/>
              <a:sym typeface="Google Sans Flex"/>
            </a:endParaRPr>
          </a:p>
          <a:p>
            <a:pPr indent="0" lvl="0" marL="0" rtl="0" algn="l">
              <a:lnSpc>
                <a:spcPct val="110000"/>
              </a:lnSpc>
              <a:spcBef>
                <a:spcPts val="400"/>
              </a:spcBef>
              <a:spcAft>
                <a:spcPts val="400"/>
              </a:spcAft>
              <a:buNone/>
            </a:pPr>
            <a:r>
              <a:rPr lang="en-GB" sz="1200">
                <a:latin typeface="Google Sans Flex"/>
                <a:ea typeface="Google Sans Flex"/>
                <a:cs typeface="Google Sans Flex"/>
                <a:sym typeface="Google Sans Flex"/>
              </a:rPr>
              <a:t>Compares packing photos with confirmed items and product references to spot mismatches.</a:t>
            </a:r>
            <a:endParaRPr sz="1200">
              <a:latin typeface="Google Sans Flex"/>
              <a:ea typeface="Google Sans Flex"/>
              <a:cs typeface="Google Sans Flex"/>
              <a:sym typeface="Google Sans Flex"/>
            </a:endParaRPr>
          </a:p>
        </p:txBody>
      </p:sp>
      <p:sp>
        <p:nvSpPr>
          <p:cNvPr id="91" name="Google Shape;106;p18"/>
          <p:cNvSpPr txBox="1"/>
          <p:nvPr/>
        </p:nvSpPr>
        <p:spPr>
          <a:xfrm>
            <a:off x="4762500" y="1473200"/>
            <a:ext cx="40386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00">
                <a:latin typeface="Google Sans Flex Medium"/>
                <a:ea typeface="Google Sans Flex Medium"/>
                <a:cs typeface="Google Sans Flex Medium"/>
                <a:sym typeface="Google Sans Flex Medium"/>
              </a:rPr>
              <a:t>Visual evidence analysis</a:t>
            </a:r>
            <a:endParaRPr sz="1400">
              <a:latin typeface="Google Sans Flex"/>
              <a:ea typeface="Google Sans Flex"/>
              <a:cs typeface="Google Sans Flex"/>
              <a:sym typeface="Google Sans Flex"/>
            </a:endParaRPr>
          </a:p>
          <a:p>
            <a:pPr indent="0" lvl="0" marL="0" rtl="0" algn="l">
              <a:lnSpc>
                <a:spcPct val="110000"/>
              </a:lnSpc>
              <a:spcBef>
                <a:spcPts val="400"/>
              </a:spcBef>
              <a:spcAft>
                <a:spcPts val="400"/>
              </a:spcAft>
              <a:buNone/>
            </a:pPr>
            <a:r>
              <a:rPr lang="en-GB" sz="1200">
                <a:latin typeface="Google Sans Flex"/>
                <a:ea typeface="Google Sans Flex"/>
                <a:cs typeface="Google Sans Flex"/>
                <a:sym typeface="Google Sans Flex"/>
              </a:rPr>
              <a:t>Reads receipt screenshots for payment checks and reviews delivery and unboxing media for condition, label matches and evidence gaps.</a:t>
            </a:r>
            <a:endParaRPr sz="1200">
              <a:latin typeface="Google Sans Flex"/>
              <a:ea typeface="Google Sans Flex"/>
              <a:cs typeface="Google Sans Flex"/>
              <a:sym typeface="Google Sans Flex"/>
            </a:endParaRPr>
          </a:p>
        </p:txBody>
      </p:sp>
      <p:sp>
        <p:nvSpPr>
          <p:cNvPr id="92" name="Google Shape;107;p18"/>
          <p:cNvSpPr txBox="1"/>
          <p:nvPr/>
        </p:nvSpPr>
        <p:spPr>
          <a:xfrm>
            <a:off x="4762500" y="2578100"/>
            <a:ext cx="40386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00">
                <a:latin typeface="Google Sans Flex Medium"/>
                <a:ea typeface="Google Sans Flex Medium"/>
                <a:cs typeface="Google Sans Flex Medium"/>
                <a:sym typeface="Google Sans Flex Medium"/>
              </a:rPr>
              <a:t>Claim review and recommendations</a:t>
            </a:r>
            <a:endParaRPr sz="1400">
              <a:latin typeface="Google Sans Flex"/>
              <a:ea typeface="Google Sans Flex"/>
              <a:cs typeface="Google Sans Flex"/>
              <a:sym typeface="Google Sans Flex"/>
            </a:endParaRPr>
          </a:p>
          <a:p>
            <a:pPr indent="0" lvl="0" marL="0" rtl="0" algn="l">
              <a:lnSpc>
                <a:spcPct val="110000"/>
              </a:lnSpc>
              <a:spcBef>
                <a:spcPts val="400"/>
              </a:spcBef>
              <a:spcAft>
                <a:spcPts val="400"/>
              </a:spcAft>
              <a:buNone/>
            </a:pPr>
            <a:r>
              <a:rPr lang="en-GB" sz="1200">
                <a:latin typeface="Google Sans Flex"/>
                <a:ea typeface="Google Sans Flex"/>
                <a:cs typeface="Google Sans Flex"/>
                <a:sym typeface="Google Sans Flex"/>
              </a:rPr>
              <a:t>Compares complaints with order records and recommends next steps with evidence citations.</a:t>
            </a:r>
            <a:endParaRPr sz="1200">
              <a:latin typeface="Google Sans Flex"/>
              <a:ea typeface="Google Sans Flex"/>
              <a:cs typeface="Google Sans Flex"/>
              <a:sym typeface="Google Sans Flex"/>
            </a:endParaRPr>
          </a:p>
        </p:txBody>
      </p:sp>
      <p:sp>
        <p:nvSpPr>
          <p:cNvPr id="93" name="Google Shape;108;p18"/>
          <p:cNvSpPr txBox="1"/>
          <p:nvPr/>
        </p:nvSpPr>
        <p:spPr>
          <a:xfrm>
            <a:off x="4762500" y="3683000"/>
            <a:ext cx="4038600" cy="100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00">
                <a:latin typeface="Google Sans Flex Medium"/>
                <a:ea typeface="Google Sans Flex Medium"/>
                <a:cs typeface="Google Sans Flex Medium"/>
                <a:sym typeface="Google Sans Flex Medium"/>
              </a:rPr>
              <a:t>Past-decision recall</a:t>
            </a:r>
            <a:endParaRPr sz="1400">
              <a:latin typeface="Google Sans Flex"/>
              <a:ea typeface="Google Sans Flex"/>
              <a:cs typeface="Google Sans Flex"/>
              <a:sym typeface="Google Sans Flex"/>
            </a:endParaRPr>
          </a:p>
          <a:p>
            <a:pPr indent="0" lvl="0" marL="0" rtl="0" algn="l">
              <a:lnSpc>
                <a:spcPct val="110000"/>
              </a:lnSpc>
              <a:spcBef>
                <a:spcPts val="400"/>
              </a:spcBef>
              <a:spcAft>
                <a:spcPts val="400"/>
              </a:spcAft>
              <a:buNone/>
            </a:pPr>
            <a:r>
              <a:rPr lang="en-GB" sz="1200">
                <a:latin typeface="Google Sans Flex"/>
                <a:ea typeface="Google Sans Flex"/>
                <a:cs typeface="Google Sans Flex"/>
                <a:sym typeface="Google Sans Flex"/>
              </a:rPr>
              <a:t>Uses Memory Bank to retrieve similar seller decisions and suggest consistent responses.</a:t>
            </a:r>
            <a:endParaRPr sz="1200">
              <a:latin typeface="Google Sans Flex"/>
              <a:ea typeface="Google Sans Flex"/>
              <a:cs typeface="Google Sans Flex"/>
              <a:sym typeface="Google Sans Flex"/>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Google Shape;117;p19"/>
          <p:cNvSpPr/>
          <p:nvPr/>
        </p:nvSpPr>
        <p:spPr>
          <a:xfrm>
            <a:off x="355600" y="1397000"/>
            <a:ext cx="2514600" cy="914400"/>
          </a:xfrm>
          <a:prstGeom prst="roundRect">
            <a:avLst>
              <a:gd fmla="val 16667" name="adj"/>
            </a:avLst>
          </a:prstGeom>
          <a:solidFill>
            <a:srgbClr val="E5F0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1  Capture and confirm</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AI drafts the Messenger order.</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Seller reviews, customer confirms.</a:t>
            </a:r>
            <a:endParaRPr sz="1100">
              <a:latin typeface="Google Sans Flex"/>
              <a:ea typeface="Google Sans Flex"/>
              <a:cs typeface="Google Sans Flex"/>
              <a:sym typeface="Google Sans Flex"/>
            </a:endParaRPr>
          </a:p>
        </p:txBody>
      </p:sp>
      <p:sp>
        <p:nvSpPr>
          <p:cNvPr id="97" name="Google Shape;118;p19"/>
          <p:cNvSpPr/>
          <p:nvPr/>
        </p:nvSpPr>
        <p:spPr>
          <a:xfrm>
            <a:off x="3314700" y="1397000"/>
            <a:ext cx="2514600" cy="9144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2  Check payment</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PayMongo verifies payment, or</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seller reconciles GCash history.</a:t>
            </a:r>
            <a:endParaRPr sz="1100">
              <a:latin typeface="Google Sans Flex"/>
              <a:ea typeface="Google Sans Flex"/>
              <a:cs typeface="Google Sans Flex"/>
              <a:sym typeface="Google Sans Flex"/>
            </a:endParaRPr>
          </a:p>
        </p:txBody>
      </p:sp>
      <p:sp>
        <p:nvSpPr>
          <p:cNvPr id="98" name="Google Shape;119;p19"/>
          <p:cNvSpPr/>
          <p:nvPr/>
        </p:nvSpPr>
        <p:spPr>
          <a:xfrm>
            <a:off x="6273800" y="1397000"/>
            <a:ext cx="2514600" cy="914400"/>
          </a:xfrm>
          <a:prstGeom prst="roundRect">
            <a:avLst>
              <a:gd fmla="val 16667" name="adj"/>
            </a:avLst>
          </a:prstGeom>
          <a:solidFill>
            <a:srgbClr val="E5F0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3  Review packing</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AI checks photos and videos.</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Seller resolves gaps before dispatch.</a:t>
            </a:r>
            <a:endParaRPr sz="1100">
              <a:latin typeface="Google Sans Flex"/>
              <a:ea typeface="Google Sans Flex"/>
              <a:cs typeface="Google Sans Flex"/>
              <a:sym typeface="Google Sans Flex"/>
            </a:endParaRPr>
          </a:p>
        </p:txBody>
      </p:sp>
      <p:sp>
        <p:nvSpPr>
          <p:cNvPr id="99" name="Google Shape;120;p19"/>
          <p:cNvSpPr/>
          <p:nvPr/>
        </p:nvSpPr>
        <p:spPr>
          <a:xfrm>
            <a:off x="6273800" y="2933700"/>
            <a:ext cx="2514600" cy="9144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4  Deliver and receive</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Book courier, track delivery proofs.</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Customer confirms receipt.</a:t>
            </a:r>
            <a:endParaRPr sz="1100">
              <a:latin typeface="Google Sans Flex"/>
              <a:ea typeface="Google Sans Flex"/>
              <a:cs typeface="Google Sans Flex"/>
              <a:sym typeface="Google Sans Flex"/>
            </a:endParaRPr>
          </a:p>
        </p:txBody>
      </p:sp>
      <p:sp>
        <p:nvSpPr>
          <p:cNvPr id="100" name="Google Shape;121;p19"/>
          <p:cNvSpPr/>
          <p:nvPr/>
        </p:nvSpPr>
        <p:spPr>
          <a:xfrm>
            <a:off x="3314700" y="2933700"/>
            <a:ext cx="2514600" cy="914400"/>
          </a:xfrm>
          <a:prstGeom prst="roundRect">
            <a:avLst>
              <a:gd fmla="val 16667" name="adj"/>
            </a:avLst>
          </a:prstGeom>
          <a:solidFill>
            <a:srgbClr val="E5F0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5  Review any claim</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AI compares the evidence and</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recalls similar seller decisions.</a:t>
            </a:r>
            <a:endParaRPr sz="1100">
              <a:latin typeface="Google Sans Flex"/>
              <a:ea typeface="Google Sans Flex"/>
              <a:cs typeface="Google Sans Flex"/>
              <a:sym typeface="Google Sans Flex"/>
            </a:endParaRPr>
          </a:p>
        </p:txBody>
      </p:sp>
      <p:sp>
        <p:nvSpPr>
          <p:cNvPr id="101" name="Google Shape;122;p19"/>
          <p:cNvSpPr/>
          <p:nvPr/>
        </p:nvSpPr>
        <p:spPr>
          <a:xfrm>
            <a:off x="355600" y="2933700"/>
            <a:ext cx="2514600" cy="914400"/>
          </a:xfrm>
          <a:prstGeom prst="roundRect">
            <a:avLst>
              <a:gd fmla="val 16667" name="adj"/>
            </a:avLst>
          </a:prstGeom>
          <a:solidFill>
            <a:srgbClr val="E5F5EB"/>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6  Resolution and patterns</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Seller approves the action.</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Update history and patterns.</a:t>
            </a:r>
            <a:endParaRPr sz="1100">
              <a:latin typeface="Google Sans Flex"/>
              <a:ea typeface="Google Sans Flex"/>
              <a:cs typeface="Google Sans Flex"/>
              <a:sym typeface="Google Sans Flex"/>
            </a:endParaRPr>
          </a:p>
        </p:txBody>
      </p:sp>
      <p:cxnSp>
        <p:nvCxnSpPr>
          <p:cNvPr id="102" name="Google Shape;123;p19"/>
          <p:cNvCxnSpPr/>
          <p:nvPr/>
        </p:nvCxnSpPr>
        <p:spPr>
          <a:xfrm>
            <a:off x="2870200" y="1854200"/>
            <a:ext cx="444600" cy="12600"/>
          </a:xfrm>
          <a:prstGeom prst="straightConnector1">
            <a:avLst/>
          </a:prstGeom>
          <a:noFill/>
          <a:ln cap="flat" cmpd="sng" w="16500">
            <a:solidFill>
              <a:srgbClr val="91A3B8"/>
            </a:solidFill>
            <a:prstDash val="solid"/>
            <a:round/>
            <a:headEnd len="med" w="med" type="none"/>
            <a:tailEnd len="med" w="med" type="triangle"/>
          </a:ln>
        </p:spPr>
      </p:cxnSp>
      <p:cxnSp>
        <p:nvCxnSpPr>
          <p:cNvPr id="103" name="Google Shape;124;p19"/>
          <p:cNvCxnSpPr/>
          <p:nvPr/>
        </p:nvCxnSpPr>
        <p:spPr>
          <a:xfrm>
            <a:off x="5829300" y="1854200"/>
            <a:ext cx="444600" cy="12600"/>
          </a:xfrm>
          <a:prstGeom prst="straightConnector1">
            <a:avLst/>
          </a:prstGeom>
          <a:noFill/>
          <a:ln cap="flat" cmpd="sng" w="16500">
            <a:solidFill>
              <a:srgbClr val="91A3B8"/>
            </a:solidFill>
            <a:prstDash val="solid"/>
            <a:round/>
            <a:headEnd len="med" w="med" type="none"/>
            <a:tailEnd len="med" w="med" type="triangle"/>
          </a:ln>
        </p:spPr>
      </p:cxnSp>
      <p:cxnSp>
        <p:nvCxnSpPr>
          <p:cNvPr id="104" name="Google Shape;125;p19"/>
          <p:cNvCxnSpPr/>
          <p:nvPr/>
        </p:nvCxnSpPr>
        <p:spPr>
          <a:xfrm>
            <a:off x="7531100" y="2311400"/>
            <a:ext cx="12600" cy="622200"/>
          </a:xfrm>
          <a:prstGeom prst="straightConnector1">
            <a:avLst/>
          </a:prstGeom>
          <a:noFill/>
          <a:ln cap="flat" cmpd="sng" w="16500">
            <a:solidFill>
              <a:srgbClr val="91A3B8"/>
            </a:solidFill>
            <a:prstDash val="solid"/>
            <a:round/>
            <a:headEnd len="med" w="med" type="none"/>
            <a:tailEnd len="med" w="med" type="triangle"/>
          </a:ln>
        </p:spPr>
      </p:cxnSp>
      <p:cxnSp>
        <p:nvCxnSpPr>
          <p:cNvPr id="105" name="Google Shape;126;p19"/>
          <p:cNvCxnSpPr/>
          <p:nvPr/>
        </p:nvCxnSpPr>
        <p:spPr>
          <a:xfrm flipH="1">
            <a:off x="5829200" y="3390900"/>
            <a:ext cx="444600" cy="12600"/>
          </a:xfrm>
          <a:prstGeom prst="straightConnector1">
            <a:avLst/>
          </a:prstGeom>
          <a:noFill/>
          <a:ln cap="flat" cmpd="sng" w="16500">
            <a:solidFill>
              <a:srgbClr val="91A3B8"/>
            </a:solidFill>
            <a:prstDash val="solid"/>
            <a:round/>
            <a:headEnd len="med" w="med" type="none"/>
            <a:tailEnd len="med" w="med" type="triangle"/>
          </a:ln>
        </p:spPr>
      </p:cxnSp>
      <p:cxnSp>
        <p:nvCxnSpPr>
          <p:cNvPr id="106" name="Google Shape;127;p19"/>
          <p:cNvCxnSpPr/>
          <p:nvPr/>
        </p:nvCxnSpPr>
        <p:spPr>
          <a:xfrm flipH="1">
            <a:off x="2870100" y="3390900"/>
            <a:ext cx="444600" cy="12600"/>
          </a:xfrm>
          <a:prstGeom prst="straightConnector1">
            <a:avLst/>
          </a:prstGeom>
          <a:noFill/>
          <a:ln cap="flat" cmpd="sng" w="16500">
            <a:solidFill>
              <a:srgbClr val="91A3B8"/>
            </a:solidFill>
            <a:prstDash val="solid"/>
            <a:round/>
            <a:headEnd len="med" w="med" type="none"/>
            <a:tailEnd len="med" w="med" type="triangle"/>
          </a:ln>
        </p:spPr>
      </p:cxnSp>
      <p:sp>
        <p:nvSpPr>
          <p:cNvPr id="107" name="Google Shape;128;p19"/>
          <p:cNvSpPr/>
          <p:nvPr/>
        </p:nvSpPr>
        <p:spPr>
          <a:xfrm>
            <a:off x="1016000" y="4203700"/>
            <a:ext cx="7112100" cy="546000"/>
          </a:xfrm>
          <a:prstGeom prst="roundRect">
            <a:avLst>
              <a:gd fmla="val 16667" name="adj"/>
            </a:avLst>
          </a:prstGeom>
          <a:solidFill>
            <a:srgbClr val="FFFF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Checks stay under seller control</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Unclear evidence prompts clarification. Refunds and replacements require seller action.</a:t>
            </a:r>
            <a:endParaRPr sz="1100">
              <a:latin typeface="Google Sans Flex"/>
              <a:ea typeface="Google Sans Flex"/>
              <a:cs typeface="Google Sans Flex"/>
              <a:sym typeface="Google Sans Flex"/>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Google Shape;145;p21"/>
          <p:cNvSpPr/>
          <p:nvPr/>
        </p:nvSpPr>
        <p:spPr>
          <a:xfrm>
            <a:off x="317500" y="1422400"/>
            <a:ext cx="2286000" cy="7494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Seller dashboard</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React on Firebase Hosting</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Firebase Authentication</a:t>
            </a:r>
            <a:endParaRPr sz="1100">
              <a:latin typeface="Google Sans Flex"/>
              <a:ea typeface="Google Sans Flex"/>
              <a:cs typeface="Google Sans Flex"/>
              <a:sym typeface="Google Sans Flex"/>
            </a:endParaRPr>
          </a:p>
        </p:txBody>
      </p:sp>
      <p:sp>
        <p:nvSpPr>
          <p:cNvPr id="113" name="Google Shape;146;p21"/>
          <p:cNvSpPr/>
          <p:nvPr/>
        </p:nvSpPr>
        <p:spPr>
          <a:xfrm>
            <a:off x="3225800" y="1574800"/>
            <a:ext cx="2667000" cy="1409700"/>
          </a:xfrm>
          <a:prstGeom prst="roundRect">
            <a:avLst>
              <a:gd fmla="val 16667" name="adj"/>
            </a:avLst>
          </a:prstGeom>
          <a:solidFill>
            <a:srgbClr val="E5F5EB"/>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Application backend</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FastAPI on Cloud Run</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Order and payment rules</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Evidence checks and webhook validation</a:t>
            </a:r>
            <a:endParaRPr sz="1100">
              <a:latin typeface="Google Sans Flex"/>
              <a:ea typeface="Google Sans Flex"/>
              <a:cs typeface="Google Sans Flex"/>
              <a:sym typeface="Google Sans Flex"/>
            </a:endParaRPr>
          </a:p>
        </p:txBody>
      </p:sp>
      <p:sp>
        <p:nvSpPr>
          <p:cNvPr id="114" name="Google Shape;147;p21"/>
          <p:cNvSpPr/>
          <p:nvPr/>
        </p:nvSpPr>
        <p:spPr>
          <a:xfrm>
            <a:off x="317500" y="2425700"/>
            <a:ext cx="2286000" cy="7113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Messenger</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Conversations, confirmations</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and customer complaints</a:t>
            </a:r>
            <a:endParaRPr sz="1100">
              <a:latin typeface="Google Sans Flex"/>
              <a:ea typeface="Google Sans Flex"/>
              <a:cs typeface="Google Sans Flex"/>
              <a:sym typeface="Google Sans Flex"/>
            </a:endParaRPr>
          </a:p>
        </p:txBody>
      </p:sp>
      <p:sp>
        <p:nvSpPr>
          <p:cNvPr id="115" name="Google Shape;148;p21"/>
          <p:cNvSpPr/>
          <p:nvPr/>
        </p:nvSpPr>
        <p:spPr>
          <a:xfrm>
            <a:off x="317500" y="3403600"/>
            <a:ext cx="2286000" cy="9144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Commerce services</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PayMongo (test), Lalamove (sandbox)</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Google Maps Platform</a:t>
            </a:r>
            <a:endParaRPr sz="1100">
              <a:latin typeface="Google Sans Flex"/>
              <a:ea typeface="Google Sans Flex"/>
              <a:cs typeface="Google Sans Flex"/>
              <a:sym typeface="Google Sans Flex"/>
            </a:endParaRPr>
          </a:p>
        </p:txBody>
      </p:sp>
      <p:sp>
        <p:nvSpPr>
          <p:cNvPr id="116" name="Google Shape;149;p21"/>
          <p:cNvSpPr/>
          <p:nvPr/>
        </p:nvSpPr>
        <p:spPr>
          <a:xfrm>
            <a:off x="6515100" y="1397000"/>
            <a:ext cx="2311500" cy="736500"/>
          </a:xfrm>
          <a:prstGeom prst="roundRect">
            <a:avLst>
              <a:gd fmla="val 16667" name="adj"/>
            </a:avLst>
          </a:prstGeom>
          <a:solidFill>
            <a:srgbClr val="E5F0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Gemini on Vertex AI</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Structured extraction</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Photo and video analysis</a:t>
            </a:r>
            <a:endParaRPr sz="1100">
              <a:latin typeface="Google Sans Flex"/>
              <a:ea typeface="Google Sans Flex"/>
              <a:cs typeface="Google Sans Flex"/>
              <a:sym typeface="Google Sans Flex"/>
            </a:endParaRPr>
          </a:p>
        </p:txBody>
      </p:sp>
      <p:sp>
        <p:nvSpPr>
          <p:cNvPr id="117" name="Google Shape;150;p21"/>
          <p:cNvSpPr/>
          <p:nvPr/>
        </p:nvSpPr>
        <p:spPr>
          <a:xfrm>
            <a:off x="6515100" y="2349500"/>
            <a:ext cx="2311500" cy="774600"/>
          </a:xfrm>
          <a:prstGeom prst="roundRect">
            <a:avLst>
              <a:gd fmla="val 16667" name="adj"/>
            </a:avLst>
          </a:prstGeom>
          <a:solidFill>
            <a:srgbClr val="E5F0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ADK claim reviewer</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Read-only evidence tools</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Cited recommendations</a:t>
            </a:r>
            <a:endParaRPr sz="1100">
              <a:latin typeface="Google Sans Flex"/>
              <a:ea typeface="Google Sans Flex"/>
              <a:cs typeface="Google Sans Flex"/>
              <a:sym typeface="Google Sans Flex"/>
            </a:endParaRPr>
          </a:p>
        </p:txBody>
      </p:sp>
      <p:sp>
        <p:nvSpPr>
          <p:cNvPr id="118" name="Google Shape;151;p21"/>
          <p:cNvSpPr/>
          <p:nvPr/>
        </p:nvSpPr>
        <p:spPr>
          <a:xfrm>
            <a:off x="6515100" y="3365500"/>
            <a:ext cx="2311500" cy="749400"/>
          </a:xfrm>
          <a:prstGeom prst="roundRect">
            <a:avLst>
              <a:gd fmla="val 16667" name="adj"/>
            </a:avLst>
          </a:prstGeom>
          <a:solidFill>
            <a:srgbClr val="E5F0FF"/>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Memory Bank</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Store-scoped retrieval</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Past seller decisions</a:t>
            </a:r>
            <a:endParaRPr sz="1100">
              <a:latin typeface="Google Sans Flex"/>
              <a:ea typeface="Google Sans Flex"/>
              <a:cs typeface="Google Sans Flex"/>
              <a:sym typeface="Google Sans Flex"/>
            </a:endParaRPr>
          </a:p>
        </p:txBody>
      </p:sp>
      <p:sp>
        <p:nvSpPr>
          <p:cNvPr id="119" name="Google Shape;152;p21"/>
          <p:cNvSpPr/>
          <p:nvPr/>
        </p:nvSpPr>
        <p:spPr>
          <a:xfrm>
            <a:off x="3225800" y="3632200"/>
            <a:ext cx="2667000" cy="7113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Firestore and Cloud Storage</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0"/>
              </a:spcAft>
              <a:buNone/>
            </a:pPr>
            <a:r>
              <a:rPr lang="en-GB" sz="1100">
                <a:latin typeface="Google Sans Flex"/>
                <a:ea typeface="Google Sans Flex"/>
                <a:cs typeface="Google Sans Flex"/>
                <a:sym typeface="Google Sans Flex"/>
              </a:rPr>
              <a:t>Orders, decisions and events</a:t>
            </a:r>
            <a:endParaRPr sz="11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Hashed photo and video evidence</a:t>
            </a:r>
            <a:endParaRPr sz="1100">
              <a:latin typeface="Google Sans Flex"/>
              <a:ea typeface="Google Sans Flex"/>
              <a:cs typeface="Google Sans Flex"/>
              <a:sym typeface="Google Sans Flex"/>
            </a:endParaRPr>
          </a:p>
        </p:txBody>
      </p:sp>
      <p:cxnSp>
        <p:nvCxnSpPr>
          <p:cNvPr id="120" name="Google Shape;153;p21"/>
          <p:cNvCxnSpPr/>
          <p:nvPr/>
        </p:nvCxnSpPr>
        <p:spPr>
          <a:xfrm>
            <a:off x="2603500" y="1816100"/>
            <a:ext cx="622200" cy="12600"/>
          </a:xfrm>
          <a:prstGeom prst="straightConnector1">
            <a:avLst/>
          </a:prstGeom>
          <a:noFill/>
          <a:ln cap="flat" cmpd="sng" w="16500">
            <a:solidFill>
              <a:srgbClr val="91A3B8"/>
            </a:solidFill>
            <a:prstDash val="solid"/>
            <a:round/>
            <a:headEnd len="med" w="med" type="none"/>
            <a:tailEnd len="med" w="med" type="triangle"/>
          </a:ln>
        </p:spPr>
      </p:cxnSp>
      <p:cxnSp>
        <p:nvCxnSpPr>
          <p:cNvPr id="121" name="Google Shape;154;p21"/>
          <p:cNvCxnSpPr/>
          <p:nvPr/>
        </p:nvCxnSpPr>
        <p:spPr>
          <a:xfrm>
            <a:off x="2603500" y="2768600"/>
            <a:ext cx="622200" cy="12600"/>
          </a:xfrm>
          <a:prstGeom prst="straightConnector1">
            <a:avLst/>
          </a:prstGeom>
          <a:noFill/>
          <a:ln cap="flat" cmpd="sng" w="16500">
            <a:solidFill>
              <a:srgbClr val="91A3B8"/>
            </a:solidFill>
            <a:prstDash val="solid"/>
            <a:round/>
            <a:headEnd len="med" w="med" type="none"/>
            <a:tailEnd len="med" w="med" type="triangle"/>
          </a:ln>
        </p:spPr>
      </p:cxnSp>
      <p:cxnSp>
        <p:nvCxnSpPr>
          <p:cNvPr id="122" name="Google Shape;155;p21"/>
          <p:cNvCxnSpPr/>
          <p:nvPr/>
        </p:nvCxnSpPr>
        <p:spPr>
          <a:xfrm>
            <a:off x="2603500" y="3797300"/>
            <a:ext cx="330300" cy="12600"/>
          </a:xfrm>
          <a:prstGeom prst="straightConnector1">
            <a:avLst/>
          </a:prstGeom>
          <a:noFill/>
          <a:ln cap="flat" cmpd="sng" w="16500">
            <a:solidFill>
              <a:srgbClr val="91A3B8"/>
            </a:solidFill>
            <a:prstDash val="solid"/>
            <a:round/>
            <a:headEnd len="med" w="med" type="none"/>
            <a:tailEnd len="med" w="med" type="none"/>
          </a:ln>
        </p:spPr>
      </p:cxnSp>
      <p:cxnSp>
        <p:nvCxnSpPr>
          <p:cNvPr id="123" name="Google Shape;156;p21"/>
          <p:cNvCxnSpPr/>
          <p:nvPr/>
        </p:nvCxnSpPr>
        <p:spPr>
          <a:xfrm flipH="1" rot="10800000">
            <a:off x="2933700" y="2857400"/>
            <a:ext cx="12600" cy="939900"/>
          </a:xfrm>
          <a:prstGeom prst="straightConnector1">
            <a:avLst/>
          </a:prstGeom>
          <a:noFill/>
          <a:ln cap="flat" cmpd="sng" w="16500">
            <a:solidFill>
              <a:srgbClr val="91A3B8"/>
            </a:solidFill>
            <a:prstDash val="solid"/>
            <a:round/>
            <a:headEnd len="med" w="med" type="none"/>
            <a:tailEnd len="med" w="med" type="none"/>
          </a:ln>
        </p:spPr>
      </p:cxnSp>
      <p:cxnSp>
        <p:nvCxnSpPr>
          <p:cNvPr id="124" name="Google Shape;157;p21"/>
          <p:cNvCxnSpPr/>
          <p:nvPr/>
        </p:nvCxnSpPr>
        <p:spPr>
          <a:xfrm>
            <a:off x="2933700" y="2857500"/>
            <a:ext cx="292200" cy="12600"/>
          </a:xfrm>
          <a:prstGeom prst="straightConnector1">
            <a:avLst/>
          </a:prstGeom>
          <a:noFill/>
          <a:ln cap="flat" cmpd="sng" w="16500">
            <a:solidFill>
              <a:srgbClr val="91A3B8"/>
            </a:solidFill>
            <a:prstDash val="solid"/>
            <a:round/>
            <a:headEnd len="med" w="med" type="none"/>
            <a:tailEnd len="med" w="med" type="triangle"/>
          </a:ln>
        </p:spPr>
      </p:cxnSp>
      <p:cxnSp>
        <p:nvCxnSpPr>
          <p:cNvPr id="125" name="Google Shape;158;p21"/>
          <p:cNvCxnSpPr/>
          <p:nvPr/>
        </p:nvCxnSpPr>
        <p:spPr>
          <a:xfrm>
            <a:off x="5892800" y="1765300"/>
            <a:ext cx="622200" cy="12600"/>
          </a:xfrm>
          <a:prstGeom prst="straightConnector1">
            <a:avLst/>
          </a:prstGeom>
          <a:noFill/>
          <a:ln cap="flat" cmpd="sng" w="16500">
            <a:solidFill>
              <a:srgbClr val="91A3B8"/>
            </a:solidFill>
            <a:prstDash val="solid"/>
            <a:round/>
            <a:headEnd len="med" w="med" type="none"/>
            <a:tailEnd len="med" w="med" type="triangle"/>
          </a:ln>
        </p:spPr>
      </p:cxnSp>
      <p:cxnSp>
        <p:nvCxnSpPr>
          <p:cNvPr id="126" name="Google Shape;159;p21"/>
          <p:cNvCxnSpPr/>
          <p:nvPr/>
        </p:nvCxnSpPr>
        <p:spPr>
          <a:xfrm>
            <a:off x="5892800" y="2743200"/>
            <a:ext cx="622200" cy="12600"/>
          </a:xfrm>
          <a:prstGeom prst="straightConnector1">
            <a:avLst/>
          </a:prstGeom>
          <a:noFill/>
          <a:ln cap="flat" cmpd="sng" w="16500">
            <a:solidFill>
              <a:srgbClr val="91A3B8"/>
            </a:solidFill>
            <a:prstDash val="solid"/>
            <a:round/>
            <a:headEnd len="med" w="med" type="none"/>
            <a:tailEnd len="med" w="med" type="triangle"/>
          </a:ln>
        </p:spPr>
      </p:cxnSp>
      <p:cxnSp>
        <p:nvCxnSpPr>
          <p:cNvPr id="127" name="Google Shape;160;p21"/>
          <p:cNvCxnSpPr/>
          <p:nvPr/>
        </p:nvCxnSpPr>
        <p:spPr>
          <a:xfrm>
            <a:off x="7670800" y="3124200"/>
            <a:ext cx="12600" cy="241200"/>
          </a:xfrm>
          <a:prstGeom prst="straightConnector1">
            <a:avLst/>
          </a:prstGeom>
          <a:noFill/>
          <a:ln cap="flat" cmpd="sng" w="16500">
            <a:solidFill>
              <a:srgbClr val="91A3B8"/>
            </a:solidFill>
            <a:prstDash val="solid"/>
            <a:round/>
            <a:headEnd len="med" w="med" type="none"/>
            <a:tailEnd len="med" w="med" type="triangle"/>
          </a:ln>
        </p:spPr>
      </p:cxnSp>
      <p:cxnSp>
        <p:nvCxnSpPr>
          <p:cNvPr id="128" name="Google Shape;161;p21"/>
          <p:cNvCxnSpPr/>
          <p:nvPr/>
        </p:nvCxnSpPr>
        <p:spPr>
          <a:xfrm>
            <a:off x="4559300" y="2984500"/>
            <a:ext cx="12600" cy="647700"/>
          </a:xfrm>
          <a:prstGeom prst="straightConnector1">
            <a:avLst/>
          </a:prstGeom>
          <a:noFill/>
          <a:ln cap="flat" cmpd="sng" w="16500">
            <a:solidFill>
              <a:srgbClr val="91A3B8"/>
            </a:solidFill>
            <a:prstDash val="solid"/>
            <a:round/>
            <a:headEnd len="med" w="med" type="none"/>
            <a:tailEnd len="med" w="med" type="triangle"/>
          </a:ln>
        </p:spPr>
      </p:cxnSp>
      <p:cxnSp>
        <p:nvCxnSpPr>
          <p:cNvPr id="129" name="Google Shape;162;p21"/>
          <p:cNvCxnSpPr/>
          <p:nvPr/>
        </p:nvCxnSpPr>
        <p:spPr>
          <a:xfrm>
            <a:off x="5892800" y="2921000"/>
            <a:ext cx="292200" cy="12600"/>
          </a:xfrm>
          <a:prstGeom prst="straightConnector1">
            <a:avLst/>
          </a:prstGeom>
          <a:noFill/>
          <a:ln cap="flat" cmpd="sng" w="16500">
            <a:solidFill>
              <a:srgbClr val="91A3B8"/>
            </a:solidFill>
            <a:prstDash val="solid"/>
            <a:round/>
            <a:headEnd len="med" w="med" type="none"/>
            <a:tailEnd len="med" w="med" type="none"/>
          </a:ln>
        </p:spPr>
      </p:cxnSp>
      <p:cxnSp>
        <p:nvCxnSpPr>
          <p:cNvPr id="130" name="Google Shape;163;p21"/>
          <p:cNvCxnSpPr/>
          <p:nvPr/>
        </p:nvCxnSpPr>
        <p:spPr>
          <a:xfrm>
            <a:off x="6184900" y="2921000"/>
            <a:ext cx="12600" cy="1714500"/>
          </a:xfrm>
          <a:prstGeom prst="straightConnector1">
            <a:avLst/>
          </a:prstGeom>
          <a:noFill/>
          <a:ln cap="flat" cmpd="sng" w="16500">
            <a:solidFill>
              <a:srgbClr val="91A3B8"/>
            </a:solidFill>
            <a:prstDash val="solid"/>
            <a:round/>
            <a:headEnd len="med" w="med" type="none"/>
            <a:tailEnd len="med" w="med" type="none"/>
          </a:ln>
        </p:spPr>
      </p:cxnSp>
      <p:cxnSp>
        <p:nvCxnSpPr>
          <p:cNvPr id="131" name="Google Shape;164;p21"/>
          <p:cNvCxnSpPr/>
          <p:nvPr/>
        </p:nvCxnSpPr>
        <p:spPr>
          <a:xfrm>
            <a:off x="6184900" y="4635500"/>
            <a:ext cx="330300" cy="12600"/>
          </a:xfrm>
          <a:prstGeom prst="straightConnector1">
            <a:avLst/>
          </a:prstGeom>
          <a:noFill/>
          <a:ln cap="flat" cmpd="sng" w="16500">
            <a:solidFill>
              <a:srgbClr val="91A3B8"/>
            </a:solidFill>
            <a:prstDash val="solid"/>
            <a:round/>
            <a:headEnd len="med" w="med" type="none"/>
            <a:tailEnd len="med" w="med" type="triangle"/>
          </a:ln>
        </p:spPr>
      </p:cxnSp>
      <p:cxnSp>
        <p:nvCxnSpPr>
          <p:cNvPr id="132" name="Google Shape;165;p21"/>
          <p:cNvCxnSpPr/>
          <p:nvPr/>
        </p:nvCxnSpPr>
        <p:spPr>
          <a:xfrm flipH="1" rot="10800000">
            <a:off x="7670800" y="2133500"/>
            <a:ext cx="12600" cy="216000"/>
          </a:xfrm>
          <a:prstGeom prst="straightConnector1">
            <a:avLst/>
          </a:prstGeom>
          <a:noFill/>
          <a:ln cap="flat" cmpd="sng" w="16500">
            <a:solidFill>
              <a:srgbClr val="91A3B8"/>
            </a:solidFill>
            <a:prstDash val="solid"/>
            <a:round/>
            <a:headEnd len="med" w="med" type="none"/>
            <a:tailEnd len="med" w="med" type="triangle"/>
          </a:ln>
        </p:spPr>
      </p:cxnSp>
      <p:sp>
        <p:nvSpPr>
          <p:cNvPr id="133" name="Google Shape;166;p21"/>
          <p:cNvSpPr/>
          <p:nvPr/>
        </p:nvSpPr>
        <p:spPr>
          <a:xfrm>
            <a:off x="6515100" y="4318000"/>
            <a:ext cx="2311500" cy="635100"/>
          </a:xfrm>
          <a:prstGeom prst="roundRect">
            <a:avLst>
              <a:gd fmla="val 16667" name="adj"/>
            </a:avLst>
          </a:prstGeom>
          <a:solidFill>
            <a:srgbClr val="F2F5F7"/>
          </a:solidFill>
          <a:ln cap="flat" cmpd="sng" w="8900">
            <a:solidFill>
              <a:srgbClr val="91A3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GB" sz="1200">
                <a:latin typeface="Google Sans Flex Medium"/>
                <a:ea typeface="Google Sans Flex Medium"/>
                <a:cs typeface="Google Sans Flex Medium"/>
                <a:sym typeface="Google Sans Flex Medium"/>
              </a:rPr>
              <a:t>Model Armor</a:t>
            </a:r>
            <a:endParaRPr sz="1200">
              <a:latin typeface="Google Sans Flex"/>
              <a:ea typeface="Google Sans Flex"/>
              <a:cs typeface="Google Sans Flex"/>
              <a:sym typeface="Google Sans Flex"/>
            </a:endParaRPr>
          </a:p>
          <a:p>
            <a:pPr indent="0" lvl="0" marL="0" rtl="0" algn="ctr">
              <a:lnSpc>
                <a:spcPct val="105000"/>
              </a:lnSpc>
              <a:spcBef>
                <a:spcPts val="300"/>
              </a:spcBef>
              <a:spcAft>
                <a:spcPts val="300"/>
              </a:spcAft>
              <a:buNone/>
            </a:pPr>
            <a:r>
              <a:rPr lang="en-GB" sz="1100">
                <a:latin typeface="Google Sans Flex"/>
                <a:ea typeface="Google Sans Flex"/>
                <a:cs typeface="Google Sans Flex"/>
                <a:sym typeface="Google Sans Flex"/>
              </a:rPr>
              <a:t>Input screening</a:t>
            </a:r>
            <a:endParaRPr sz="1100">
              <a:latin typeface="Google Sans Flex"/>
              <a:ea typeface="Google Sans Flex"/>
              <a:cs typeface="Google Sans Flex"/>
              <a:sym typeface="Google Sans Flex"/>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Google Shape;175;p22"/>
          <p:cNvSpPr txBox="1"/>
          <p:nvPr/>
        </p:nvSpPr>
        <p:spPr>
          <a:xfrm>
            <a:off x="342900" y="13843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AI and agent orchestration</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Gemini on Vertex AI: text, image and video</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Google ADK: claim reviewer with evidence tools</a:t>
            </a:r>
            <a:endParaRPr sz="1200">
              <a:latin typeface="Google Sans Flex"/>
              <a:ea typeface="Google Sans Flex"/>
              <a:cs typeface="Google Sans Flex"/>
              <a:sym typeface="Google Sans Flex"/>
            </a:endParaRPr>
          </a:p>
        </p:txBody>
      </p:sp>
      <p:sp>
        <p:nvSpPr>
          <p:cNvPr id="121" name="Google Shape;176;p22"/>
          <p:cNvSpPr txBox="1"/>
          <p:nvPr/>
        </p:nvSpPr>
        <p:spPr>
          <a:xfrm>
            <a:off x="342900" y="25400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Memory and AI screening</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Memory Bank: similar seller decisions</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Model Armor: injection and unsafe-link checks</a:t>
            </a:r>
            <a:endParaRPr sz="1200">
              <a:latin typeface="Google Sans Flex"/>
              <a:ea typeface="Google Sans Flex"/>
              <a:cs typeface="Google Sans Flex"/>
              <a:sym typeface="Google Sans Flex"/>
            </a:endParaRPr>
          </a:p>
        </p:txBody>
      </p:sp>
      <p:sp>
        <p:nvSpPr>
          <p:cNvPr id="122" name="Google Shape;177;p22"/>
          <p:cNvSpPr txBox="1"/>
          <p:nvPr/>
        </p:nvSpPr>
        <p:spPr>
          <a:xfrm>
            <a:off x="342900" y="36957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Application development</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React, TypeScript and Vite: seller dashboard</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Python, FastAPI and Pydantic: backend</a:t>
            </a:r>
            <a:endParaRPr sz="1200">
              <a:latin typeface="Google Sans Flex"/>
              <a:ea typeface="Google Sans Flex"/>
              <a:cs typeface="Google Sans Flex"/>
              <a:sym typeface="Google Sans Flex"/>
            </a:endParaRPr>
          </a:p>
        </p:txBody>
      </p:sp>
      <p:sp>
        <p:nvSpPr>
          <p:cNvPr id="123" name="Google Shape;178;p22"/>
          <p:cNvSpPr txBox="1"/>
          <p:nvPr/>
        </p:nvSpPr>
        <p:spPr>
          <a:xfrm>
            <a:off x="4762500" y="13843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Cloud infrastructure and security</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Firebase Hosting and Cloud Run</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Firestore, Cloud Storage, Firebase Auth</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Secret Manager for integration credentials</a:t>
            </a:r>
            <a:endParaRPr sz="1200">
              <a:latin typeface="Google Sans Flex"/>
              <a:ea typeface="Google Sans Flex"/>
              <a:cs typeface="Google Sans Flex"/>
              <a:sym typeface="Google Sans Flex"/>
            </a:endParaRPr>
          </a:p>
        </p:txBody>
      </p:sp>
      <p:sp>
        <p:nvSpPr>
          <p:cNvPr id="124" name="Google Shape;179;p22"/>
          <p:cNvSpPr txBox="1"/>
          <p:nvPr/>
        </p:nvSpPr>
        <p:spPr>
          <a:xfrm>
            <a:off x="4762500" y="25400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Commerce integrations</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Messenger Graph API and webhooks</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PayMongo (test), Lalamove (sandbox)</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Google Maps: geocoding and delivery pins</a:t>
            </a:r>
            <a:endParaRPr sz="1200">
              <a:latin typeface="Google Sans Flex"/>
              <a:ea typeface="Google Sans Flex"/>
              <a:cs typeface="Google Sans Flex"/>
              <a:sym typeface="Google Sans Flex"/>
            </a:endParaRPr>
          </a:p>
        </p:txBody>
      </p:sp>
      <p:sp>
        <p:nvSpPr>
          <p:cNvPr id="125" name="Google Shape;180;p22"/>
          <p:cNvSpPr txBox="1"/>
          <p:nvPr/>
        </p:nvSpPr>
        <p:spPr>
          <a:xfrm>
            <a:off x="4762500" y="36957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Demo and evaluation</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Gemini Flash-Lite: simulated customers</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Gemini image generation and Veo: samples</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pytest and live Gemini evaluations</a:t>
            </a:r>
            <a:endParaRPr sz="1200">
              <a:latin typeface="Google Sans Flex"/>
              <a:ea typeface="Google Sans Flex"/>
              <a:cs typeface="Google Sans Flex"/>
              <a:sym typeface="Google Sans Flex"/>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8" name="Google Shape;189;p23"/>
          <p:cNvSpPr txBox="1"/>
          <p:nvPr/>
        </p:nvSpPr>
        <p:spPr>
          <a:xfrm>
            <a:off x="347472" y="1033271"/>
            <a:ext cx="8449200" cy="1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AI cost measured per action by our evaluation; infrastructure at Google Cloud's list prices for asia-southeast1 (Cloud Billing Catalog, Oct 2026). USD.</a:t>
            </a:r>
            <a:endParaRPr sz="700">
              <a:latin typeface="Google Sans Flex"/>
              <a:ea typeface="Google Sans Flex"/>
              <a:cs typeface="Google Sans Flex"/>
              <a:sym typeface="Google Sans Flex"/>
            </a:endParaRPr>
          </a:p>
        </p:txBody>
      </p:sp>
      <p:sp>
        <p:nvSpPr>
          <p:cNvPr id="129" name="Google Shape;190;p23"/>
          <p:cNvSpPr/>
          <p:nvPr/>
        </p:nvSpPr>
        <p:spPr>
          <a:xfrm>
            <a:off x="347472" y="1261872"/>
            <a:ext cx="2009400" cy="786300"/>
          </a:xfrm>
          <a:prstGeom prst="roundRect">
            <a:avLst>
              <a:gd fmla="val 8000" name="adj"/>
            </a:avLst>
          </a:prstGeom>
          <a:noFill/>
          <a:ln w="9525">
            <a:solidFill>
              <a:schemeClr val="dk1"/>
            </a:solid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lang="en-GB" cap="none" strike="noStrike" sz="1600">
                <a:latin typeface="Google Sans Flex Medium"/>
                <a:ea typeface="Google Sans Flex Medium"/>
                <a:cs typeface="Google Sans Flex Medium"/>
                <a:sym typeface="Google Sans Flex Medium"/>
              </a:rPr>
              <a:t>$0.014</a:t>
            </a:r>
            <a:endParaRPr sz="16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Gemini per order</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draft with checks, one receipt read, one packing check</a:t>
            </a:r>
            <a:endParaRPr sz="700">
              <a:latin typeface="Google Sans Flex"/>
              <a:ea typeface="Google Sans Flex"/>
              <a:cs typeface="Google Sans Flex"/>
              <a:sym typeface="Google Sans Flex"/>
            </a:endParaRPr>
          </a:p>
        </p:txBody>
      </p:sp>
      <p:sp>
        <p:nvSpPr>
          <p:cNvPr id="130" name="Google Shape;191;p23"/>
          <p:cNvSpPr/>
          <p:nvPr/>
        </p:nvSpPr>
        <p:spPr>
          <a:xfrm>
            <a:off x="2494026" y="1261872"/>
            <a:ext cx="2009400" cy="786300"/>
          </a:xfrm>
          <a:prstGeom prst="roundRect">
            <a:avLst>
              <a:gd fmla="val 8000" name="adj"/>
            </a:avLst>
          </a:prstGeom>
          <a:noFill/>
          <a:ln w="9525">
            <a:solidFill>
              <a:schemeClr val="dk1"/>
            </a:solid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lang="en-GB" cap="none" strike="noStrike" sz="1600">
                <a:latin typeface="Google Sans Flex Medium"/>
                <a:ea typeface="Google Sans Flex Medium"/>
                <a:cs typeface="Google Sans Flex Medium"/>
                <a:sym typeface="Google Sans Flex Medium"/>
              </a:rPr>
              <a:t>$13.6</a:t>
            </a:r>
            <a:endParaRPr sz="16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a month, always-warm server</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one Cloud Run instance idle at Tier 2 rates; $0 if it scales to zero</a:t>
            </a:r>
            <a:endParaRPr sz="700">
              <a:latin typeface="Google Sans Flex"/>
              <a:ea typeface="Google Sans Flex"/>
              <a:cs typeface="Google Sans Flex"/>
              <a:sym typeface="Google Sans Flex"/>
            </a:endParaRPr>
          </a:p>
        </p:txBody>
      </p:sp>
      <p:sp>
        <p:nvSpPr>
          <p:cNvPr id="131" name="Google Shape;192;p23"/>
          <p:cNvSpPr/>
          <p:nvPr/>
        </p:nvSpPr>
        <p:spPr>
          <a:xfrm>
            <a:off x="4640580" y="1261872"/>
            <a:ext cx="2009400" cy="786300"/>
          </a:xfrm>
          <a:prstGeom prst="roundRect">
            <a:avLst>
              <a:gd fmla="val 8000" name="adj"/>
            </a:avLst>
          </a:prstGeom>
          <a:noFill/>
          <a:ln w="9525">
            <a:solidFill>
              <a:schemeClr val="dk1"/>
            </a:solid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lang="en-GB" cap="none" strike="noStrike" sz="1600">
                <a:latin typeface="Google Sans Flex Medium"/>
                <a:ea typeface="Google Sans Flex Medium"/>
                <a:cs typeface="Google Sans Flex Medium"/>
                <a:sym typeface="Google Sans Flex Medium"/>
              </a:rPr>
              <a:t>~$19</a:t>
            </a:r>
            <a:endParaRPr sz="16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a month at 300 orders</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a small seller: AI with re-checks and claims, plus the warm instance</a:t>
            </a:r>
            <a:endParaRPr sz="700">
              <a:latin typeface="Google Sans Flex"/>
              <a:ea typeface="Google Sans Flex"/>
              <a:cs typeface="Google Sans Flex"/>
              <a:sym typeface="Google Sans Flex"/>
            </a:endParaRPr>
          </a:p>
        </p:txBody>
      </p:sp>
      <p:sp>
        <p:nvSpPr>
          <p:cNvPr id="132" name="Google Shape;193;p23"/>
          <p:cNvSpPr/>
          <p:nvPr/>
        </p:nvSpPr>
        <p:spPr>
          <a:xfrm>
            <a:off x="6787134" y="1261872"/>
            <a:ext cx="2009400" cy="786300"/>
          </a:xfrm>
          <a:prstGeom prst="roundRect">
            <a:avLst>
              <a:gd fmla="val 8000" name="adj"/>
            </a:avLst>
          </a:prstGeom>
          <a:noFill/>
          <a:ln w="9525">
            <a:solidFill>
              <a:schemeClr val="dk1"/>
            </a:solid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lang="en-GB" cap="none" strike="noStrike" sz="1600">
                <a:latin typeface="Google Sans Flex Medium"/>
                <a:ea typeface="Google Sans Flex Medium"/>
                <a:cs typeface="Google Sans Flex Medium"/>
                <a:sym typeface="Google Sans Flex Medium"/>
              </a:rPr>
              <a:t>$30</a:t>
            </a:r>
            <a:endParaRPr sz="16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a day, demo ceiling</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5,000 AI calls a day for all demo visitors, 250 each</a:t>
            </a:r>
            <a:endParaRPr sz="700">
              <a:latin typeface="Google Sans Flex"/>
              <a:ea typeface="Google Sans Flex"/>
              <a:cs typeface="Google Sans Flex"/>
              <a:sym typeface="Google Sans Flex"/>
            </a:endParaRPr>
          </a:p>
        </p:txBody>
      </p:sp>
      <p:sp>
        <p:nvSpPr>
          <p:cNvPr id="133" name="Google Shape;194;p23"/>
          <p:cNvSpPr txBox="1"/>
          <p:nvPr/>
        </p:nvSpPr>
        <p:spPr>
          <a:xfrm>
            <a:off x="347472" y="2212848"/>
            <a:ext cx="40233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cap="none" strike="noStrike" sz="700">
                <a:latin typeface="Google Sans Flex Medium"/>
                <a:ea typeface="Google Sans Flex Medium"/>
                <a:cs typeface="Google Sans Flex Medium"/>
                <a:sym typeface="Google Sans Flex Medium"/>
              </a:rPr>
              <a:t>AI cost per action</a:t>
            </a:r>
            <a:r>
              <a:rPr lang="en-GB" cap="none" strike="noStrike" sz="700">
                <a:latin typeface="Google Sans Flex"/>
                <a:ea typeface="Google Sans Flex"/>
                <a:cs typeface="Google Sans Flex"/>
                <a:sym typeface="Google Sans Flex"/>
              </a:rPr>
              <a:t>  ·  measured, median</a:t>
            </a:r>
            <a:endParaRPr sz="700">
              <a:latin typeface="Google Sans Flex"/>
              <a:ea typeface="Google Sans Flex"/>
              <a:cs typeface="Google Sans Flex"/>
              <a:sym typeface="Google Sans Flex"/>
            </a:endParaRPr>
          </a:p>
        </p:txBody>
      </p:sp>
      <p:graphicFrame>
        <p:nvGraphicFramePr>
          <p:cNvPr id="134" name="Google Shape;195;p23"/>
          <p:cNvGraphicFramePr/>
          <p:nvPr/>
        </p:nvGraphicFramePr>
        <p:xfrm>
          <a:off x="347472" y="2423160"/>
          <a:ext cx="3000000" cy="3000000"/>
        </p:xfrm>
        <a:graphic>
          <a:graphicData uri="http://schemas.openxmlformats.org/drawingml/2006/table">
            <a:tbl>
              <a:tblPr>
                <a:noFill/>
              </a:tblPr>
              <a:tblGrid>
                <a:gridCol w="1783075"/>
                <a:gridCol w="502925"/>
                <a:gridCol w="777250"/>
                <a:gridCol w="685800"/>
              </a:tblGrid>
              <a:tr h="19660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Action</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Calls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Tokens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Cost</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Draft order + checks</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2</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2,638</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$0.0057</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GCash receipt read</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1</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1,918</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$0.0044</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Packing photo check</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1</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2,050</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$0.0041</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Claim review (ADK agent)</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2</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5,965</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$0.0123</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Typical order (first three)</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4</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 </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$0.0142</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bl>
          </a:graphicData>
        </a:graphic>
      </p:graphicFrame>
      <p:sp>
        <p:nvSpPr>
          <p:cNvPr id="135" name="Google Shape;196;p23"/>
          <p:cNvSpPr txBox="1"/>
          <p:nvPr/>
        </p:nvSpPr>
        <p:spPr>
          <a:xfrm>
            <a:off x="347472" y="3675887"/>
            <a:ext cx="3749100" cy="323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Tokens include Gemini's thinking, at gemini-3.8-flash's list price of $1.50 / $7.50 per 1M input / output tokens. Checks run again when the customer writes again, and some orders need a claim review: we budget 1.3× the typical order.</a:t>
            </a:r>
            <a:endParaRPr sz="700">
              <a:latin typeface="Google Sans Flex"/>
              <a:ea typeface="Google Sans Flex"/>
              <a:cs typeface="Google Sans Flex"/>
              <a:sym typeface="Google Sans Flex"/>
            </a:endParaRPr>
          </a:p>
        </p:txBody>
      </p:sp>
      <p:sp>
        <p:nvSpPr>
          <p:cNvPr id="136" name="Google Shape;197;p23"/>
          <p:cNvSpPr txBox="1"/>
          <p:nvPr/>
        </p:nvSpPr>
        <p:spPr>
          <a:xfrm>
            <a:off x="4599432" y="2212848"/>
            <a:ext cx="41970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cap="none" strike="noStrike" sz="700">
                <a:latin typeface="Google Sans Flex Medium"/>
                <a:ea typeface="Google Sans Flex Medium"/>
                <a:cs typeface="Google Sans Flex Medium"/>
                <a:sym typeface="Google Sans Flex Medium"/>
              </a:rPr>
              <a:t>Monthly estimate</a:t>
            </a:r>
            <a:r>
              <a:rPr lang="en-GB" cap="none" strike="noStrike" sz="700">
                <a:latin typeface="Google Sans Flex"/>
                <a:ea typeface="Google Sans Flex"/>
                <a:cs typeface="Google Sans Flex"/>
                <a:sym typeface="Google Sans Flex"/>
              </a:rPr>
              <a:t>  ·  one seller</a:t>
            </a:r>
            <a:endParaRPr sz="700">
              <a:latin typeface="Google Sans Flex"/>
              <a:ea typeface="Google Sans Flex"/>
              <a:cs typeface="Google Sans Flex"/>
              <a:sym typeface="Google Sans Flex"/>
            </a:endParaRPr>
          </a:p>
        </p:txBody>
      </p:sp>
      <p:graphicFrame>
        <p:nvGraphicFramePr>
          <p:cNvPr id="137" name="Google Shape;198;p23"/>
          <p:cNvGraphicFramePr/>
          <p:nvPr/>
        </p:nvGraphicFramePr>
        <p:xfrm>
          <a:off x="4599432" y="2423160"/>
          <a:ext cx="3000000" cy="3000000"/>
        </p:xfrm>
        <a:graphic>
          <a:graphicData uri="http://schemas.openxmlformats.org/drawingml/2006/table">
            <a:tbl>
              <a:tblPr>
                <a:noFill/>
              </a:tblPr>
              <a:tblGrid>
                <a:gridCol w="1874525"/>
                <a:gridCol w="1005850"/>
                <a:gridCol w="1133850"/>
              </a:tblGrid>
              <a:tr h="19660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Item</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300 orders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3,000 orders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Gemini (Vertex AI), 1.3× typical order</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$5.54</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$55.38</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Cloud Run, 1 warm instance</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$13.61</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$13.61</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Cloud Run busy time (estimate)</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free tier</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 $1</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Firestore, Storage, Hosting</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free tier</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free tier</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Secret Manager (10 secrets)</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$0.24</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$0.24</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9660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Total</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$19.39</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a:ea typeface="Google Sans Flex"/>
                          <a:cs typeface="Google Sans Flex"/>
                          <a:sym typeface="Google Sans Flex"/>
                        </a:rPr>
                        <a:t>$69.99</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bl>
          </a:graphicData>
        </a:graphic>
      </p:graphicFrame>
      <p:sp>
        <p:nvSpPr>
          <p:cNvPr id="138" name="Google Shape;199;p23"/>
          <p:cNvSpPr txBox="1"/>
          <p:nvPr/>
        </p:nvSpPr>
        <p:spPr>
          <a:xfrm>
            <a:off x="4599432" y="3886200"/>
            <a:ext cx="41970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Free tiers: Cloud Run (Tier 2) 128,571 vCPU-s and 2M requests a month; Firestore 50,000 reads and 20,000 writes a day, 1 GiB. Busy time assumes about 50 instance-seconds per order.</a:t>
            </a:r>
            <a:endParaRPr sz="700">
              <a:latin typeface="Google Sans Flex"/>
              <a:ea typeface="Google Sans Flex"/>
              <a:cs typeface="Google Sans Flex"/>
              <a:sym typeface="Google Sans Flex"/>
            </a:endParaRPr>
          </a:p>
        </p:txBody>
      </p:sp>
      <p:sp>
        <p:nvSpPr>
          <p:cNvPr id="139" name="Google Shape;200;p23"/>
          <p:cNvSpPr/>
          <p:nvPr/>
        </p:nvSpPr>
        <p:spPr>
          <a:xfrm>
            <a:off x="347472" y="4206240"/>
            <a:ext cx="8449200" cy="713100"/>
          </a:xfrm>
          <a:prstGeom prst="roundRect">
            <a:avLst>
              <a:gd fmla="val 8000" name="adj"/>
            </a:avLst>
          </a:prstGeom>
          <a:noFill/>
          <a:ln w="9525">
            <a:solidFill>
              <a:schemeClr val="dk1"/>
            </a:solid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GB" cap="none" strike="noStrike" sz="700">
                <a:latin typeface="Google Sans Flex Medium"/>
                <a:ea typeface="Google Sans Flex Medium"/>
                <a:cs typeface="Google Sans Flex Medium"/>
                <a:sym typeface="Google Sans Flex Medium"/>
              </a:rPr>
              <a:t>Paid by the seller or customer, not by Suri: </a:t>
            </a:r>
            <a:r>
              <a:rPr lang="en-GB" cap="none" strike="noStrike" sz="700">
                <a:latin typeface="Google Sans Flex"/>
                <a:ea typeface="Google Sans Flex"/>
                <a:cs typeface="Google Sans Flex"/>
                <a:sym typeface="Google Sans Flex"/>
              </a:rPr>
              <a:t>PayMongo's transaction fees, Lalamove delivery fees and GCash transfers. Messenger and the Graph API are free.</a:t>
            </a:r>
            <a:endParaRPr sz="700">
              <a:latin typeface="Google Sans Flex"/>
              <a:ea typeface="Google Sans Flex"/>
              <a:cs typeface="Google Sans Flex"/>
              <a:sym typeface="Google Sans Flex"/>
            </a:endParaRPr>
          </a:p>
          <a:p>
            <a:pPr indent="0" lvl="0" marL="0" marR="0" rtl="0" algn="l">
              <a:lnSpc>
                <a:spcPct val="100000"/>
              </a:lnSpc>
              <a:spcBef>
                <a:spcPts val="300"/>
              </a:spcBef>
              <a:spcAft>
                <a:spcPts val="0"/>
              </a:spcAft>
              <a:buNone/>
            </a:pPr>
            <a:r>
              <a:rPr lang="en-GB" cap="none" strike="noStrike" sz="700">
                <a:latin typeface="Google Sans Flex Medium"/>
                <a:ea typeface="Google Sans Flex Medium"/>
                <a:cs typeface="Google Sans Flex Medium"/>
                <a:sym typeface="Google Sans Flex Medium"/>
              </a:rPr>
              <a:t>Ways to cut it: </a:t>
            </a:r>
            <a:r>
              <a:rPr lang="en-GB" cap="none" strike="noStrike" sz="700">
                <a:latin typeface="Google Sans Flex"/>
                <a:ea typeface="Google Sans Flex"/>
                <a:cs typeface="Google Sans Flex"/>
                <a:sym typeface="Google Sans Flex"/>
              </a:rPr>
              <a:t>scale to zero outside selling hours ($13.6 less a month, with a cold start); Flex or batch pricing for non-urgent checks halves the Gemini price; cached checks already avoid repeat calls when a chat is opened again.</a:t>
            </a:r>
            <a:endParaRPr sz="700">
              <a:latin typeface="Google Sans Flex"/>
              <a:ea typeface="Google Sans Flex"/>
              <a:cs typeface="Google Sans Flex"/>
              <a:sym typeface="Google Sans Flex"/>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Google Shape;217;p25"/>
          <p:cNvSpPr txBox="1"/>
          <p:nvPr/>
        </p:nvSpPr>
        <p:spPr>
          <a:xfrm>
            <a:off x="347472" y="1033271"/>
            <a:ext cx="8449200" cy="1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Deployed prototype (Cloud Run + Firebase Hosting) and make eval: 84 synthetic cases × 3 runs, scored in code. Gemini on Vertex AI (gemini-3.8-flash). Eval run 2026-10-18 12:55 UTC.</a:t>
            </a:r>
            <a:endParaRPr sz="700">
              <a:latin typeface="Google Sans Flex"/>
              <a:ea typeface="Google Sans Flex"/>
              <a:cs typeface="Google Sans Flex"/>
              <a:sym typeface="Google Sans Flex"/>
            </a:endParaRPr>
          </a:p>
        </p:txBody>
      </p:sp>
      <p:sp>
        <p:nvSpPr>
          <p:cNvPr id="145" name="Google Shape;218;p25"/>
          <p:cNvSpPr/>
          <p:nvPr/>
        </p:nvSpPr>
        <p:spPr>
          <a:xfrm>
            <a:off x="347472" y="1261872"/>
            <a:ext cx="2009400" cy="713100"/>
          </a:xfrm>
          <a:prstGeom prst="roundRect">
            <a:avLst>
              <a:gd fmla="val 8000" name="adj"/>
            </a:avLst>
          </a:prstGeom>
          <a:noFill/>
          <a:ln w="9525">
            <a:solidFill>
              <a:schemeClr val="dk1"/>
            </a:solid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lang="en-GB" cap="none" strike="noStrike" sz="1600">
                <a:latin typeface="Google Sans Flex Medium"/>
                <a:ea typeface="Google Sans Flex Medium"/>
                <a:cs typeface="Google Sans Flex Medium"/>
                <a:sym typeface="Google Sans Flex Medium"/>
              </a:rPr>
              <a:t>57/57</a:t>
            </a:r>
            <a:endParaRPr sz="16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risky messages caught</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checks before shipping; 0 false alarms in 129 runs</a:t>
            </a:r>
            <a:endParaRPr sz="700">
              <a:latin typeface="Google Sans Flex"/>
              <a:ea typeface="Google Sans Flex"/>
              <a:cs typeface="Google Sans Flex"/>
              <a:sym typeface="Google Sans Flex"/>
            </a:endParaRPr>
          </a:p>
        </p:txBody>
      </p:sp>
      <p:sp>
        <p:nvSpPr>
          <p:cNvPr id="146" name="Google Shape;219;p25"/>
          <p:cNvSpPr/>
          <p:nvPr/>
        </p:nvSpPr>
        <p:spPr>
          <a:xfrm>
            <a:off x="2494026" y="1261872"/>
            <a:ext cx="2009400" cy="713100"/>
          </a:xfrm>
          <a:prstGeom prst="roundRect">
            <a:avLst>
              <a:gd fmla="val 8000" name="adj"/>
            </a:avLst>
          </a:prstGeom>
          <a:noFill/>
          <a:ln w="9525">
            <a:solidFill>
              <a:schemeClr val="dk1"/>
            </a:solid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lang="en-GB" cap="none" strike="noStrike" sz="1600">
                <a:latin typeface="Google Sans Flex Medium"/>
                <a:ea typeface="Google Sans Flex Medium"/>
                <a:cs typeface="Google Sans Flex Medium"/>
                <a:sym typeface="Google Sans Flex Medium"/>
              </a:rPr>
              <a:t>0</a:t>
            </a:r>
            <a:endParaRPr sz="16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unsafe outcomes</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customer value in an order, false packing match, planted receipt text passed</a:t>
            </a:r>
            <a:endParaRPr sz="700">
              <a:latin typeface="Google Sans Flex"/>
              <a:ea typeface="Google Sans Flex"/>
              <a:cs typeface="Google Sans Flex"/>
              <a:sym typeface="Google Sans Flex"/>
            </a:endParaRPr>
          </a:p>
        </p:txBody>
      </p:sp>
      <p:sp>
        <p:nvSpPr>
          <p:cNvPr id="147" name="Google Shape;220;p25"/>
          <p:cNvSpPr/>
          <p:nvPr/>
        </p:nvSpPr>
        <p:spPr>
          <a:xfrm>
            <a:off x="4640580" y="1261872"/>
            <a:ext cx="2009400" cy="713100"/>
          </a:xfrm>
          <a:prstGeom prst="roundRect">
            <a:avLst>
              <a:gd fmla="val 8000" name="adj"/>
            </a:avLst>
          </a:prstGeom>
          <a:noFill/>
          <a:ln w="9525">
            <a:solidFill>
              <a:schemeClr val="dk1"/>
            </a:solid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lang="en-GB" cap="none" strike="noStrike" sz="1600">
                <a:latin typeface="Google Sans Flex Medium"/>
                <a:ea typeface="Google Sans Flex Medium"/>
                <a:cs typeface="Google Sans Flex Medium"/>
                <a:sym typeface="Google Sans Flex Medium"/>
              </a:rPr>
              <a:t>3.1 s</a:t>
            </a:r>
            <a:endParaRPr sz="16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checks, end to end</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median, live app; draft order 5.8 s</a:t>
            </a:r>
            <a:endParaRPr sz="700">
              <a:latin typeface="Google Sans Flex"/>
              <a:ea typeface="Google Sans Flex"/>
              <a:cs typeface="Google Sans Flex"/>
              <a:sym typeface="Google Sans Flex"/>
            </a:endParaRPr>
          </a:p>
        </p:txBody>
      </p:sp>
      <p:sp>
        <p:nvSpPr>
          <p:cNvPr id="148" name="Google Shape;221;p25"/>
          <p:cNvSpPr/>
          <p:nvPr/>
        </p:nvSpPr>
        <p:spPr>
          <a:xfrm>
            <a:off x="6787134" y="1261872"/>
            <a:ext cx="2009400" cy="713100"/>
          </a:xfrm>
          <a:prstGeom prst="roundRect">
            <a:avLst>
              <a:gd fmla="val 8000" name="adj"/>
            </a:avLst>
          </a:prstGeom>
          <a:noFill/>
          <a:ln w="9525">
            <a:solidFill>
              <a:schemeClr val="dk1"/>
            </a:solidFill>
          </a:ln>
        </p:spPr>
        <p:txBody>
          <a:bodyPr anchorCtr="0" anchor="t" bIns="82275" lIns="82275" spcFirstLastPara="1" rIns="82275" wrap="square" tIns="82275">
            <a:noAutofit/>
          </a:bodyPr>
          <a:lstStyle/>
          <a:p>
            <a:pPr indent="0" lvl="0" marL="0" marR="0" rtl="0" algn="l">
              <a:lnSpc>
                <a:spcPct val="100000"/>
              </a:lnSpc>
              <a:spcBef>
                <a:spcPts val="0"/>
              </a:spcBef>
              <a:spcAft>
                <a:spcPts val="0"/>
              </a:spcAft>
              <a:buNone/>
            </a:pPr>
            <a:r>
              <a:rPr lang="en-GB" cap="none" strike="noStrike" sz="1600">
                <a:latin typeface="Google Sans Flex Medium"/>
                <a:ea typeface="Google Sans Flex Medium"/>
                <a:cs typeface="Google Sans Flex Medium"/>
                <a:sym typeface="Google Sans Flex Medium"/>
              </a:rPr>
              <a:t>$0.0057</a:t>
            </a:r>
            <a:endParaRPr sz="16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Gemini cost per action</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median, draft + checks; claim review $0.0123</a:t>
            </a:r>
            <a:endParaRPr sz="700">
              <a:latin typeface="Google Sans Flex"/>
              <a:ea typeface="Google Sans Flex"/>
              <a:cs typeface="Google Sans Flex"/>
              <a:sym typeface="Google Sans Flex"/>
            </a:endParaRPr>
          </a:p>
        </p:txBody>
      </p:sp>
      <p:sp>
        <p:nvSpPr>
          <p:cNvPr id="149" name="Google Shape;222;p25"/>
          <p:cNvSpPr txBox="1"/>
          <p:nvPr/>
        </p:nvSpPr>
        <p:spPr>
          <a:xfrm>
            <a:off x="347472" y="2075688"/>
            <a:ext cx="38862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cap="none" strike="noStrike" sz="700">
                <a:latin typeface="Google Sans Flex Medium"/>
                <a:ea typeface="Google Sans Flex Medium"/>
                <a:cs typeface="Google Sans Flex Medium"/>
                <a:sym typeface="Google Sans Flex Medium"/>
              </a:rPr>
              <a:t>AI accuracy</a:t>
            </a:r>
            <a:r>
              <a:rPr lang="en-GB" cap="none" strike="noStrike" sz="700">
                <a:latin typeface="Google Sans Flex"/>
                <a:ea typeface="Google Sans Flex"/>
                <a:cs typeface="Google Sans Flex"/>
                <a:sym typeface="Google Sans Flex"/>
              </a:rPr>
              <a:t>  ·  gemini-3.8-flash, 3 runs per case</a:t>
            </a:r>
            <a:endParaRPr sz="700">
              <a:latin typeface="Google Sans Flex"/>
              <a:ea typeface="Google Sans Flex"/>
              <a:cs typeface="Google Sans Flex"/>
              <a:sym typeface="Google Sans Flex"/>
            </a:endParaRPr>
          </a:p>
        </p:txBody>
      </p:sp>
      <p:graphicFrame>
        <p:nvGraphicFramePr>
          <p:cNvPr id="150" name="Google Shape;223;p25"/>
          <p:cNvGraphicFramePr/>
          <p:nvPr/>
        </p:nvGraphicFramePr>
        <p:xfrm>
          <a:off x="347472" y="2286000"/>
          <a:ext cx="3000000" cy="3000000"/>
        </p:xfrm>
        <a:graphic>
          <a:graphicData uri="http://schemas.openxmlformats.org/drawingml/2006/table">
            <a:tbl>
              <a:tblPr>
                <a:noFill/>
              </a:tblPr>
              <a:tblGrid>
                <a:gridCol w="1280150"/>
                <a:gridCol w="1645925"/>
                <a:gridCol w="960125"/>
              </a:tblGrid>
              <a:tr h="18745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Task (cases)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Measure</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Result</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rowSpan="3">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Chat → order (43)</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 </a:t>
                      </a:r>
                      <a:endParaRPr sz="800">
                        <a:latin typeface="Google Sans Flex"/>
                        <a:ea typeface="Google Sans Flex"/>
                        <a:cs typeface="Google Sans Flex"/>
                        <a:sym typeface="Google Sans Flex"/>
                      </a:endParaRPr>
                    </a:p>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 </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Fields correct</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951/954 (100%)</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vMerge="1"/>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Checks caught / false alarms</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57/57 / 0</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vMerge="1"/>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Injection: customer value used</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0</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Claim review (17)</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Acceptable action</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51/51 (100%)</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Packing photos (20)</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Line result / false match</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66/66 / 0</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GCash receipts (4)</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l">
                        <a:lnSpc>
                          <a:spcPct val="100000"/>
                        </a:lnSpc>
                        <a:spcBef>
                          <a:spcPts val="0"/>
                        </a:spcBef>
                        <a:spcAft>
                          <a:spcPts val="0"/>
                        </a:spcAft>
                        <a:buNone/>
                      </a:pPr>
                      <a:r>
                        <a:rPr lang="en-GB" cap="none" strike="noStrike" sz="800">
                          <a:latin typeface="Google Sans Flex"/>
                          <a:ea typeface="Google Sans Flex"/>
                          <a:cs typeface="Google Sans Flex"/>
                          <a:sym typeface="Google Sans Flex"/>
                        </a:rPr>
                        <a:t>Checks / planted text passed</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12/12 / 0</a:t>
                      </a:r>
                      <a:endParaRPr sz="8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bl>
          </a:graphicData>
        </a:graphic>
      </p:graphicFrame>
      <p:sp>
        <p:nvSpPr>
          <p:cNvPr id="151" name="Google Shape;224;p25"/>
          <p:cNvSpPr txBox="1"/>
          <p:nvPr/>
        </p:nvSpPr>
        <p:spPr>
          <a:xfrm>
            <a:off x="4370832" y="2075688"/>
            <a:ext cx="4425600" cy="14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cap="none" strike="noStrike" sz="700">
                <a:latin typeface="Google Sans Flex Medium"/>
                <a:ea typeface="Google Sans Flex Medium"/>
                <a:cs typeface="Google Sans Flex Medium"/>
                <a:sym typeface="Google Sans Flex Medium"/>
              </a:rPr>
              <a:t>Speed, tokens and cost per AI action</a:t>
            </a:r>
            <a:r>
              <a:rPr lang="en-GB" cap="none" strike="noStrike" sz="700">
                <a:latin typeface="Google Sans Flex"/>
                <a:ea typeface="Google Sans Flex"/>
                <a:cs typeface="Google Sans Flex"/>
                <a:sym typeface="Google Sans Flex"/>
              </a:rPr>
              <a:t>  ·  p50 / p95</a:t>
            </a:r>
            <a:endParaRPr sz="700">
              <a:latin typeface="Google Sans Flex"/>
              <a:ea typeface="Google Sans Flex"/>
              <a:cs typeface="Google Sans Flex"/>
              <a:sym typeface="Google Sans Flex"/>
            </a:endParaRPr>
          </a:p>
        </p:txBody>
      </p:sp>
      <p:graphicFrame>
        <p:nvGraphicFramePr>
          <p:cNvPr id="152" name="Google Shape;225;p25"/>
          <p:cNvGraphicFramePr/>
          <p:nvPr/>
        </p:nvGraphicFramePr>
        <p:xfrm>
          <a:off x="4370832" y="2286000"/>
          <a:ext cx="3000000" cy="3000000"/>
        </p:xfrm>
        <a:graphic>
          <a:graphicData uri="http://schemas.openxmlformats.org/drawingml/2006/table">
            <a:tbl>
              <a:tblPr>
                <a:noFill/>
              </a:tblPr>
              <a:tblGrid>
                <a:gridCol w="1261875"/>
                <a:gridCol w="914400"/>
                <a:gridCol w="1042425"/>
                <a:gridCol w="566925"/>
                <a:gridCol w="640075"/>
              </a:tblGrid>
              <a:tr h="18745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Action</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Live app</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Model only (eval)</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Tokens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Cost</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Draft order</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5.8 s / 8.6 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rowSpan="2">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3.2 s / 10.9 s (both)</a:t>
                      </a:r>
                      <a:endParaRPr sz="700">
                        <a:latin typeface="Google Sans Flex"/>
                        <a:ea typeface="Google Sans Flex"/>
                        <a:cs typeface="Google Sans Flex"/>
                        <a:sym typeface="Google Sans Flex"/>
                      </a:endParaRPr>
                    </a:p>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 </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rowSpan="2">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2,638</a:t>
                      </a:r>
                      <a:endParaRPr sz="700">
                        <a:latin typeface="Google Sans Flex"/>
                        <a:ea typeface="Google Sans Flex"/>
                        <a:cs typeface="Google Sans Flex"/>
                        <a:sym typeface="Google Sans Flex"/>
                      </a:endParaRPr>
                    </a:p>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 </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rowSpan="2">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$0.0057</a:t>
                      </a:r>
                      <a:endParaRPr sz="700">
                        <a:latin typeface="Google Sans Flex"/>
                        <a:ea typeface="Google Sans Flex"/>
                        <a:cs typeface="Google Sans Flex"/>
                        <a:sym typeface="Google Sans Flex"/>
                      </a:endParaRPr>
                    </a:p>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 </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Checks before shipping</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3.1 s / 9.9 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vMerge="1"/>
                <a:tc vMerge="1"/>
                <a:tc vMerge="1"/>
              </a:tr>
              <a:tr h="18745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Packing photo check</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3.8 s / 8.4 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2,050</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$0.0041</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Claim review (agent)</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10.4 s p50</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15.0 s / 44.8 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5,965</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$0.0123</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GCash receipt read</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3.4 s / 11.9 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1,918</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$0.0044</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r h="187450">
                <a:tc>
                  <a:txBody>
                    <a:bodyPr/>
                    <a:lstStyle/>
                    <a:p>
                      <a:pPr indent="0" lvl="0" marL="0" marR="0" rtl="0" algn="l">
                        <a:lnSpc>
                          <a:spcPct val="100000"/>
                        </a:lnSpc>
                        <a:spcBef>
                          <a:spcPts val="0"/>
                        </a:spcBef>
                        <a:spcAft>
                          <a:spcPts val="0"/>
                        </a:spcAft>
                        <a:buNone/>
                      </a:pPr>
                      <a:r>
                        <a:rPr lang="en-GB" cap="none" strike="noStrike" sz="700">
                          <a:latin typeface="Google Sans Flex"/>
                          <a:ea typeface="Google Sans Flex"/>
                          <a:cs typeface="Google Sans Flex"/>
                          <a:sym typeface="Google Sans Flex"/>
                        </a:rPr>
                        <a:t>AI customer (Flash-Lite)</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1.2 s / 1.3 s</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c>
                  <a:txBody>
                    <a:bodyPr/>
                    <a:lstStyle/>
                    <a:p>
                      <a:pPr indent="0" lvl="0" marL="0" marR="0" rtl="0" algn="r">
                        <a:lnSpc>
                          <a:spcPct val="100000"/>
                        </a:lnSpc>
                        <a:spcBef>
                          <a:spcPts val="0"/>
                        </a:spcBef>
                        <a:spcAft>
                          <a:spcPts val="0"/>
                        </a:spcAft>
                        <a:buNone/>
                      </a:pPr>
                      <a:r>
                        <a:rPr lang="en-GB" cap="none" strike="noStrike" sz="700">
                          <a:latin typeface="Google Sans Flex"/>
                          <a:ea typeface="Google Sans Flex"/>
                          <a:cs typeface="Google Sans Flex"/>
                          <a:sym typeface="Google Sans Flex"/>
                        </a:rPr>
                        <a:t>–</a:t>
                      </a:r>
                      <a:endParaRPr sz="700">
                        <a:latin typeface="Google Sans Flex"/>
                        <a:ea typeface="Google Sans Flex"/>
                        <a:cs typeface="Google Sans Flex"/>
                        <a:sym typeface="Google Sans Flex"/>
                      </a:endParaRPr>
                    </a:p>
                  </a:txBody>
                  <a:tcPr marT="9150" marB="9150" marR="45725" marL="45725" anchor="ctr">
                    <a:lnL cap="flat" cmpd="sng" w="0">
                      <a:noFill/>
                    </a:lnL>
                    <a:lnR cap="flat" cmpd="sng" w="0">
                      <a:noFill/>
                    </a:lnR>
                    <a:lnT cap="flat" cmpd="sng" w="0">
                      <a:noFill/>
                    </a:lnT>
                    <a:lnB cap="flat" cmpd="sng" w="3175">
                      <a:solidFill>
                        <a:schemeClr val="dk1"/>
                      </a:solidFill>
                    </a:lnB>
                    <a:noFill/>
                  </a:tcPr>
                </a:tc>
              </a:tr>
            </a:tbl>
          </a:graphicData>
        </a:graphic>
      </p:graphicFrame>
      <p:sp>
        <p:nvSpPr>
          <p:cNvPr id="153" name="Google Shape;226;p25"/>
          <p:cNvSpPr txBox="1"/>
          <p:nvPr/>
        </p:nvSpPr>
        <p:spPr>
          <a:xfrm>
            <a:off x="347472" y="3685032"/>
            <a:ext cx="8449200" cy="1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cap="none" strike="noStrike" sz="700">
                <a:latin typeface="Google Sans Flex Medium"/>
                <a:ea typeface="Google Sans Flex Medium"/>
                <a:cs typeface="Google Sans Flex Medium"/>
                <a:sym typeface="Google Sans Flex Medium"/>
              </a:rPr>
              <a:t>Without AI: </a:t>
            </a:r>
            <a:r>
              <a:rPr lang="en-GB" cap="none" strike="noStrike" sz="700">
                <a:latin typeface="Google Sans Flex"/>
                <a:ea typeface="Google Sans Flex"/>
                <a:cs typeface="Google Sans Flex"/>
                <a:sym typeface="Google Sans Flex"/>
              </a:rPr>
              <a:t>pages 0.2 s–0.5 s p50; one warm 1-vCPU instance served 11.5 req/s at 10 concurrent users and 13.3 at 25, 0 errors in 600 requests.</a:t>
            </a:r>
            <a:endParaRPr sz="700">
              <a:latin typeface="Google Sans Flex"/>
              <a:ea typeface="Google Sans Flex"/>
              <a:cs typeface="Google Sans Flex"/>
              <a:sym typeface="Google Sans Flex"/>
            </a:endParaRPr>
          </a:p>
        </p:txBody>
      </p:sp>
      <p:sp>
        <p:nvSpPr>
          <p:cNvPr id="154" name="Google Shape;227;p25"/>
          <p:cNvSpPr/>
          <p:nvPr/>
        </p:nvSpPr>
        <p:spPr>
          <a:xfrm>
            <a:off x="347472" y="3922776"/>
            <a:ext cx="2743200" cy="1024200"/>
          </a:xfrm>
          <a:prstGeom prst="roundRect">
            <a:avLst>
              <a:gd fmla="val 8000" name="adj"/>
            </a:avLst>
          </a:prstGeom>
          <a:noFill/>
          <a:ln w="9525">
            <a:solidFill>
              <a:schemeClr val="dk1"/>
            </a:solidFill>
          </a:ln>
        </p:spPr>
        <p:txBody>
          <a:bodyPr anchorCtr="0" anchor="t" bIns="64000" lIns="64000" spcFirstLastPara="1" rIns="64000" wrap="square" tIns="64000">
            <a:noAutofit/>
          </a:bodyPr>
          <a:lstStyle/>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Environment and method</a:t>
            </a:r>
            <a:endParaRPr sz="800">
              <a:latin typeface="Google Sans Flex"/>
              <a:ea typeface="Google Sans Flex"/>
              <a:cs typeface="Google Sans Flex"/>
              <a:sym typeface="Google Sans Flex"/>
            </a:endParaRPr>
          </a:p>
          <a:p>
            <a:pPr indent="0" lvl="0" marL="0" marR="0" rtl="0" algn="l">
              <a:lnSpc>
                <a:spcPct val="100000"/>
              </a:lnSpc>
              <a:spcBef>
                <a:spcPts val="200"/>
              </a:spcBef>
              <a:spcAft>
                <a:spcPts val="0"/>
              </a:spcAft>
              <a:buNone/>
            </a:pPr>
            <a:r>
              <a:rPr lang="en-GB" cap="none" strike="noStrike" sz="650">
                <a:latin typeface="Google Sans Flex Medium"/>
                <a:ea typeface="Google Sans Flex Medium"/>
                <a:cs typeface="Google Sans Flex Medium"/>
                <a:sym typeface="Google Sans Flex Medium"/>
              </a:rPr>
              <a:t>App: </a:t>
            </a:r>
            <a:r>
              <a:rPr lang="en-GB" cap="none" strike="noStrike" sz="650">
                <a:latin typeface="Google Sans Flex"/>
                <a:ea typeface="Google Sans Flex"/>
                <a:cs typeface="Google Sans Flex"/>
                <a:sym typeface="Google Sans Flex"/>
              </a:rPr>
              <a:t>Cloud Run asia-southeast1, 1 vCPU, 512 MiB, 1 warm instance; Firestore, Cloud Storage; Firebase Hosting.</a:t>
            </a:r>
            <a:endParaRPr sz="650">
              <a:latin typeface="Google Sans Flex"/>
              <a:ea typeface="Google Sans Flex"/>
              <a:cs typeface="Google Sans Flex"/>
              <a:sym typeface="Google Sans Flex"/>
            </a:endParaRPr>
          </a:p>
          <a:p>
            <a:pPr indent="0" lvl="0" marL="0" marR="0" rtl="0" algn="l">
              <a:lnSpc>
                <a:spcPct val="100000"/>
              </a:lnSpc>
              <a:spcBef>
                <a:spcPts val="200"/>
              </a:spcBef>
              <a:spcAft>
                <a:spcPts val="0"/>
              </a:spcAft>
              <a:buNone/>
            </a:pPr>
            <a:r>
              <a:rPr lang="en-GB" cap="none" strike="noStrike" sz="650">
                <a:latin typeface="Google Sans Flex Medium"/>
                <a:ea typeface="Google Sans Flex Medium"/>
                <a:cs typeface="Google Sans Flex Medium"/>
                <a:sym typeface="Google Sans Flex Medium"/>
              </a:rPr>
              <a:t>Live: </a:t>
            </a:r>
            <a:r>
              <a:rPr lang="en-GB" cap="none" strike="noStrike" sz="650">
                <a:latin typeface="Google Sans Flex"/>
                <a:ea typeface="Google Sans Flex"/>
                <a:cs typeface="Google Sans Flex"/>
                <a:sym typeface="Google Sans Flex"/>
              </a:rPr>
              <a:t>a laptop over the internet as new demo visitors; AI actions 5× each on fresh visitors, pages 20×, 200 requests at 1/10/25 users.</a:t>
            </a:r>
            <a:endParaRPr sz="650">
              <a:latin typeface="Google Sans Flex"/>
              <a:ea typeface="Google Sans Flex"/>
              <a:cs typeface="Google Sans Flex"/>
              <a:sym typeface="Google Sans Flex"/>
            </a:endParaRPr>
          </a:p>
          <a:p>
            <a:pPr indent="0" lvl="0" marL="0" marR="0" rtl="0" algn="l">
              <a:lnSpc>
                <a:spcPct val="100000"/>
              </a:lnSpc>
              <a:spcBef>
                <a:spcPts val="200"/>
              </a:spcBef>
              <a:spcAft>
                <a:spcPts val="0"/>
              </a:spcAft>
              <a:buNone/>
            </a:pPr>
            <a:r>
              <a:rPr lang="en-GB" cap="none" strike="noStrike" sz="650">
                <a:latin typeface="Google Sans Flex Medium"/>
                <a:ea typeface="Google Sans Flex Medium"/>
                <a:cs typeface="Google Sans Flex Medium"/>
                <a:sym typeface="Google Sans Flex Medium"/>
              </a:rPr>
              <a:t>Tokens: </a:t>
            </a:r>
            <a:r>
              <a:rPr lang="en-GB" cap="none" strike="noStrike" sz="650">
                <a:latin typeface="Google Sans Flex"/>
                <a:ea typeface="Google Sans Flex"/>
                <a:cs typeface="Google Sans Flex"/>
                <a:sym typeface="Google Sans Flex"/>
              </a:rPr>
              <a:t>Vertex usage metadata, thinking included, at list price $1.50 / $7.50 per 1M in / out.</a:t>
            </a:r>
            <a:endParaRPr sz="650">
              <a:latin typeface="Google Sans Flex"/>
              <a:ea typeface="Google Sans Flex"/>
              <a:cs typeface="Google Sans Flex"/>
              <a:sym typeface="Google Sans Flex"/>
            </a:endParaRPr>
          </a:p>
        </p:txBody>
      </p:sp>
      <p:sp>
        <p:nvSpPr>
          <p:cNvPr id="155" name="Google Shape;228;p25"/>
          <p:cNvSpPr/>
          <p:nvPr/>
        </p:nvSpPr>
        <p:spPr>
          <a:xfrm>
            <a:off x="3200400" y="3922776"/>
            <a:ext cx="2743200" cy="1024200"/>
          </a:xfrm>
          <a:prstGeom prst="roundRect">
            <a:avLst>
              <a:gd fmla="val 8000" name="adj"/>
            </a:avLst>
          </a:prstGeom>
          <a:noFill/>
          <a:ln w="9525">
            <a:solidFill>
              <a:schemeClr val="dk1"/>
            </a:solidFill>
          </a:ln>
        </p:spPr>
        <p:txBody>
          <a:bodyPr anchorCtr="0" anchor="t" bIns="64000" lIns="64000" spcFirstLastPara="1" rIns="64000" wrap="square" tIns="64000">
            <a:noAutofit/>
          </a:bodyPr>
          <a:lstStyle/>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Constraints we hit</a:t>
            </a:r>
            <a:endParaRPr sz="800">
              <a:latin typeface="Google Sans Flex"/>
              <a:ea typeface="Google Sans Flex"/>
              <a:cs typeface="Google Sans Flex"/>
              <a:sym typeface="Google Sans Flex"/>
            </a:endParaRPr>
          </a:p>
          <a:p>
            <a:pPr indent="0" lvl="0" marL="0" marR="0" rtl="0" algn="l">
              <a:lnSpc>
                <a:spcPct val="100000"/>
              </a:lnSpc>
              <a:spcBef>
                <a:spcPts val="200"/>
              </a:spcBef>
              <a:spcAft>
                <a:spcPts val="0"/>
              </a:spcAft>
              <a:buNone/>
            </a:pPr>
            <a:r>
              <a:rPr lang="en-GB" cap="none" strike="noStrike" sz="650">
                <a:latin typeface="Google Sans Flex Medium"/>
                <a:ea typeface="Google Sans Flex Medium"/>
                <a:cs typeface="Google Sans Flex Medium"/>
                <a:sym typeface="Google Sans Flex Medium"/>
              </a:rPr>
              <a:t>Quotas: </a:t>
            </a:r>
            <a:r>
              <a:rPr lang="en-GB" cap="none" strike="noStrike" sz="650">
                <a:latin typeface="Google Sans Flex"/>
                <a:ea typeface="Google Sans Flex"/>
                <a:cs typeface="Google Sans Flex"/>
                <a:sym typeface="Google Sans Flex"/>
              </a:rPr>
              <a:t>Vertex AI pay-as-you-go, default quotas; no free-tier or raised limits assumed.</a:t>
            </a:r>
            <a:endParaRPr sz="650">
              <a:latin typeface="Google Sans Flex"/>
              <a:ea typeface="Google Sans Flex"/>
              <a:cs typeface="Google Sans Flex"/>
              <a:sym typeface="Google Sans Flex"/>
            </a:endParaRPr>
          </a:p>
          <a:p>
            <a:pPr indent="0" lvl="0" marL="0" marR="0" rtl="0" algn="l">
              <a:lnSpc>
                <a:spcPct val="100000"/>
              </a:lnSpc>
              <a:spcBef>
                <a:spcPts val="200"/>
              </a:spcBef>
              <a:spcAft>
                <a:spcPts val="0"/>
              </a:spcAft>
              <a:buNone/>
            </a:pPr>
            <a:r>
              <a:rPr lang="en-GB" cap="none" strike="noStrike" sz="650">
                <a:latin typeface="Google Sans Flex Medium"/>
                <a:ea typeface="Google Sans Flex Medium"/>
                <a:cs typeface="Google Sans Flex Medium"/>
                <a:sym typeface="Google Sans Flex Medium"/>
              </a:rPr>
              <a:t>429: </a:t>
            </a:r>
            <a:r>
              <a:rPr lang="en-GB" cap="none" strike="noStrike" sz="650">
                <a:latin typeface="Google Sans Flex"/>
                <a:ea typeface="Google Sans Flex"/>
                <a:cs typeface="Google Sans Flex"/>
                <a:sym typeface="Google Sans Flex"/>
              </a:rPr>
              <a:t>8 parallel eval workers hit RESOURCE_EXHAUSTED, so evals run 4 at a time.</a:t>
            </a:r>
            <a:endParaRPr sz="650">
              <a:latin typeface="Google Sans Flex"/>
              <a:ea typeface="Google Sans Flex"/>
              <a:cs typeface="Google Sans Flex"/>
              <a:sym typeface="Google Sans Flex"/>
            </a:endParaRPr>
          </a:p>
          <a:p>
            <a:pPr indent="0" lvl="0" marL="0" marR="0" rtl="0" algn="l">
              <a:lnSpc>
                <a:spcPct val="100000"/>
              </a:lnSpc>
              <a:spcBef>
                <a:spcPts val="200"/>
              </a:spcBef>
              <a:spcAft>
                <a:spcPts val="0"/>
              </a:spcAft>
              <a:buNone/>
            </a:pPr>
            <a:r>
              <a:rPr lang="en-GB" cap="none" strike="noStrike" sz="650">
                <a:latin typeface="Google Sans Flex Medium"/>
                <a:ea typeface="Google Sans Flex Medium"/>
                <a:cs typeface="Google Sans Flex Medium"/>
                <a:sym typeface="Google Sans Flex Medium"/>
              </a:rPr>
              <a:t>504: </a:t>
            </a:r>
            <a:r>
              <a:rPr lang="en-GB" cap="none" strike="noStrike" sz="650">
                <a:latin typeface="Google Sans Flex"/>
                <a:ea typeface="Google Sans Flex"/>
                <a:cs typeface="Google Sans Flex"/>
                <a:sym typeface="Google Sans Flex"/>
              </a:rPr>
              <a:t>Vertex sometimes times out under load: a 90 s timeout per call, one retry on chat actions; demo capped at 5,000 AI calls a day.</a:t>
            </a:r>
            <a:endParaRPr sz="650">
              <a:latin typeface="Google Sans Flex"/>
              <a:ea typeface="Google Sans Flex"/>
              <a:cs typeface="Google Sans Flex"/>
              <a:sym typeface="Google Sans Flex"/>
            </a:endParaRPr>
          </a:p>
        </p:txBody>
      </p:sp>
      <p:sp>
        <p:nvSpPr>
          <p:cNvPr id="156" name="Google Shape;229;p25"/>
          <p:cNvSpPr/>
          <p:nvPr/>
        </p:nvSpPr>
        <p:spPr>
          <a:xfrm>
            <a:off x="6053328" y="3922776"/>
            <a:ext cx="2743200" cy="1024200"/>
          </a:xfrm>
          <a:prstGeom prst="roundRect">
            <a:avLst>
              <a:gd fmla="val 8000" name="adj"/>
            </a:avLst>
          </a:prstGeom>
          <a:noFill/>
          <a:ln w="9525">
            <a:solidFill>
              <a:schemeClr val="dk1"/>
            </a:solidFill>
          </a:ln>
        </p:spPr>
        <p:txBody>
          <a:bodyPr anchorCtr="0" anchor="t" bIns="64000" lIns="64000" spcFirstLastPara="1" rIns="64000" wrap="square" tIns="64000">
            <a:noAutofit/>
          </a:bodyPr>
          <a:lstStyle/>
          <a:p>
            <a:pPr indent="0" lvl="0" marL="0" marR="0" rtl="0" algn="l">
              <a:lnSpc>
                <a:spcPct val="100000"/>
              </a:lnSpc>
              <a:spcBef>
                <a:spcPts val="0"/>
              </a:spcBef>
              <a:spcAft>
                <a:spcPts val="0"/>
              </a:spcAft>
              <a:buNone/>
            </a:pPr>
            <a:r>
              <a:rPr lang="en-GB" cap="none" strike="noStrike" sz="800">
                <a:latin typeface="Google Sans Flex Medium"/>
                <a:ea typeface="Google Sans Flex Medium"/>
                <a:cs typeface="Google Sans Flex Medium"/>
                <a:sym typeface="Google Sans Flex Medium"/>
              </a:rPr>
              <a:t>How we keep it fast</a:t>
            </a:r>
            <a:endParaRPr sz="800">
              <a:latin typeface="Google Sans Flex"/>
              <a:ea typeface="Google Sans Flex"/>
              <a:cs typeface="Google Sans Flex"/>
              <a:sym typeface="Google Sans Flex"/>
            </a:endParaRPr>
          </a:p>
          <a:p>
            <a:pPr indent="0" lvl="0" marL="0" marR="0" rtl="0" algn="l">
              <a:lnSpc>
                <a:spcPct val="100000"/>
              </a:lnSpc>
              <a:spcBef>
                <a:spcPts val="200"/>
              </a:spcBef>
              <a:spcAft>
                <a:spcPts val="0"/>
              </a:spcAft>
              <a:buNone/>
            </a:pPr>
            <a:r>
              <a:rPr lang="en-GB" cap="none" strike="noStrike" sz="650">
                <a:latin typeface="Google Sans Flex"/>
                <a:ea typeface="Google Sans Flex"/>
                <a:cs typeface="Google Sans Flex"/>
                <a:sym typeface="Google Sans Flex"/>
              </a:rPr>
              <a:t>Checks run once per new customer message and are stored; briefs are cached; the claim agent runs on low thinking.</a:t>
            </a:r>
            <a:endParaRPr sz="650">
              <a:latin typeface="Google Sans Flex"/>
              <a:ea typeface="Google Sans Flex"/>
              <a:cs typeface="Google Sans Flex"/>
              <a:sym typeface="Google Sans Flex"/>
            </a:endParaRPr>
          </a:p>
          <a:p>
            <a:pPr indent="0" lvl="0" marL="0" marR="0" rtl="0" algn="l">
              <a:lnSpc>
                <a:spcPct val="100000"/>
              </a:lnSpc>
              <a:spcBef>
                <a:spcPts val="200"/>
              </a:spcBef>
              <a:spcAft>
                <a:spcPts val="0"/>
              </a:spcAft>
              <a:buNone/>
            </a:pPr>
            <a:r>
              <a:rPr lang="en-GB" cap="none" strike="noStrike" sz="650">
                <a:latin typeface="Google Sans Flex"/>
                <a:ea typeface="Google Sans Flex"/>
                <a:cs typeface="Google Sans Flex"/>
                <a:sym typeface="Google Sans Flex"/>
              </a:rPr>
              <a:t>AI calls go straight to Cloud Run (300 s), past Hosting's 60 s limit; 1 warm instance, 30 requests each.</a:t>
            </a:r>
            <a:endParaRPr sz="650">
              <a:latin typeface="Google Sans Flex"/>
              <a:ea typeface="Google Sans Flex"/>
              <a:cs typeface="Google Sans Flex"/>
              <a:sym typeface="Google Sans Flex"/>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Google Shape;238;p26"/>
          <p:cNvSpPr txBox="1"/>
          <p:nvPr/>
        </p:nvSpPr>
        <p:spPr>
          <a:xfrm>
            <a:off x="342900" y="13843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Learning from resolved claims</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Use seller corrections and resolved outcomes to</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improve recall and propose packing lessons.</a:t>
            </a:r>
            <a:endParaRPr sz="1200">
              <a:latin typeface="Google Sans Flex"/>
              <a:ea typeface="Google Sans Flex"/>
              <a:cs typeface="Google Sans Flex"/>
              <a:sym typeface="Google Sans Flex"/>
            </a:endParaRPr>
          </a:p>
        </p:txBody>
      </p:sp>
      <p:sp>
        <p:nvSpPr>
          <p:cNvPr id="153" name="Google Shape;239;p26"/>
          <p:cNvSpPr txBox="1"/>
          <p:nvPr/>
        </p:nvSpPr>
        <p:spPr>
          <a:xfrm>
            <a:off x="342900" y="25400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Conversational shopping</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Help customers discover products, choose variants</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and build orders using the seller’s catalog and stock.</a:t>
            </a:r>
            <a:endParaRPr sz="1200">
              <a:latin typeface="Google Sans Flex"/>
              <a:ea typeface="Google Sans Flex"/>
              <a:cs typeface="Google Sans Flex"/>
              <a:sym typeface="Google Sans Flex"/>
            </a:endParaRPr>
          </a:p>
        </p:txBody>
      </p:sp>
      <p:sp>
        <p:nvSpPr>
          <p:cNvPr id="154" name="Google Shape;240;p26"/>
          <p:cNvSpPr txBox="1"/>
          <p:nvPr/>
        </p:nvSpPr>
        <p:spPr>
          <a:xfrm>
            <a:off x="342900" y="36957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Customer and sales insights</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Surface demand, common questions, repeat purchases</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and customer-stated reasons for abandoned orders.</a:t>
            </a:r>
            <a:endParaRPr sz="1200">
              <a:latin typeface="Google Sans Flex"/>
              <a:ea typeface="Google Sans Flex"/>
              <a:cs typeface="Google Sans Flex"/>
              <a:sym typeface="Google Sans Flex"/>
            </a:endParaRPr>
          </a:p>
        </p:txBody>
      </p:sp>
      <p:sp>
        <p:nvSpPr>
          <p:cNvPr id="155" name="Google Shape;241;p26"/>
          <p:cNvSpPr txBox="1"/>
          <p:nvPr/>
        </p:nvSpPr>
        <p:spPr>
          <a:xfrm>
            <a:off x="4762500" y="13843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Production and payment integrations</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Pilot with sellers and add provider-confirmed</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payments and reconciliation. Explore direct GCash</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access, subject to partner approval.</a:t>
            </a:r>
            <a:endParaRPr sz="1200">
              <a:latin typeface="Google Sans Flex"/>
              <a:ea typeface="Google Sans Flex"/>
              <a:cs typeface="Google Sans Flex"/>
              <a:sym typeface="Google Sans Flex"/>
            </a:endParaRPr>
          </a:p>
        </p:txBody>
      </p:sp>
      <p:sp>
        <p:nvSpPr>
          <p:cNvPr id="156" name="Google Shape;242;p26"/>
          <p:cNvSpPr txBox="1"/>
          <p:nvPr/>
        </p:nvSpPr>
        <p:spPr>
          <a:xfrm>
            <a:off x="4762500" y="2540000"/>
            <a:ext cx="4038600" cy="1079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latin typeface="Google Sans Flex Medium"/>
                <a:ea typeface="Google Sans Flex Medium"/>
                <a:cs typeface="Google Sans Flex Medium"/>
                <a:sym typeface="Google Sans Flex Medium"/>
              </a:rPr>
              <a:t>Multi-store onboarding and team access</a:t>
            </a:r>
            <a:endParaRPr sz="1400">
              <a:latin typeface="Google Sans Flex"/>
              <a:ea typeface="Google Sans Flex"/>
              <a:cs typeface="Google Sans Flex"/>
              <a:sym typeface="Google Sans Flex"/>
            </a:endParaRPr>
          </a:p>
          <a:p>
            <a:pPr indent="0" lvl="0" marL="0" rtl="0" algn="l">
              <a:lnSpc>
                <a:spcPct val="105000"/>
              </a:lnSpc>
              <a:spcBef>
                <a:spcPts val="400"/>
              </a:spcBef>
              <a:spcAft>
                <a:spcPts val="0"/>
              </a:spcAft>
              <a:buNone/>
            </a:pPr>
            <a:r>
              <a:rPr lang="en-GB" sz="1200">
                <a:latin typeface="Google Sans Flex"/>
                <a:ea typeface="Google Sans Flex"/>
                <a:cs typeface="Google Sans Flex"/>
                <a:sym typeface="Google Sans Flex"/>
              </a:rPr>
              <a:t>Add store onboarding and staff permissions.</a:t>
            </a:r>
            <a:endParaRPr sz="1200">
              <a:latin typeface="Google Sans Flex"/>
              <a:ea typeface="Google Sans Flex"/>
              <a:cs typeface="Google Sans Flex"/>
              <a:sym typeface="Google Sans Flex"/>
            </a:endParaRPr>
          </a:p>
          <a:p>
            <a:pPr indent="0" lvl="0" marL="0" rtl="0" algn="l">
              <a:lnSpc>
                <a:spcPct val="105000"/>
              </a:lnSpc>
              <a:spcBef>
                <a:spcPts val="400"/>
              </a:spcBef>
              <a:spcAft>
                <a:spcPts val="400"/>
              </a:spcAft>
              <a:buNone/>
            </a:pPr>
            <a:r>
              <a:rPr lang="en-GB" sz="1200">
                <a:latin typeface="Google Sans Flex"/>
                <a:ea typeface="Google Sans Flex"/>
                <a:cs typeface="Google Sans Flex"/>
                <a:sym typeface="Google Sans Flex"/>
              </a:rPr>
              <a:t>Keep each store’s records and memories isolated.</a:t>
            </a:r>
            <a:endParaRPr sz="1200">
              <a:latin typeface="Google Sans Flex"/>
              <a:ea typeface="Google Sans Flex"/>
              <a:cs typeface="Google Sans Flex"/>
              <a:sym typeface="Google Sans Flex"/>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GitHub Public Repository - https://github.com/kevsoriano/servermaya</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Demo Video Link (3 Minutes)</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Final Product Link - http://servermaya-ai-builder-cup.web.app/</a:t>
            </a:r>
            <a:endParaRPr>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