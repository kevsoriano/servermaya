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cope"/>
          <p:cNvSpPr txBox="1"/>
          <p:nvPr/>
        </p:nvSpPr>
        <p:spPr>
          <a:xfrm>
            <a:off x="347472" y="1033271"/>
            <a:ext cx="84490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Google Sans Flex"/>
              </a:rPr>
              <a:t>AI cost measured per action by our evaluation; infrastructure at Google Cloud's list prices for asia-southeast1 (Cloud Billing Catalog, Oct 2026). USD.</a:t>
            </a:r>
          </a:p>
        </p:txBody>
      </p:sp>
      <p:sp>
        <p:nvSpPr>
          <p:cNvPr id="129" name="KPI 1"/>
          <p:cNvSpPr/>
          <p:nvPr/>
        </p:nvSpPr>
        <p:spPr>
          <a:xfrm>
            <a:off x="347472" y="1261872"/>
            <a:ext cx="2009394" cy="786384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1A73E8"/>
                </a:solidFill>
                <a:latin typeface="Google Sans Flex Medium"/>
              </a:rPr>
              <a:t>$0.014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Gemini per order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draft with checks, one receipt read, one packing check</a:t>
            </a:r>
          </a:p>
        </p:txBody>
      </p:sp>
      <p:sp>
        <p:nvSpPr>
          <p:cNvPr id="130" name="KPI 2"/>
          <p:cNvSpPr/>
          <p:nvPr/>
        </p:nvSpPr>
        <p:spPr>
          <a:xfrm>
            <a:off x="2494026" y="1261872"/>
            <a:ext cx="2009394" cy="786384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1A73E8"/>
                </a:solidFill>
                <a:latin typeface="Google Sans Flex Medium"/>
              </a:rPr>
              <a:t>$13.6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a month, always-warm server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one Cloud Run instance idle at Tier 2 rates; $0 if it scales to zero</a:t>
            </a:r>
          </a:p>
        </p:txBody>
      </p:sp>
      <p:sp>
        <p:nvSpPr>
          <p:cNvPr id="131" name="KPI 3"/>
          <p:cNvSpPr/>
          <p:nvPr/>
        </p:nvSpPr>
        <p:spPr>
          <a:xfrm>
            <a:off x="4640580" y="1261872"/>
            <a:ext cx="2009394" cy="786384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188038"/>
                </a:solidFill>
                <a:latin typeface="Google Sans Flex Medium"/>
              </a:rPr>
              <a:t>~$19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a month at 300 orders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a small seller: AI with re-checks and claims, plus the warm instance</a:t>
            </a:r>
          </a:p>
        </p:txBody>
      </p:sp>
      <p:sp>
        <p:nvSpPr>
          <p:cNvPr id="132" name="KPI 4"/>
          <p:cNvSpPr/>
          <p:nvPr/>
        </p:nvSpPr>
        <p:spPr>
          <a:xfrm>
            <a:off x="6787134" y="1261872"/>
            <a:ext cx="2009394" cy="786384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5F6368"/>
                </a:solidFill>
                <a:latin typeface="Google Sans Flex Medium"/>
              </a:rPr>
              <a:t>$30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a day, demo ceiling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5,000 AI calls a day for all demo visitors, 250 each</a:t>
            </a:r>
          </a:p>
        </p:txBody>
      </p:sp>
      <p:sp>
        <p:nvSpPr>
          <p:cNvPr id="133" name="Per action heading"/>
          <p:cNvSpPr txBox="1"/>
          <p:nvPr/>
        </p:nvSpPr>
        <p:spPr>
          <a:xfrm>
            <a:off x="347472" y="2212848"/>
            <a:ext cx="4023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 Medium"/>
              </a:rPr>
              <a:t>AI cost per action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·  measured, median</a:t>
            </a:r>
          </a:p>
        </p:txBody>
      </p:sp>
      <p:graphicFrame>
        <p:nvGraphicFramePr>
          <p:cNvPr id="134" name="Per action table"/>
          <p:cNvGraphicFramePr>
            <a:graphicFrameLocks noGrp="1"/>
          </p:cNvGraphicFramePr>
          <p:nvPr/>
        </p:nvGraphicFramePr>
        <p:xfrm>
          <a:off x="347472" y="2423160"/>
          <a:ext cx="3749040" cy="1179576"/>
        </p:xfrm>
        <a:graphic>
          <a:graphicData uri="http://schemas.openxmlformats.org/drawingml/2006/table">
            <a:tbl>
              <a:tblPr firstRow="1" bandRow="0"/>
              <a:tblGrid>
                <a:gridCol w="1783080"/>
                <a:gridCol w="502920"/>
                <a:gridCol w="777240"/>
                <a:gridCol w="685800"/>
              </a:tblGrid>
              <a:tr h="196596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Action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Calls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Tokens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Cost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Draft order + checks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2,638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$0.0057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GCash receipt read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1,918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$0.0044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Packing photo check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2,050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$0.0041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Claim review (ADK agent)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5,965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$0.0123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Typical order (first three)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 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$0.0142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5" name="Per action note"/>
          <p:cNvSpPr txBox="1"/>
          <p:nvPr/>
        </p:nvSpPr>
        <p:spPr>
          <a:xfrm>
            <a:off x="347472" y="3675887"/>
            <a:ext cx="3749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Tokens include Gemini's thinking, at gemini-3.8-flash's list price of $1.50 / $7.50 per 1M input / output tokens. Checks run again when the customer writes again, and some orders need a claim review: we budget 1.3× the typical order.</a:t>
            </a:r>
          </a:p>
        </p:txBody>
      </p:sp>
      <p:sp>
        <p:nvSpPr>
          <p:cNvPr id="136" name="Monthly heading"/>
          <p:cNvSpPr txBox="1"/>
          <p:nvPr/>
        </p:nvSpPr>
        <p:spPr>
          <a:xfrm>
            <a:off x="4599432" y="2212848"/>
            <a:ext cx="4197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 Medium"/>
              </a:rPr>
              <a:t>Monthly estimate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·  one seller</a:t>
            </a:r>
          </a:p>
        </p:txBody>
      </p:sp>
      <p:graphicFrame>
        <p:nvGraphicFramePr>
          <p:cNvPr id="137" name="Monthly table"/>
          <p:cNvGraphicFramePr>
            <a:graphicFrameLocks noGrp="1"/>
          </p:cNvGraphicFramePr>
          <p:nvPr/>
        </p:nvGraphicFramePr>
        <p:xfrm>
          <a:off x="4599432" y="2423160"/>
          <a:ext cx="4014215" cy="1376172"/>
        </p:xfrm>
        <a:graphic>
          <a:graphicData uri="http://schemas.openxmlformats.org/drawingml/2006/table">
            <a:tbl>
              <a:tblPr firstRow="1" bandRow="0"/>
              <a:tblGrid>
                <a:gridCol w="1874519"/>
                <a:gridCol w="1005840"/>
                <a:gridCol w="1133856"/>
              </a:tblGrid>
              <a:tr h="196596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Item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300 orders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3,000 orders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Gemini (Vertex AI), 1.3× typical order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$5.54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$55.38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Cloud Run, 1 warm instance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$13.61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$13.61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Cloud Run busy time (estimate)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free tier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≈ $1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Firestore, Storage, Hosting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free tier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free tier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Secret Manager (10 secrets)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$0.24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$0.24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Total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$19.39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$69.99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8" name="Monthly note"/>
          <p:cNvSpPr txBox="1"/>
          <p:nvPr/>
        </p:nvSpPr>
        <p:spPr>
          <a:xfrm>
            <a:off x="4599432" y="3886200"/>
            <a:ext cx="41970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Free tiers: Cloud Run (Tier 2) 128,571 vCPU-s and 2M requests a month; Firestore 50,000 reads and 20,000 writes a day, 1 GiB. Busy time assumes about 50 instance-seconds per order.</a:t>
            </a:r>
          </a:p>
        </p:txBody>
      </p:sp>
      <p:sp>
        <p:nvSpPr>
          <p:cNvPr id="139" name="Not included"/>
          <p:cNvSpPr/>
          <p:nvPr/>
        </p:nvSpPr>
        <p:spPr>
          <a:xfrm>
            <a:off x="347472" y="4206240"/>
            <a:ext cx="8449056" cy="7132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tIns="91440" bIns="91440"/>
          <a:lstStyle/>
          <a:p>
            <a:pPr algn="l"/>
            <a:r>
              <a:rPr sz="750" b="1">
                <a:solidFill>
                  <a:srgbClr val="202124"/>
                </a:solidFill>
                <a:latin typeface="Google Sans Flex"/>
              </a:rPr>
              <a:t>Paid by the seller or customer, not by Suri: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PayMongo's transaction fees, Lalamove delivery fees and GCash transfers. Messenger and the Graph API are free.</a:t>
            </a:r>
          </a:p>
          <a:p>
            <a:pPr algn="l">
              <a:spcBef>
                <a:spcPts val="300"/>
              </a:spcBef>
            </a:pPr>
            <a:r>
              <a:rPr sz="750" b="1">
                <a:solidFill>
                  <a:srgbClr val="202124"/>
                </a:solidFill>
                <a:latin typeface="Google Sans Flex"/>
              </a:rPr>
              <a:t>Ways to cut it: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scale to zero outside selling hours ($13.6 less a month, with a cold start); Flex or batch pricing for non-urgent checks halves the Gemini price; cached checks already avoid repeat calls when a chat is opened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Benchmark scope"/>
          <p:cNvSpPr txBox="1"/>
          <p:nvPr/>
        </p:nvSpPr>
        <p:spPr>
          <a:xfrm>
            <a:off x="347472" y="1033271"/>
            <a:ext cx="84490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Google Sans Flex"/>
              </a:rPr>
              <a:t>Deployed prototype (Cloud Run + Firebase Hosting) and make eval: 84 synthetic cases × 3 runs, scored in code. Gemini on Vertex AI (gemini-3.8-flash). Eval run 2026-10-18 12:55 UTC.</a:t>
            </a:r>
          </a:p>
        </p:txBody>
      </p:sp>
      <p:sp>
        <p:nvSpPr>
          <p:cNvPr id="145" name="KPI 1"/>
          <p:cNvSpPr/>
          <p:nvPr/>
        </p:nvSpPr>
        <p:spPr>
          <a:xfrm>
            <a:off x="347472" y="1261872"/>
            <a:ext cx="2009394" cy="7132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188038"/>
                </a:solidFill>
                <a:latin typeface="Google Sans Flex Medium"/>
              </a:rPr>
              <a:t>57/57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risky messages caught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checks before shipping; 0 false alarms in 129 runs</a:t>
            </a:r>
          </a:p>
        </p:txBody>
      </p:sp>
      <p:sp>
        <p:nvSpPr>
          <p:cNvPr id="146" name="KPI 2"/>
          <p:cNvSpPr/>
          <p:nvPr/>
        </p:nvSpPr>
        <p:spPr>
          <a:xfrm>
            <a:off x="2494026" y="1261872"/>
            <a:ext cx="2009394" cy="7132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188038"/>
                </a:solidFill>
                <a:latin typeface="Google Sans Flex Medium"/>
              </a:rPr>
              <a:t>0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unsafe outcomes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customer value in an order, false packing match, planted receipt text passed</a:t>
            </a:r>
          </a:p>
        </p:txBody>
      </p:sp>
      <p:sp>
        <p:nvSpPr>
          <p:cNvPr id="147" name="KPI 3"/>
          <p:cNvSpPr/>
          <p:nvPr/>
        </p:nvSpPr>
        <p:spPr>
          <a:xfrm>
            <a:off x="4640580" y="1261872"/>
            <a:ext cx="2009394" cy="7132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1A73E8"/>
                </a:solidFill>
                <a:latin typeface="Google Sans Flex Medium"/>
              </a:rPr>
              <a:t>3.1 s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checks, end to end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median, live app; draft order 5.8 s</a:t>
            </a:r>
          </a:p>
        </p:txBody>
      </p:sp>
      <p:sp>
        <p:nvSpPr>
          <p:cNvPr id="148" name="KPI 4"/>
          <p:cNvSpPr/>
          <p:nvPr/>
        </p:nvSpPr>
        <p:spPr>
          <a:xfrm>
            <a:off x="6787134" y="1261872"/>
            <a:ext cx="2009394" cy="7132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82296" rIns="82296" tIns="82296" bIns="82296"/>
          <a:lstStyle/>
          <a:p>
            <a:pPr algn="l"/>
            <a:r>
              <a:rPr sz="1700" b="0">
                <a:solidFill>
                  <a:srgbClr val="1A73E8"/>
                </a:solidFill>
                <a:latin typeface="Google Sans Flex Medium"/>
              </a:rPr>
              <a:t>$0.0057</a:t>
            </a:r>
          </a:p>
          <a:p>
            <a:pPr algn="l"/>
            <a:r>
              <a:rPr sz="850" b="0">
                <a:solidFill>
                  <a:srgbClr val="202124"/>
                </a:solidFill>
                <a:latin typeface="Google Sans Flex Medium"/>
              </a:rPr>
              <a:t>Gemini cost per action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median, draft + checks; claim review $0.0123</a:t>
            </a:r>
          </a:p>
        </p:txBody>
      </p:sp>
      <p:sp>
        <p:nvSpPr>
          <p:cNvPr id="149" name="Accuracy heading"/>
          <p:cNvSpPr txBox="1"/>
          <p:nvPr/>
        </p:nvSpPr>
        <p:spPr>
          <a:xfrm>
            <a:off x="347472" y="2075688"/>
            <a:ext cx="3886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 Medium"/>
              </a:rPr>
              <a:t>AI accuracy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·  gemini-3.8-flash, 3 runs per case</a:t>
            </a:r>
          </a:p>
        </p:txBody>
      </p:sp>
      <p:graphicFrame>
        <p:nvGraphicFramePr>
          <p:cNvPr id="150" name="Accuracy table"/>
          <p:cNvGraphicFramePr>
            <a:graphicFrameLocks noGrp="1"/>
          </p:cNvGraphicFramePr>
          <p:nvPr/>
        </p:nvGraphicFramePr>
        <p:xfrm>
          <a:off x="347472" y="2286000"/>
          <a:ext cx="3886200" cy="1312164"/>
        </p:xfrm>
        <a:graphic>
          <a:graphicData uri="http://schemas.openxmlformats.org/drawingml/2006/table">
            <a:tbl>
              <a:tblPr firstRow="1" bandRow="0"/>
              <a:tblGrid>
                <a:gridCol w="1280160"/>
                <a:gridCol w="1645920"/>
                <a:gridCol w="960120"/>
              </a:tblGrid>
              <a:tr h="18745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Task (cases)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Measure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5F6368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 rowSpan="3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Chat → order (43)</a:t>
                      </a:r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 </a:t>
                      </a:r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 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Fields correct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951/954 (100%)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 vMerge="1">
                  <a:txBody>
                    <a:bodyPr wrap="square"/>
                    <a:lstStyle/>
                    <a:p/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Checks caught / false alarms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57/57 / 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 vMerge="1">
                  <a:txBody>
                    <a:bodyPr wrap="square"/>
                    <a:lstStyle/>
                    <a:p/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Injection: customer value used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Claim review (17)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Acceptable action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51/51 (100%)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Packing photos (20)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Line result / false match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66/66 / 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GCash receipts (4)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202124"/>
                          </a:solidFill>
                          <a:latin typeface="Google Sans Flex"/>
                        </a:rPr>
                        <a:t>Checks / planted text passed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88038"/>
                          </a:solidFill>
                          <a:latin typeface="Google Sans Flex"/>
                        </a:rPr>
                        <a:t>12/12 / 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1" name="Speed heading"/>
          <p:cNvSpPr txBox="1"/>
          <p:nvPr/>
        </p:nvSpPr>
        <p:spPr>
          <a:xfrm>
            <a:off x="4370832" y="2075688"/>
            <a:ext cx="44256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 Medium"/>
              </a:rPr>
              <a:t>Speed, tokens and cost per AI action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·  p50 / p95</a:t>
            </a:r>
          </a:p>
        </p:txBody>
      </p:sp>
      <p:graphicFrame>
        <p:nvGraphicFramePr>
          <p:cNvPr id="152" name="Speed table"/>
          <p:cNvGraphicFramePr>
            <a:graphicFrameLocks noGrp="1"/>
          </p:cNvGraphicFramePr>
          <p:nvPr/>
        </p:nvGraphicFramePr>
        <p:xfrm>
          <a:off x="4370832" y="2286000"/>
          <a:ext cx="4425695" cy="1312164"/>
        </p:xfrm>
        <a:graphic>
          <a:graphicData uri="http://schemas.openxmlformats.org/drawingml/2006/table">
            <a:tbl>
              <a:tblPr firstRow="1" bandRow="0"/>
              <a:tblGrid>
                <a:gridCol w="1261872"/>
                <a:gridCol w="914400"/>
                <a:gridCol w="1042415"/>
                <a:gridCol w="566928"/>
                <a:gridCol w="640080"/>
              </a:tblGrid>
              <a:tr h="187452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0">
                          <a:solidFill>
                            <a:srgbClr val="5F6368"/>
                          </a:solidFill>
                          <a:latin typeface="Google Sans Flex"/>
                        </a:rPr>
                        <a:t>Action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0">
                          <a:solidFill>
                            <a:srgbClr val="5F6368"/>
                          </a:solidFill>
                          <a:latin typeface="Google Sans Flex"/>
                        </a:rPr>
                        <a:t>Live app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0">
                          <a:solidFill>
                            <a:srgbClr val="5F6368"/>
                          </a:solidFill>
                          <a:latin typeface="Google Sans Flex"/>
                        </a:rPr>
                        <a:t>Model only (eval)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0">
                          <a:solidFill>
                            <a:srgbClr val="5F6368"/>
                          </a:solidFill>
                          <a:latin typeface="Google Sans Flex"/>
                        </a:rPr>
                        <a:t>Tokens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0">
                          <a:solidFill>
                            <a:srgbClr val="5F6368"/>
                          </a:solidFill>
                          <a:latin typeface="Google Sans Flex"/>
                        </a:rPr>
                        <a:t>Cost</a:t>
                      </a:r>
                    </a:p>
                  </a:txBody>
                  <a:tcPr marL="45720" marR="45720" marT="9144" marB="9144" anchor="ctr">
                    <a:solidFill>
                      <a:srgbClr val="F1F3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Draft order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5.8 s / 8.6 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3.2 s / 10.9 s (both)</a:t>
                      </a:r>
                    </a:p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 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2,638</a:t>
                      </a:r>
                    </a:p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 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$0.0057</a:t>
                      </a:r>
                    </a:p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 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Checks before shipping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3.1 s / 9.9 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Packing photo check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3.8 s / 8.4 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2,050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$0.0041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Claim review (agent)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10.4 s p50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15.0 s / 44.8 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5,965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$0.0123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GCash receipt read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3.4 s / 11.9 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1,918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$0.0044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AI customer (Flash-Lite)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1.2 s / 1.3 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02124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ADCE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3" name="Throughput note"/>
          <p:cNvSpPr txBox="1"/>
          <p:nvPr/>
        </p:nvSpPr>
        <p:spPr>
          <a:xfrm>
            <a:off x="347472" y="3685032"/>
            <a:ext cx="84490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202124"/>
                </a:solidFill>
                <a:latin typeface="Google Sans Flex"/>
              </a:rPr>
              <a:t>Without AI: 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pages 0.2 s–0.5 s p50; one warm 1-vCPU instance served 11.5 req/s at 10 concurrent users and 13.3 at 25, 0 errors in 600 requests.</a:t>
            </a:r>
          </a:p>
        </p:txBody>
      </p:sp>
      <p:sp>
        <p:nvSpPr>
          <p:cNvPr id="154" name="Card Environment and method"/>
          <p:cNvSpPr/>
          <p:nvPr/>
        </p:nvSpPr>
        <p:spPr>
          <a:xfrm>
            <a:off x="347472" y="3922776"/>
            <a:ext cx="2743200" cy="102412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64008" rIns="64008" tIns="64008" bIns="64008"/>
          <a:lstStyle/>
          <a:p>
            <a:pPr algn="l"/>
            <a:r>
              <a:rPr sz="800" b="0">
                <a:solidFill>
                  <a:srgbClr val="202124"/>
                </a:solidFill>
                <a:latin typeface="Google Sans Flex Medium"/>
              </a:rPr>
              <a:t>Environment and method</a:t>
            </a:r>
          </a:p>
          <a:p>
            <a:pPr algn="l">
              <a:spcBef>
                <a:spcPts val="200"/>
              </a:spcBef>
            </a:pPr>
            <a:r>
              <a:rPr sz="650" b="1">
                <a:solidFill>
                  <a:srgbClr val="202124"/>
                </a:solidFill>
                <a:latin typeface="Google Sans Flex"/>
              </a:rPr>
              <a:t>App: </a:t>
            </a:r>
            <a:r>
              <a:rPr sz="650" b="0">
                <a:solidFill>
                  <a:srgbClr val="202124"/>
                </a:solidFill>
                <a:latin typeface="Google Sans Flex"/>
              </a:rPr>
              <a:t>Cloud Run asia-southeast1, 1 vCPU, 512 MiB, 1 warm instance; Firestore, Cloud Storage; Firebase Hosting.</a:t>
            </a:r>
          </a:p>
          <a:p>
            <a:pPr algn="l">
              <a:spcBef>
                <a:spcPts val="200"/>
              </a:spcBef>
            </a:pPr>
            <a:r>
              <a:rPr sz="650" b="1">
                <a:solidFill>
                  <a:srgbClr val="202124"/>
                </a:solidFill>
                <a:latin typeface="Google Sans Flex"/>
              </a:rPr>
              <a:t>Live: </a:t>
            </a:r>
            <a:r>
              <a:rPr sz="650" b="0">
                <a:solidFill>
                  <a:srgbClr val="202124"/>
                </a:solidFill>
                <a:latin typeface="Google Sans Flex"/>
              </a:rPr>
              <a:t>a laptop over the internet as new demo visitors; AI actions 5× each on fresh visitors, pages 20×, 200 requests at 1/10/25 users.</a:t>
            </a:r>
          </a:p>
          <a:p>
            <a:pPr algn="l">
              <a:spcBef>
                <a:spcPts val="200"/>
              </a:spcBef>
            </a:pPr>
            <a:r>
              <a:rPr sz="650" b="1">
                <a:solidFill>
                  <a:srgbClr val="202124"/>
                </a:solidFill>
                <a:latin typeface="Google Sans Flex"/>
              </a:rPr>
              <a:t>Tokens: </a:t>
            </a:r>
            <a:r>
              <a:rPr sz="650" b="0">
                <a:solidFill>
                  <a:srgbClr val="202124"/>
                </a:solidFill>
                <a:latin typeface="Google Sans Flex"/>
              </a:rPr>
              <a:t>Vertex usage metadata, thinking included, at list price $1.50 / $7.50 per 1M in / out.</a:t>
            </a:r>
          </a:p>
        </p:txBody>
      </p:sp>
      <p:sp>
        <p:nvSpPr>
          <p:cNvPr id="155" name="Card Constraints we hit"/>
          <p:cNvSpPr/>
          <p:nvPr/>
        </p:nvSpPr>
        <p:spPr>
          <a:xfrm>
            <a:off x="3200400" y="3922776"/>
            <a:ext cx="2743200" cy="102412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64008" rIns="64008" tIns="64008" bIns="64008"/>
          <a:lstStyle/>
          <a:p>
            <a:pPr algn="l"/>
            <a:r>
              <a:rPr sz="800" b="0">
                <a:solidFill>
                  <a:srgbClr val="202124"/>
                </a:solidFill>
                <a:latin typeface="Google Sans Flex Medium"/>
              </a:rPr>
              <a:t>Constraints we hit</a:t>
            </a:r>
          </a:p>
          <a:p>
            <a:pPr algn="l">
              <a:spcBef>
                <a:spcPts val="200"/>
              </a:spcBef>
            </a:pPr>
            <a:r>
              <a:rPr sz="650" b="1">
                <a:solidFill>
                  <a:srgbClr val="202124"/>
                </a:solidFill>
                <a:latin typeface="Google Sans Flex"/>
              </a:rPr>
              <a:t>Quotas: </a:t>
            </a:r>
            <a:r>
              <a:rPr sz="650" b="0">
                <a:solidFill>
                  <a:srgbClr val="202124"/>
                </a:solidFill>
                <a:latin typeface="Google Sans Flex"/>
              </a:rPr>
              <a:t>Vertex AI pay-as-you-go, default quotas; no free-tier or raised limits assumed.</a:t>
            </a:r>
          </a:p>
          <a:p>
            <a:pPr algn="l">
              <a:spcBef>
                <a:spcPts val="200"/>
              </a:spcBef>
            </a:pPr>
            <a:r>
              <a:rPr sz="650" b="1">
                <a:solidFill>
                  <a:srgbClr val="202124"/>
                </a:solidFill>
                <a:latin typeface="Google Sans Flex"/>
              </a:rPr>
              <a:t>429: </a:t>
            </a:r>
            <a:r>
              <a:rPr sz="650" b="0">
                <a:solidFill>
                  <a:srgbClr val="202124"/>
                </a:solidFill>
                <a:latin typeface="Google Sans Flex"/>
              </a:rPr>
              <a:t>8 parallel eval workers hit RESOURCE_EXHAUSTED, so evals run 4 at a time.</a:t>
            </a:r>
          </a:p>
          <a:p>
            <a:pPr algn="l">
              <a:spcBef>
                <a:spcPts val="200"/>
              </a:spcBef>
            </a:pPr>
            <a:r>
              <a:rPr sz="650" b="1">
                <a:solidFill>
                  <a:srgbClr val="202124"/>
                </a:solidFill>
                <a:latin typeface="Google Sans Flex"/>
              </a:rPr>
              <a:t>504: </a:t>
            </a:r>
            <a:r>
              <a:rPr sz="650" b="0">
                <a:solidFill>
                  <a:srgbClr val="202124"/>
                </a:solidFill>
                <a:latin typeface="Google Sans Flex"/>
              </a:rPr>
              <a:t>Vertex sometimes times out under load: a 90 s timeout per call, one retry on chat actions; demo capped at 5,000 AI calls a day.</a:t>
            </a:r>
          </a:p>
        </p:txBody>
      </p:sp>
      <p:sp>
        <p:nvSpPr>
          <p:cNvPr id="156" name="Card How we keep it fast"/>
          <p:cNvSpPr/>
          <p:nvPr/>
        </p:nvSpPr>
        <p:spPr>
          <a:xfrm>
            <a:off x="6053328" y="3922776"/>
            <a:ext cx="2743200" cy="102412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t" wrap="square" lIns="64008" rIns="64008" tIns="64008" bIns="64008"/>
          <a:lstStyle/>
          <a:p>
            <a:pPr algn="l"/>
            <a:r>
              <a:rPr sz="800" b="0">
                <a:solidFill>
                  <a:srgbClr val="202124"/>
                </a:solidFill>
                <a:latin typeface="Google Sans Flex Medium"/>
              </a:rPr>
              <a:t>How we keep it fast</a:t>
            </a:r>
          </a:p>
          <a:p>
            <a:pPr algn="l">
              <a:spcBef>
                <a:spcPts val="200"/>
              </a:spcBef>
            </a:pPr>
            <a:r>
              <a:rPr sz="650" b="0">
                <a:solidFill>
                  <a:srgbClr val="202124"/>
                </a:solidFill>
                <a:latin typeface="Google Sans Flex"/>
              </a:rPr>
              <a:t>Checks run once per new customer message and are stored; briefs are cached; the claim agent runs on low thinking.</a:t>
            </a:r>
          </a:p>
          <a:p>
            <a:pPr algn="l">
              <a:spcBef>
                <a:spcPts val="200"/>
              </a:spcBef>
            </a:pPr>
            <a:r>
              <a:rPr sz="650" b="0">
                <a:solidFill>
                  <a:srgbClr val="202124"/>
                </a:solidFill>
                <a:latin typeface="Google Sans Flex"/>
              </a:rPr>
              <a:t>AI calls go straight to Cloud Run (300 s), past Hosting's 60 s limit; 1 warm instance, 30 requests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