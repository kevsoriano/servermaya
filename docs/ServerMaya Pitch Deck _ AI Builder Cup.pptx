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Google Sans Flex Medium"/>
      <p:regular r:id="rId24"/>
      <p:bold r:id="rId25"/>
    </p:embeddedFont>
    <p:embeddedFont>
      <p:font typeface="Google Sans Flex"/>
      <p:regular r:id="rId26"/>
      <p:bold r:id="rId27"/>
    </p:embeddedFont>
    <p:embeddedFont>
      <p:font typeface="Google Sans Flex SemiBo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C7D242-BC95-4C21-88F1-E8C023749159}">
  <a:tblStyle styleId="{23C7D242-BC95-4C21-88F1-E8C02374915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GoogleSansFlexMedium-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GoogleSansFlex-regular.fntdata"/><Relationship Id="rId25" Type="http://schemas.openxmlformats.org/officeDocument/2006/relationships/font" Target="fonts/GoogleSansFlexMedium-bold.fntdata"/><Relationship Id="rId28" Type="http://schemas.openxmlformats.org/officeDocument/2006/relationships/font" Target="fonts/GoogleSansFlexSemiBold-regular.fntdata"/><Relationship Id="rId27" Type="http://schemas.openxmlformats.org/officeDocument/2006/relationships/font" Target="fonts/GoogleSansFlex-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GoogleSansFlexSemiBold-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Problem framing sources (18 October 2026):</a:t>
            </a:r>
            <a:endParaRPr/>
          </a:p>
          <a:p>
            <a:pPr indent="0" lvl="0" marL="0" rtl="0" algn="l">
              <a:spcBef>
                <a:spcPts val="0"/>
              </a:spcBef>
              <a:spcAft>
                <a:spcPts val="0"/>
              </a:spcAft>
              <a:buNone/>
            </a:pPr>
            <a:r>
              <a:rPr lang="en-GB"/>
              <a:t>https://aseanfoundation.org/programme/scam-ready-asean/</a:t>
            </a:r>
            <a:endParaRPr/>
          </a:p>
          <a:p>
            <a:pPr indent="0" lvl="0" marL="0" rtl="0" algn="l">
              <a:spcBef>
                <a:spcPts val="0"/>
              </a:spcBef>
              <a:spcAft>
                <a:spcPts val="0"/>
              </a:spcAft>
              <a:buNone/>
            </a:pPr>
            <a:r>
              <a:rPr lang="en-GB"/>
              <a:t>ASEAN Foundation reports up to US$23.6 billion in Southeast Asian online scam and fraud losses in 2024. This covers overall scam/fraud losses, not seller-only losses or our addressable market.</a:t>
            </a:r>
            <a:endParaRPr/>
          </a:p>
          <a:p>
            <a:pPr indent="0" lvl="0" marL="0" rtl="0" algn="l">
              <a:spcBef>
                <a:spcPts val="0"/>
              </a:spcBef>
              <a:spcAft>
                <a:spcPts val="0"/>
              </a:spcAft>
              <a:buNone/>
            </a:pPr>
            <a:r>
              <a:rPr lang="en-GB"/>
              <a:t>https://newsroom.transunion.ph/filipinos-face-widespread-digital-fraud-exposure-despite-lower-financial-losses-transunion-finds/</a:t>
            </a:r>
            <a:endParaRPr/>
          </a:p>
          <a:p>
            <a:pPr indent="0" lvl="0" marL="0" rtl="0" algn="l">
              <a:spcBef>
                <a:spcPts val="0"/>
              </a:spcBef>
              <a:spcAft>
                <a:spcPts val="0"/>
              </a:spcAft>
              <a:buNone/>
            </a:pPr>
            <a:r>
              <a:rPr lang="en-GB"/>
              <a:t>TransUnion describes global and Philippine consumer fraud exposure, not a measured rate of fraudulent Messenger orders. Seller scenarios describe the problem the prototype addresses; no seller-loss rate is asserted.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Problem framing sources (18 October 2026):</a:t>
            </a:r>
            <a:endParaRPr/>
          </a:p>
          <a:p>
            <a:pPr indent="0" lvl="0" marL="0" rtl="0" algn="l">
              <a:spcBef>
                <a:spcPts val="0"/>
              </a:spcBef>
              <a:spcAft>
                <a:spcPts val="0"/>
              </a:spcAft>
              <a:buNone/>
            </a:pPr>
            <a:r>
              <a:rPr lang="en-GB"/>
              <a:t>https://aseanfoundation.org/programme/scam-ready-asean/</a:t>
            </a:r>
            <a:endParaRPr/>
          </a:p>
          <a:p>
            <a:pPr indent="0" lvl="0" marL="0" rtl="0" algn="l">
              <a:spcBef>
                <a:spcPts val="0"/>
              </a:spcBef>
              <a:spcAft>
                <a:spcPts val="0"/>
              </a:spcAft>
              <a:buNone/>
            </a:pPr>
            <a:r>
              <a:rPr lang="en-GB"/>
              <a:t>ASEAN Foundation reports up to US$23.6 billion in Southeast Asian online scam and fraud losses in 2024. This covers overall scam/fraud losses, not seller-only losses or our addressable market.</a:t>
            </a:r>
            <a:endParaRPr/>
          </a:p>
          <a:p>
            <a:pPr indent="0" lvl="0" marL="0" rtl="0" algn="l">
              <a:spcBef>
                <a:spcPts val="0"/>
              </a:spcBef>
              <a:spcAft>
                <a:spcPts val="0"/>
              </a:spcAft>
              <a:buNone/>
            </a:pPr>
            <a:r>
              <a:rPr lang="en-GB"/>
              <a:t>https://newsroom.transunion.ph/filipinos-face-widespread-digital-fraud-exposure-despite-lower-financial-losses-transunion-finds/</a:t>
            </a:r>
            <a:endParaRPr/>
          </a:p>
          <a:p>
            <a:pPr indent="0" lvl="0" marL="0" rtl="0" algn="l">
              <a:spcBef>
                <a:spcPts val="0"/>
              </a:spcBef>
              <a:spcAft>
                <a:spcPts val="0"/>
              </a:spcAft>
              <a:buNone/>
            </a:pPr>
            <a:r>
              <a:rPr lang="en-GB"/>
              <a:t>TransUnion describes global and Philippine consumer fraud exposure, not a measured rate of fraudulent Messenger orders. Seller scenarios describe the problem the prototype addresses; no seller-loss rate is asserted.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Sources for competitive positioning (reviewed 18 October 2026):</a:t>
            </a:r>
            <a:endParaRPr/>
          </a:p>
          <a:p>
            <a:pPr indent="0" lvl="0" marL="0" rtl="0" algn="l">
              <a:spcBef>
                <a:spcPts val="0"/>
              </a:spcBef>
              <a:spcAft>
                <a:spcPts val="0"/>
              </a:spcAft>
              <a:buNone/>
            </a:pPr>
            <a:r>
              <a:rPr lang="en-GB"/>
              <a:t>Meta scam warnings and AI review: https://about.fb.com/news/2026/03/fighting-scammers-protecting-people-with-new-technology-and-partnerships/</a:t>
            </a:r>
            <a:endParaRPr/>
          </a:p>
          <a:p>
            <a:pPr indent="0" lvl="0" marL="0" rtl="0" algn="l">
              <a:spcBef>
                <a:spcPts val="0"/>
              </a:spcBef>
              <a:spcAft>
                <a:spcPts val="0"/>
              </a:spcAft>
              <a:buNone/>
            </a:pPr>
            <a:r>
              <a:rPr lang="en-GB"/>
              <a:t>Manychat Messenger commerce: https://help.manychat.com/hc/en-us/articles/14281189285276-How-to-use-the-Buy-Button-on-Facebook-Messenger-and-Instagram-DM</a:t>
            </a:r>
            <a:endParaRPr/>
          </a:p>
          <a:p>
            <a:pPr indent="0" lvl="0" marL="0" rtl="0" algn="l">
              <a:spcBef>
                <a:spcPts val="0"/>
              </a:spcBef>
              <a:spcAft>
                <a:spcPts val="0"/>
              </a:spcAft>
              <a:buNone/>
            </a:pPr>
            <a:r>
              <a:rPr lang="en-GB"/>
              <a:t>Chargeflow evidence automation: https://www.chargeflow.io/products/automation</a:t>
            </a:r>
            <a:endParaRPr/>
          </a:p>
          <a:p>
            <a:pPr indent="0" lvl="0" marL="0" rtl="0" algn="l">
              <a:spcBef>
                <a:spcPts val="0"/>
              </a:spcBef>
              <a:spcAft>
                <a:spcPts val="0"/>
              </a:spcAft>
              <a:buNone/>
            </a:pPr>
            <a:r>
              <a:rPr lang="en-GB"/>
              <a:t>Comparison reflects documented product focus, not proof of exclusive capabilities.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68956bef38e6ec0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68956bef38e6ec0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68956bef38e6ec0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h68956bef38e6ec03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68956bef38e6ec0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h68956bef38e6ec03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Google Shape;72;p15"/>
          <p:cNvSpPr txBox="1"/>
          <p:nvPr/>
        </p:nvSpPr>
        <p:spPr>
          <a:xfrm>
            <a:off x="342900" y="1017963"/>
            <a:ext cx="84582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000">
                <a:latin typeface="Google Sans Flex"/>
                <a:ea typeface="Google Sans Flex"/>
                <a:cs typeface="Google Sans Flex"/>
                <a:sym typeface="Google Sans Flex"/>
              </a:rPr>
              <a:t>SURI: Seller Understanding, Risk &amp; Insights</a:t>
            </a:r>
            <a:endParaRPr b="1" sz="20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500">
                <a:solidFill>
                  <a:srgbClr val="292B30"/>
                </a:solidFill>
                <a:latin typeface="Google Sans Flex"/>
                <a:ea typeface="Google Sans Flex"/>
                <a:cs typeface="Google Sans Flex"/>
                <a:sym typeface="Google Sans Flex"/>
              </a:rPr>
              <a:t>An AI assistant for small sellers taking orders through Messenger.</a:t>
            </a:r>
            <a:endParaRPr sz="15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500">
                <a:solidFill>
                  <a:srgbClr val="292B30"/>
                </a:solidFill>
                <a:latin typeface="Google Sans Flex"/>
                <a:ea typeface="Google Sans Flex"/>
                <a:cs typeface="Google Sans Flex"/>
                <a:sym typeface="Google Sans Flex"/>
              </a:rPr>
              <a:t>Helps sellers check payment claims and complaints against order records,</a:t>
            </a:r>
            <a:endParaRPr sz="15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500">
                <a:solidFill>
                  <a:srgbClr val="292B30"/>
                </a:solidFill>
                <a:latin typeface="Google Sans Flex"/>
                <a:ea typeface="Google Sans Flex"/>
                <a:cs typeface="Google Sans Flex"/>
                <a:sym typeface="Google Sans Flex"/>
              </a:rPr>
              <a:t>packing photos and delivery proofs. Starting with the Philippines.</a:t>
            </a:r>
            <a:endParaRPr sz="1500">
              <a:solidFill>
                <a:srgbClr val="292B30"/>
              </a:solidFill>
              <a:latin typeface="Google Sans Flex"/>
              <a:ea typeface="Google Sans Flex"/>
              <a:cs typeface="Google Sans Flex"/>
              <a:sym typeface="Google Sans Flex"/>
            </a:endParaRPr>
          </a:p>
        </p:txBody>
      </p:sp>
      <p:sp>
        <p:nvSpPr>
          <p:cNvPr id="73" name="Google Shape;73;p15"/>
          <p:cNvSpPr txBox="1"/>
          <p:nvPr/>
        </p:nvSpPr>
        <p:spPr>
          <a:xfrm>
            <a:off x="342900" y="2478463"/>
            <a:ext cx="39369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The problem</a:t>
            </a:r>
            <a:endParaRPr b="1" sz="15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Fake receipts and disputed deliveries can</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cost sellers goods or refunds. Records split</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300">
                <a:solidFill>
                  <a:srgbClr val="292B30"/>
                </a:solidFill>
                <a:latin typeface="Google Sans Flex"/>
                <a:ea typeface="Google Sans Flex"/>
                <a:cs typeface="Google Sans Flex"/>
                <a:sym typeface="Google Sans Flex"/>
              </a:rPr>
              <a:t>across apps make claims hard to check.</a:t>
            </a:r>
            <a:endParaRPr sz="1300">
              <a:solidFill>
                <a:srgbClr val="292B30"/>
              </a:solidFill>
              <a:latin typeface="Google Sans Flex"/>
              <a:ea typeface="Google Sans Flex"/>
              <a:cs typeface="Google Sans Flex"/>
              <a:sym typeface="Google Sans Flex"/>
            </a:endParaRPr>
          </a:p>
        </p:txBody>
      </p:sp>
      <p:sp>
        <p:nvSpPr>
          <p:cNvPr id="74" name="Google Shape;74;p15"/>
          <p:cNvSpPr txBox="1"/>
          <p:nvPr/>
        </p:nvSpPr>
        <p:spPr>
          <a:xfrm>
            <a:off x="4762500" y="2478463"/>
            <a:ext cx="40386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The solution</a:t>
            </a:r>
            <a:endParaRPr b="1" sz="15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AI reads chats, receipts and visual evidence.</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It highlights conflicts and missing proof,</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300">
                <a:solidFill>
                  <a:srgbClr val="292B30"/>
                </a:solidFill>
                <a:latin typeface="Google Sans Flex"/>
                <a:ea typeface="Google Sans Flex"/>
                <a:cs typeface="Google Sans Flex"/>
                <a:sym typeface="Google Sans Flex"/>
              </a:rPr>
              <a:t>so sellers can check before shipping or refunding.</a:t>
            </a:r>
            <a:endParaRPr sz="1300">
              <a:solidFill>
                <a:srgbClr val="292B30"/>
              </a:solidFill>
              <a:latin typeface="Google Sans Flex"/>
              <a:ea typeface="Google Sans Flex"/>
              <a:cs typeface="Google Sans Flex"/>
              <a:sym typeface="Google Sans Flex"/>
            </a:endParaRPr>
          </a:p>
        </p:txBody>
      </p:sp>
      <p:sp>
        <p:nvSpPr>
          <p:cNvPr id="75" name="Google Shape;75;p15"/>
          <p:cNvSpPr txBox="1"/>
          <p:nvPr/>
        </p:nvSpPr>
        <p:spPr>
          <a:xfrm>
            <a:off x="342900" y="3837363"/>
            <a:ext cx="84582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solidFill>
                  <a:srgbClr val="292B30"/>
                </a:solidFill>
                <a:latin typeface="Google Sans Flex"/>
                <a:ea typeface="Google Sans Flex"/>
                <a:cs typeface="Google Sans Flex"/>
                <a:sym typeface="Google Sans Flex"/>
              </a:rPr>
              <a:t>Regional scale</a:t>
            </a:r>
            <a:endParaRPr b="1" sz="15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Southeast Asia lost up to US$23.6B to scams and fraud in 2024.</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300">
                <a:solidFill>
                  <a:srgbClr val="292B30"/>
                </a:solidFill>
                <a:latin typeface="Google Sans Flex"/>
                <a:ea typeface="Google Sans Flex"/>
                <a:cs typeface="Google Sans Flex"/>
                <a:sym typeface="Google Sans Flex"/>
              </a:rPr>
              <a:t>Source: https://aseanfoundation.org/programme/scam-ready-asean/</a:t>
            </a:r>
            <a:endParaRPr sz="1300">
              <a:solidFill>
                <a:srgbClr val="292B30"/>
              </a:solidFill>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1" name="Google Shape;81;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2" name="Google Shape;82;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6"/>
          <p:cNvSpPr txBox="1"/>
          <p:nvPr/>
        </p:nvSpPr>
        <p:spPr>
          <a:xfrm>
            <a:off x="265350" y="663825"/>
            <a:ext cx="7871100" cy="35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600">
                <a:solidFill>
                  <a:schemeClr val="dk1"/>
                </a:solidFill>
                <a:latin typeface="Google Sans Flex SemiBold"/>
                <a:ea typeface="Google Sans Flex SemiBold"/>
                <a:cs typeface="Google Sans Flex SemiBold"/>
                <a:sym typeface="Google Sans Flex SemiBold"/>
              </a:rPr>
              <a:t>Opportunities</a:t>
            </a:r>
            <a:br>
              <a:rPr lang="en-GB" sz="1600">
                <a:solidFill>
                  <a:schemeClr val="dk1"/>
                </a:solidFill>
                <a:latin typeface="Google Sans Flex SemiBold"/>
                <a:ea typeface="Google Sans Flex SemiBold"/>
                <a:cs typeface="Google Sans Flex SemiBold"/>
                <a:sym typeface="Google Sans Flex SemiBold"/>
              </a:rPr>
            </a:br>
            <a:endParaRPr sz="1600">
              <a:solidFill>
                <a:schemeClr val="dk1"/>
              </a:solidFill>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Clr>
                <a:schemeClr val="dk1"/>
              </a:buClr>
              <a:buSzPts val="1300"/>
              <a:buFont typeface="Google Sans Flex"/>
              <a:buChar char="●"/>
            </a:pPr>
            <a:r>
              <a:rPr lang="en-GB" sz="1300">
                <a:solidFill>
                  <a:schemeClr val="dk1"/>
                </a:solidFill>
                <a:latin typeface="Google Sans Flex"/>
                <a:ea typeface="Google Sans Flex"/>
                <a:cs typeface="Google Sans Flex"/>
                <a:sym typeface="Google Sans Flex"/>
              </a:rPr>
              <a:t>How different is it from any of the other existing ideas?</a:t>
            </a:r>
            <a:endParaRPr sz="1300">
              <a:solidFill>
                <a:schemeClr val="dk1"/>
              </a:solidFill>
              <a:latin typeface="Google Sans Flex"/>
              <a:ea typeface="Google Sans Flex"/>
              <a:cs typeface="Google Sans Flex"/>
              <a:sym typeface="Google Sans Flex"/>
            </a:endParaRPr>
          </a:p>
          <a:p>
            <a:pPr indent="0" lvl="0" marL="457200" rtl="0" algn="l">
              <a:lnSpc>
                <a:spcPct val="110000"/>
              </a:lnSpc>
              <a:spcBef>
                <a:spcPts val="0"/>
              </a:spcBef>
              <a:spcAft>
                <a:spcPts val="0"/>
              </a:spcAft>
              <a:buNone/>
            </a:pPr>
            <a:r>
              <a:rPr lang="en-GB" sz="1200">
                <a:solidFill>
                  <a:srgbClr val="292B30"/>
                </a:solidFill>
                <a:latin typeface="Google Sans Flex"/>
                <a:ea typeface="Google Sans Flex"/>
                <a:cs typeface="Google Sans Flex"/>
                <a:sym typeface="Google Sans Flex"/>
              </a:rPr>
              <a:t>Meta warns about scams, Manychat helps businesses sell through chat, and Chargeflow handles card payment disputes. Our app goes beyond flagging a suspicious message: it checks the buyer’s claim against payment records, packing photos and delivery proofs, shows where the evidence conflicts, and recommends what the seller should check next.</a:t>
            </a:r>
            <a:endParaRPr sz="1200">
              <a:solidFill>
                <a:srgbClr val="292B30"/>
              </a:solidFill>
              <a:latin typeface="Google Sans Flex"/>
              <a:ea typeface="Google Sans Flex"/>
              <a:cs typeface="Google Sans Flex"/>
              <a:sym typeface="Google Sans Flex"/>
            </a:endParaRPr>
          </a:p>
          <a:p>
            <a:pPr indent="-311150" lvl="0" marL="457200" rtl="0" algn="l">
              <a:spcBef>
                <a:spcPts val="600"/>
              </a:spcBef>
              <a:spcAft>
                <a:spcPts val="0"/>
              </a:spcAft>
              <a:buClr>
                <a:schemeClr val="dk1"/>
              </a:buClr>
              <a:buSzPts val="1300"/>
              <a:buFont typeface="Google Sans Flex"/>
              <a:buChar char="●"/>
            </a:pPr>
            <a:r>
              <a:rPr lang="en-GB" sz="1300">
                <a:solidFill>
                  <a:schemeClr val="dk1"/>
                </a:solidFill>
                <a:latin typeface="Google Sans Flex"/>
                <a:ea typeface="Google Sans Flex"/>
                <a:cs typeface="Google Sans Flex"/>
                <a:sym typeface="Google Sans Flex"/>
              </a:rPr>
              <a:t>How will it be able to solve the problem?</a:t>
            </a:r>
            <a:endParaRPr sz="1300">
              <a:solidFill>
                <a:schemeClr val="dk1"/>
              </a:solidFill>
              <a:latin typeface="Google Sans Flex"/>
              <a:ea typeface="Google Sans Flex"/>
              <a:cs typeface="Google Sans Flex"/>
              <a:sym typeface="Google Sans Flex"/>
            </a:endParaRPr>
          </a:p>
          <a:p>
            <a:pPr indent="0" lvl="0" marL="450000" rtl="0" algn="l">
              <a:lnSpc>
                <a:spcPct val="110000"/>
              </a:lnSpc>
              <a:spcBef>
                <a:spcPts val="0"/>
              </a:spcBef>
              <a:spcAft>
                <a:spcPts val="0"/>
              </a:spcAft>
              <a:buNone/>
            </a:pPr>
            <a:r>
              <a:rPr lang="en-GB" sz="1200">
                <a:solidFill>
                  <a:srgbClr val="292B30"/>
                </a:solidFill>
                <a:latin typeface="Google Sans Flex"/>
                <a:ea typeface="Google Sans Flex"/>
                <a:cs typeface="Google Sans Flex"/>
                <a:sym typeface="Google Sans Flex"/>
              </a:rPr>
              <a:t>If a buyer says “I already paid” or “an item is missing,” the seller can check that claim against the order’s records. The app also flags pressure to ship before payment is confirmed. Across orders, it highlights reused payment references, repeated complaints and damage linked to a product or courier. Each flag points to records the seller can check. It does not automatically label anyone a fraudster.</a:t>
            </a:r>
            <a:endParaRPr sz="1200">
              <a:solidFill>
                <a:srgbClr val="292B30"/>
              </a:solidFill>
              <a:latin typeface="Google Sans Flex"/>
              <a:ea typeface="Google Sans Flex"/>
              <a:cs typeface="Google Sans Flex"/>
              <a:sym typeface="Google Sans Flex"/>
            </a:endParaRPr>
          </a:p>
          <a:p>
            <a:pPr indent="-311150" lvl="0" marL="457200" rtl="0" algn="l">
              <a:spcBef>
                <a:spcPts val="600"/>
              </a:spcBef>
              <a:spcAft>
                <a:spcPts val="0"/>
              </a:spcAft>
              <a:buClr>
                <a:schemeClr val="dk1"/>
              </a:buClr>
              <a:buSzPts val="1300"/>
              <a:buFont typeface="Google Sans Flex"/>
              <a:buChar char="●"/>
            </a:pPr>
            <a:r>
              <a:rPr lang="en-GB" sz="1300">
                <a:solidFill>
                  <a:schemeClr val="dk1"/>
                </a:solidFill>
                <a:latin typeface="Google Sans Flex"/>
                <a:ea typeface="Google Sans Flex"/>
                <a:cs typeface="Google Sans Flex"/>
                <a:sym typeface="Google Sans Flex"/>
              </a:rPr>
              <a:t>USP of the proposed solution</a:t>
            </a:r>
            <a:endParaRPr sz="1300">
              <a:solidFill>
                <a:schemeClr val="dk1"/>
              </a:solidFill>
              <a:latin typeface="Google Sans Flex"/>
              <a:ea typeface="Google Sans Flex"/>
              <a:cs typeface="Google Sans Flex"/>
              <a:sym typeface="Google Sans Flex"/>
            </a:endParaRPr>
          </a:p>
          <a:p>
            <a:pPr indent="0" lvl="0" marL="457200" rtl="0" algn="l">
              <a:lnSpc>
                <a:spcPct val="110000"/>
              </a:lnSpc>
              <a:spcBef>
                <a:spcPts val="0"/>
              </a:spcBef>
              <a:spcAft>
                <a:spcPts val="0"/>
              </a:spcAft>
              <a:buNone/>
            </a:pPr>
            <a:r>
              <a:rPr lang="en-GB" sz="1200">
                <a:solidFill>
                  <a:srgbClr val="292B30"/>
                </a:solidFill>
                <a:latin typeface="Google Sans Flex"/>
                <a:ea typeface="Google Sans Flex"/>
                <a:cs typeface="Google Sans Flex"/>
                <a:sym typeface="Google Sans Flex"/>
              </a:rPr>
              <a:t>Built for small sellers who manage orders in chat, payments in a wallet app and deliveries through a courier. It brings those records together so sellers can check before shipping or refunding. The first version uses Messenger, GCash, PayMongo and Lalamove.</a:t>
            </a:r>
            <a:endParaRPr sz="1200">
              <a:solidFill>
                <a:srgbClr val="292B30"/>
              </a:solidFill>
              <a:latin typeface="Google Sans Flex"/>
              <a:ea typeface="Google Sans Flex"/>
              <a:cs typeface="Google Sans Flex"/>
              <a:sym typeface="Google Sans Flex"/>
            </a:endParaRPr>
          </a:p>
          <a:p>
            <a:pPr indent="0" lvl="0" marL="0" rtl="0" algn="l">
              <a:spcBef>
                <a:spcPts val="600"/>
              </a:spcBef>
              <a:spcAft>
                <a:spcPts val="0"/>
              </a:spcAft>
              <a:buNone/>
            </a:pPr>
            <a:r>
              <a:t/>
            </a:r>
            <a:endParaRPr sz="1600">
              <a:latin typeface="Google Sans Flex SemiBold"/>
              <a:ea typeface="Google Sans Flex SemiBold"/>
              <a:cs typeface="Google Sans Flex SemiBold"/>
              <a:sym typeface="Google Sans Flex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9" name="Google Shape;89;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0" name="Google Shape;90;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7"/>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Medium"/>
              <a:ea typeface="Google Sans Flex Medium"/>
              <a:cs typeface="Google Sans Flex Medium"/>
              <a:sym typeface="Google Sans Flex Medium"/>
            </a:endParaRPr>
          </a:p>
        </p:txBody>
      </p:sp>
      <p:sp>
        <p:nvSpPr>
          <p:cNvPr id="92" name="Google Shape;92;p17"/>
          <p:cNvSpPr txBox="1"/>
          <p:nvPr/>
        </p:nvSpPr>
        <p:spPr>
          <a:xfrm>
            <a:off x="342900" y="1092350"/>
            <a:ext cx="8458200" cy="124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What makes it different</a:t>
            </a:r>
            <a:endParaRPr b="1" sz="15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Connects the evidence across an order’s lifecycle, from the original chat to the claim.</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Brings conversation analysis and visual checks into one seller workflow,</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300">
                <a:solidFill>
                  <a:srgbClr val="292B30"/>
                </a:solidFill>
                <a:latin typeface="Google Sans Flex"/>
                <a:ea typeface="Google Sans Flex"/>
                <a:cs typeface="Google Sans Flex"/>
                <a:sym typeface="Google Sans Flex"/>
              </a:rPr>
              <a:t>with cited findings and recall of similar seller decisions.</a:t>
            </a:r>
            <a:endParaRPr sz="1300">
              <a:solidFill>
                <a:srgbClr val="292B30"/>
              </a:solidFill>
              <a:latin typeface="Google Sans Flex"/>
              <a:ea typeface="Google Sans Flex"/>
              <a:cs typeface="Google Sans Flex"/>
              <a:sym typeface="Google Sans Flex"/>
            </a:endParaRPr>
          </a:p>
        </p:txBody>
      </p:sp>
      <p:sp>
        <p:nvSpPr>
          <p:cNvPr id="93" name="Google Shape;93;p17"/>
          <p:cNvSpPr txBox="1"/>
          <p:nvPr/>
        </p:nvSpPr>
        <p:spPr>
          <a:xfrm>
            <a:off x="342900" y="2298850"/>
            <a:ext cx="84582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How it addresses the problem</a:t>
            </a:r>
            <a:endParaRPr b="1" sz="15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Turns scattered records into concrete checks before dispatch or a refund.</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Flags payment mismatches, missing packing evidence and conflicting claims,</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300">
                <a:solidFill>
                  <a:srgbClr val="292B30"/>
                </a:solidFill>
                <a:latin typeface="Google Sans Flex"/>
                <a:ea typeface="Google Sans Flex"/>
                <a:cs typeface="Google Sans Flex"/>
                <a:sym typeface="Google Sans Flex"/>
              </a:rPr>
              <a:t>helping sellers investigate issues while keeping decisions under their control.</a:t>
            </a:r>
            <a:endParaRPr sz="1300">
              <a:solidFill>
                <a:srgbClr val="292B30"/>
              </a:solidFill>
              <a:latin typeface="Google Sans Flex"/>
              <a:ea typeface="Google Sans Flex"/>
              <a:cs typeface="Google Sans Flex"/>
              <a:sym typeface="Google Sans Flex"/>
            </a:endParaRPr>
          </a:p>
        </p:txBody>
      </p:sp>
      <p:sp>
        <p:nvSpPr>
          <p:cNvPr id="94" name="Google Shape;94;p17"/>
          <p:cNvSpPr txBox="1"/>
          <p:nvPr/>
        </p:nvSpPr>
        <p:spPr>
          <a:xfrm>
            <a:off x="342900" y="3505350"/>
            <a:ext cx="84582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Unique selling proposition</a:t>
            </a:r>
            <a:endParaRPr b="1" sz="15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Messenger-first evidence review for small social-commerce sellers.</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300">
                <a:solidFill>
                  <a:srgbClr val="292B30"/>
                </a:solidFill>
                <a:latin typeface="Google Sans Flex"/>
                <a:ea typeface="Google Sans Flex"/>
                <a:cs typeface="Google Sans Flex"/>
                <a:sym typeface="Google Sans Flex"/>
              </a:rPr>
              <a:t>Combines GCash receipt checks, packing and unboxing analysis, delivery records</a:t>
            </a:r>
            <a:endParaRPr sz="1300">
              <a:solidFill>
                <a:srgbClr val="292B30"/>
              </a:solidFill>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300">
                <a:solidFill>
                  <a:srgbClr val="292B30"/>
                </a:solidFill>
                <a:latin typeface="Google Sans Flex"/>
                <a:ea typeface="Google Sans Flex"/>
                <a:cs typeface="Google Sans Flex"/>
                <a:sym typeface="Google Sans Flex"/>
              </a:rPr>
              <a:t>and claim recommendations without relying on a customer fraud score.</a:t>
            </a:r>
            <a:endParaRPr sz="1300">
              <a:solidFill>
                <a:srgbClr val="292B30"/>
              </a:solidFill>
              <a:latin typeface="Google Sans Flex"/>
              <a:ea typeface="Google Sans Flex"/>
              <a:cs typeface="Google Sans Flex"/>
              <a:sym typeface="Google Sans Flex"/>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0" name="Google Shape;100;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1" name="Google Shape;101;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103" name="Google Shape;103;p18"/>
          <p:cNvSpPr txBox="1"/>
          <p:nvPr/>
        </p:nvSpPr>
        <p:spPr>
          <a:xfrm>
            <a:off x="342900" y="14732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Conversation understanding</a:t>
            </a:r>
            <a:endParaRPr b="1" sz="15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300">
                <a:solidFill>
                  <a:srgbClr val="292B30"/>
                </a:solidFill>
                <a:latin typeface="Google Sans Flex"/>
                <a:ea typeface="Google Sans Flex"/>
                <a:cs typeface="Google Sans Flex"/>
                <a:sym typeface="Google Sans Flex"/>
              </a:rPr>
              <a:t>Extracts Messenger orders and flags conflicting details, suspicious requests or pressure to ship.</a:t>
            </a:r>
            <a:endParaRPr sz="1300">
              <a:solidFill>
                <a:srgbClr val="292B30"/>
              </a:solidFill>
              <a:latin typeface="Google Sans Flex"/>
              <a:ea typeface="Google Sans Flex"/>
              <a:cs typeface="Google Sans Flex"/>
              <a:sym typeface="Google Sans Flex"/>
            </a:endParaRPr>
          </a:p>
        </p:txBody>
      </p:sp>
      <p:sp>
        <p:nvSpPr>
          <p:cNvPr id="104" name="Google Shape;104;p18"/>
          <p:cNvSpPr txBox="1"/>
          <p:nvPr/>
        </p:nvSpPr>
        <p:spPr>
          <a:xfrm>
            <a:off x="342900" y="25781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Customer history summaries</a:t>
            </a:r>
            <a:endParaRPr b="1" sz="15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300">
                <a:solidFill>
                  <a:srgbClr val="292B30"/>
                </a:solidFill>
                <a:latin typeface="Google Sans Flex"/>
                <a:ea typeface="Google Sans Flex"/>
                <a:cs typeface="Google Sans Flex"/>
                <a:sym typeface="Google Sans Flex"/>
              </a:rPr>
              <a:t>Summarizes previous orders, payments and claims for the seller.</a:t>
            </a:r>
            <a:endParaRPr sz="1300">
              <a:solidFill>
                <a:srgbClr val="292B30"/>
              </a:solidFill>
              <a:latin typeface="Google Sans Flex"/>
              <a:ea typeface="Google Sans Flex"/>
              <a:cs typeface="Google Sans Flex"/>
              <a:sym typeface="Google Sans Flex"/>
            </a:endParaRPr>
          </a:p>
        </p:txBody>
      </p:sp>
      <p:sp>
        <p:nvSpPr>
          <p:cNvPr id="105" name="Google Shape;105;p18"/>
          <p:cNvSpPr txBox="1"/>
          <p:nvPr/>
        </p:nvSpPr>
        <p:spPr>
          <a:xfrm>
            <a:off x="342900" y="36830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Packing review</a:t>
            </a:r>
            <a:endParaRPr b="1" sz="15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300">
                <a:solidFill>
                  <a:srgbClr val="292B30"/>
                </a:solidFill>
                <a:latin typeface="Google Sans Flex"/>
                <a:ea typeface="Google Sans Flex"/>
                <a:cs typeface="Google Sans Flex"/>
                <a:sym typeface="Google Sans Flex"/>
              </a:rPr>
              <a:t>Compares packing photos with confirmed items and product references to spot mismatches.</a:t>
            </a:r>
            <a:endParaRPr sz="1300">
              <a:solidFill>
                <a:srgbClr val="292B30"/>
              </a:solidFill>
              <a:latin typeface="Google Sans Flex"/>
              <a:ea typeface="Google Sans Flex"/>
              <a:cs typeface="Google Sans Flex"/>
              <a:sym typeface="Google Sans Flex"/>
            </a:endParaRPr>
          </a:p>
        </p:txBody>
      </p:sp>
      <p:sp>
        <p:nvSpPr>
          <p:cNvPr id="106" name="Google Shape;106;p18"/>
          <p:cNvSpPr txBox="1"/>
          <p:nvPr/>
        </p:nvSpPr>
        <p:spPr>
          <a:xfrm>
            <a:off x="4762500" y="14732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Visual evidence analysis</a:t>
            </a:r>
            <a:endParaRPr b="1" sz="15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300">
                <a:solidFill>
                  <a:srgbClr val="292B30"/>
                </a:solidFill>
                <a:latin typeface="Google Sans Flex"/>
                <a:ea typeface="Google Sans Flex"/>
                <a:cs typeface="Google Sans Flex"/>
                <a:sym typeface="Google Sans Flex"/>
              </a:rPr>
              <a:t>Reads receipt screenshots for payment checks and reviews delivery and unboxing media for condition, label matches and evidence gaps.</a:t>
            </a:r>
            <a:endParaRPr sz="1300">
              <a:solidFill>
                <a:srgbClr val="292B30"/>
              </a:solidFill>
              <a:latin typeface="Google Sans Flex"/>
              <a:ea typeface="Google Sans Flex"/>
              <a:cs typeface="Google Sans Flex"/>
              <a:sym typeface="Google Sans Flex"/>
            </a:endParaRPr>
          </a:p>
        </p:txBody>
      </p:sp>
      <p:sp>
        <p:nvSpPr>
          <p:cNvPr id="107" name="Google Shape;107;p18"/>
          <p:cNvSpPr txBox="1"/>
          <p:nvPr/>
        </p:nvSpPr>
        <p:spPr>
          <a:xfrm>
            <a:off x="4762500" y="25781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Claim review and recommendations</a:t>
            </a:r>
            <a:endParaRPr b="1" sz="15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300">
                <a:solidFill>
                  <a:srgbClr val="292B30"/>
                </a:solidFill>
                <a:latin typeface="Google Sans Flex"/>
                <a:ea typeface="Google Sans Flex"/>
                <a:cs typeface="Google Sans Flex"/>
                <a:sym typeface="Google Sans Flex"/>
              </a:rPr>
              <a:t>Compares complaints with order records and recommends next steps with evidence citations.</a:t>
            </a:r>
            <a:endParaRPr sz="1300">
              <a:solidFill>
                <a:srgbClr val="292B30"/>
              </a:solidFill>
              <a:latin typeface="Google Sans Flex"/>
              <a:ea typeface="Google Sans Flex"/>
              <a:cs typeface="Google Sans Flex"/>
              <a:sym typeface="Google Sans Flex"/>
            </a:endParaRPr>
          </a:p>
        </p:txBody>
      </p:sp>
      <p:sp>
        <p:nvSpPr>
          <p:cNvPr id="108" name="Google Shape;108;p18"/>
          <p:cNvSpPr txBox="1"/>
          <p:nvPr/>
        </p:nvSpPr>
        <p:spPr>
          <a:xfrm>
            <a:off x="4762500" y="36830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00">
                <a:latin typeface="Google Sans Flex"/>
                <a:ea typeface="Google Sans Flex"/>
                <a:cs typeface="Google Sans Flex"/>
                <a:sym typeface="Google Sans Flex"/>
              </a:rPr>
              <a:t>Past-decision recall</a:t>
            </a:r>
            <a:endParaRPr b="1" sz="15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300">
                <a:solidFill>
                  <a:srgbClr val="292B30"/>
                </a:solidFill>
                <a:latin typeface="Google Sans Flex"/>
                <a:ea typeface="Google Sans Flex"/>
                <a:cs typeface="Google Sans Flex"/>
                <a:sym typeface="Google Sans Flex"/>
              </a:rPr>
              <a:t>Uses Memory Bank to retrieve similar seller decisions and suggest consistent responses.</a:t>
            </a:r>
            <a:endParaRPr sz="1300">
              <a:solidFill>
                <a:srgbClr val="292B30"/>
              </a:solidFill>
              <a:latin typeface="Google Sans Flex"/>
              <a:ea typeface="Google Sans Flex"/>
              <a:cs typeface="Google Sans Flex"/>
              <a:sym typeface="Google Sans Flex"/>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4" name="Google Shape;114;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5" name="Google Shape;115;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117" name="Google Shape;117;p19"/>
          <p:cNvSpPr/>
          <p:nvPr/>
        </p:nvSpPr>
        <p:spPr>
          <a:xfrm>
            <a:off x="355600" y="13970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1  Capture and confirm</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AI drafts the Messenger order.</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Seller reviews, customer confirms.</a:t>
            </a:r>
            <a:endParaRPr sz="1200">
              <a:solidFill>
                <a:srgbClr val="1F2633"/>
              </a:solidFill>
              <a:latin typeface="Google Sans Flex"/>
              <a:ea typeface="Google Sans Flex"/>
              <a:cs typeface="Google Sans Flex"/>
              <a:sym typeface="Google Sans Flex"/>
            </a:endParaRPr>
          </a:p>
        </p:txBody>
      </p:sp>
      <p:sp>
        <p:nvSpPr>
          <p:cNvPr id="118" name="Google Shape;118;p19"/>
          <p:cNvSpPr/>
          <p:nvPr/>
        </p:nvSpPr>
        <p:spPr>
          <a:xfrm>
            <a:off x="3314700" y="1397000"/>
            <a:ext cx="25146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2  Check payment</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PayMongo verifies payment, or</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seller reconciles GCash history.</a:t>
            </a:r>
            <a:endParaRPr sz="1200">
              <a:solidFill>
                <a:srgbClr val="1F2633"/>
              </a:solidFill>
              <a:latin typeface="Google Sans Flex"/>
              <a:ea typeface="Google Sans Flex"/>
              <a:cs typeface="Google Sans Flex"/>
              <a:sym typeface="Google Sans Flex"/>
            </a:endParaRPr>
          </a:p>
        </p:txBody>
      </p:sp>
      <p:sp>
        <p:nvSpPr>
          <p:cNvPr id="119" name="Google Shape;119;p19"/>
          <p:cNvSpPr/>
          <p:nvPr/>
        </p:nvSpPr>
        <p:spPr>
          <a:xfrm>
            <a:off x="6273800" y="13970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3  Review packing</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AI checks photos and videos.</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Seller resolves gaps before dispatch.</a:t>
            </a:r>
            <a:endParaRPr sz="1200">
              <a:solidFill>
                <a:srgbClr val="1F2633"/>
              </a:solidFill>
              <a:latin typeface="Google Sans Flex"/>
              <a:ea typeface="Google Sans Flex"/>
              <a:cs typeface="Google Sans Flex"/>
              <a:sym typeface="Google Sans Flex"/>
            </a:endParaRPr>
          </a:p>
        </p:txBody>
      </p:sp>
      <p:sp>
        <p:nvSpPr>
          <p:cNvPr id="120" name="Google Shape;120;p19"/>
          <p:cNvSpPr/>
          <p:nvPr/>
        </p:nvSpPr>
        <p:spPr>
          <a:xfrm>
            <a:off x="6273800" y="2933700"/>
            <a:ext cx="25146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4  Deliver and receive</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Book courier, track delivery proofs.</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Customer confirms receipt.</a:t>
            </a:r>
            <a:endParaRPr sz="1200">
              <a:solidFill>
                <a:srgbClr val="1F2633"/>
              </a:solidFill>
              <a:latin typeface="Google Sans Flex"/>
              <a:ea typeface="Google Sans Flex"/>
              <a:cs typeface="Google Sans Flex"/>
              <a:sym typeface="Google Sans Flex"/>
            </a:endParaRPr>
          </a:p>
        </p:txBody>
      </p:sp>
      <p:sp>
        <p:nvSpPr>
          <p:cNvPr id="121" name="Google Shape;121;p19"/>
          <p:cNvSpPr/>
          <p:nvPr/>
        </p:nvSpPr>
        <p:spPr>
          <a:xfrm>
            <a:off x="3314700" y="29337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5  Review any claim</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AI compares the evidence and</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recalls similar seller decisions.</a:t>
            </a:r>
            <a:endParaRPr sz="1200">
              <a:solidFill>
                <a:srgbClr val="1F2633"/>
              </a:solidFill>
              <a:latin typeface="Google Sans Flex"/>
              <a:ea typeface="Google Sans Flex"/>
              <a:cs typeface="Google Sans Flex"/>
              <a:sym typeface="Google Sans Flex"/>
            </a:endParaRPr>
          </a:p>
        </p:txBody>
      </p:sp>
      <p:sp>
        <p:nvSpPr>
          <p:cNvPr id="122" name="Google Shape;122;p19"/>
          <p:cNvSpPr/>
          <p:nvPr/>
        </p:nvSpPr>
        <p:spPr>
          <a:xfrm>
            <a:off x="355600" y="2933700"/>
            <a:ext cx="2514600" cy="914400"/>
          </a:xfrm>
          <a:prstGeom prst="roundRect">
            <a:avLst>
              <a:gd fmla="val 16667" name="adj"/>
            </a:avLst>
          </a:prstGeom>
          <a:solidFill>
            <a:srgbClr val="E5F5EB"/>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200">
                <a:solidFill>
                  <a:srgbClr val="1F2633"/>
                </a:solidFill>
                <a:latin typeface="Google Sans Flex"/>
                <a:ea typeface="Google Sans Flex"/>
                <a:cs typeface="Google Sans Flex"/>
                <a:sym typeface="Google Sans Flex"/>
              </a:rPr>
              <a:t>6  Resolution and patterns</a:t>
            </a:r>
            <a:endParaRPr b="1"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Seller approves the action.</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Update history and patterns.</a:t>
            </a:r>
            <a:endParaRPr sz="1200">
              <a:solidFill>
                <a:srgbClr val="1F2633"/>
              </a:solidFill>
              <a:latin typeface="Google Sans Flex"/>
              <a:ea typeface="Google Sans Flex"/>
              <a:cs typeface="Google Sans Flex"/>
              <a:sym typeface="Google Sans Flex"/>
            </a:endParaRPr>
          </a:p>
        </p:txBody>
      </p:sp>
      <p:cxnSp>
        <p:nvCxnSpPr>
          <p:cNvPr id="123" name="Google Shape;123;p19"/>
          <p:cNvCxnSpPr/>
          <p:nvPr/>
        </p:nvCxnSpPr>
        <p:spPr>
          <a:xfrm>
            <a:off x="2870200" y="18542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24" name="Google Shape;124;p19"/>
          <p:cNvCxnSpPr/>
          <p:nvPr/>
        </p:nvCxnSpPr>
        <p:spPr>
          <a:xfrm>
            <a:off x="5829300" y="18542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25" name="Google Shape;125;p19"/>
          <p:cNvCxnSpPr/>
          <p:nvPr/>
        </p:nvCxnSpPr>
        <p:spPr>
          <a:xfrm>
            <a:off x="7531100" y="2311400"/>
            <a:ext cx="12600" cy="622200"/>
          </a:xfrm>
          <a:prstGeom prst="straightConnector1">
            <a:avLst/>
          </a:prstGeom>
          <a:noFill/>
          <a:ln cap="flat" cmpd="sng" w="16500">
            <a:solidFill>
              <a:srgbClr val="91A3B8"/>
            </a:solidFill>
            <a:prstDash val="solid"/>
            <a:round/>
            <a:headEnd len="med" w="med" type="none"/>
            <a:tailEnd len="med" w="med" type="triangle"/>
          </a:ln>
        </p:spPr>
      </p:cxnSp>
      <p:cxnSp>
        <p:nvCxnSpPr>
          <p:cNvPr id="126" name="Google Shape;126;p19"/>
          <p:cNvCxnSpPr/>
          <p:nvPr/>
        </p:nvCxnSpPr>
        <p:spPr>
          <a:xfrm flipH="1">
            <a:off x="5829200" y="33909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27" name="Google Shape;127;p19"/>
          <p:cNvCxnSpPr/>
          <p:nvPr/>
        </p:nvCxnSpPr>
        <p:spPr>
          <a:xfrm flipH="1">
            <a:off x="2870100" y="3390900"/>
            <a:ext cx="444600" cy="12600"/>
          </a:xfrm>
          <a:prstGeom prst="straightConnector1">
            <a:avLst/>
          </a:prstGeom>
          <a:noFill/>
          <a:ln cap="flat" cmpd="sng" w="16500">
            <a:solidFill>
              <a:srgbClr val="91A3B8"/>
            </a:solidFill>
            <a:prstDash val="solid"/>
            <a:round/>
            <a:headEnd len="med" w="med" type="none"/>
            <a:tailEnd len="med" w="med" type="triangle"/>
          </a:ln>
        </p:spPr>
      </p:cxnSp>
      <p:sp>
        <p:nvSpPr>
          <p:cNvPr id="128" name="Google Shape;128;p19"/>
          <p:cNvSpPr/>
          <p:nvPr/>
        </p:nvSpPr>
        <p:spPr>
          <a:xfrm>
            <a:off x="1016000" y="4203700"/>
            <a:ext cx="7112100" cy="546000"/>
          </a:xfrm>
          <a:prstGeom prst="roundRect">
            <a:avLst>
              <a:gd fmla="val 16667" name="adj"/>
            </a:avLst>
          </a:prstGeom>
          <a:solidFill>
            <a:srgbClr val="FFFF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Checks stay under seller control</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Unclear evidence prompts clarification. Refunds and replacements require seller action.</a:t>
            </a:r>
            <a:endParaRPr sz="1200">
              <a:solidFill>
                <a:srgbClr val="1F2633"/>
              </a:solidFill>
              <a:latin typeface="Google Sans Flex"/>
              <a:ea typeface="Google Sans Flex"/>
              <a:cs typeface="Google Sans Flex"/>
              <a:sym typeface="Google Sans Flex"/>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4" name="Google Shape;134;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5" name="Google Shape;135;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2" name="Google Shape;142;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3" name="Google Shape;143;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45" name="Google Shape;145;p21"/>
          <p:cNvSpPr/>
          <p:nvPr/>
        </p:nvSpPr>
        <p:spPr>
          <a:xfrm>
            <a:off x="317500" y="1422400"/>
            <a:ext cx="2286000" cy="749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Seller dashboard</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React on Firebase Hosting</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Firebase Authentication</a:t>
            </a:r>
            <a:endParaRPr sz="1200">
              <a:solidFill>
                <a:srgbClr val="1F2633"/>
              </a:solidFill>
              <a:latin typeface="Google Sans Flex"/>
              <a:ea typeface="Google Sans Flex"/>
              <a:cs typeface="Google Sans Flex"/>
              <a:sym typeface="Google Sans Flex"/>
            </a:endParaRPr>
          </a:p>
        </p:txBody>
      </p:sp>
      <p:sp>
        <p:nvSpPr>
          <p:cNvPr id="146" name="Google Shape;146;p21"/>
          <p:cNvSpPr/>
          <p:nvPr/>
        </p:nvSpPr>
        <p:spPr>
          <a:xfrm>
            <a:off x="3225800" y="1574800"/>
            <a:ext cx="2667000" cy="1409700"/>
          </a:xfrm>
          <a:prstGeom prst="roundRect">
            <a:avLst>
              <a:gd fmla="val 16667" name="adj"/>
            </a:avLst>
          </a:prstGeom>
          <a:solidFill>
            <a:srgbClr val="E5F5EB"/>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Application backend</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FastAPI on Cloud Run</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Order and payment rules</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Evidence checks and webhook validation</a:t>
            </a:r>
            <a:endParaRPr sz="1200">
              <a:solidFill>
                <a:srgbClr val="1F2633"/>
              </a:solidFill>
              <a:latin typeface="Google Sans Flex"/>
              <a:ea typeface="Google Sans Flex"/>
              <a:cs typeface="Google Sans Flex"/>
              <a:sym typeface="Google Sans Flex"/>
            </a:endParaRPr>
          </a:p>
        </p:txBody>
      </p:sp>
      <p:sp>
        <p:nvSpPr>
          <p:cNvPr id="147" name="Google Shape;147;p21"/>
          <p:cNvSpPr/>
          <p:nvPr/>
        </p:nvSpPr>
        <p:spPr>
          <a:xfrm>
            <a:off x="317500" y="2425700"/>
            <a:ext cx="2286000" cy="7113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Messenger</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Conversations, confirmations</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and customer complaints</a:t>
            </a:r>
            <a:endParaRPr sz="1200">
              <a:solidFill>
                <a:srgbClr val="1F2633"/>
              </a:solidFill>
              <a:latin typeface="Google Sans Flex"/>
              <a:ea typeface="Google Sans Flex"/>
              <a:cs typeface="Google Sans Flex"/>
              <a:sym typeface="Google Sans Flex"/>
            </a:endParaRPr>
          </a:p>
        </p:txBody>
      </p:sp>
      <p:sp>
        <p:nvSpPr>
          <p:cNvPr id="148" name="Google Shape;148;p21"/>
          <p:cNvSpPr/>
          <p:nvPr/>
        </p:nvSpPr>
        <p:spPr>
          <a:xfrm>
            <a:off x="317500" y="3403600"/>
            <a:ext cx="22860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Commerce services</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PayMongo (test), Lalamove (sandbox)</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Google Maps Platform</a:t>
            </a:r>
            <a:endParaRPr sz="1200">
              <a:solidFill>
                <a:srgbClr val="1F2633"/>
              </a:solidFill>
              <a:latin typeface="Google Sans Flex"/>
              <a:ea typeface="Google Sans Flex"/>
              <a:cs typeface="Google Sans Flex"/>
              <a:sym typeface="Google Sans Flex"/>
            </a:endParaRPr>
          </a:p>
        </p:txBody>
      </p:sp>
      <p:sp>
        <p:nvSpPr>
          <p:cNvPr id="149" name="Google Shape;149;p21"/>
          <p:cNvSpPr/>
          <p:nvPr/>
        </p:nvSpPr>
        <p:spPr>
          <a:xfrm>
            <a:off x="6515100" y="1397000"/>
            <a:ext cx="2311500" cy="7365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Gemini on Vertex AI</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Structured extraction</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Photo and video analysis</a:t>
            </a:r>
            <a:endParaRPr sz="1200">
              <a:solidFill>
                <a:srgbClr val="1F2633"/>
              </a:solidFill>
              <a:latin typeface="Google Sans Flex"/>
              <a:ea typeface="Google Sans Flex"/>
              <a:cs typeface="Google Sans Flex"/>
              <a:sym typeface="Google Sans Flex"/>
            </a:endParaRPr>
          </a:p>
        </p:txBody>
      </p:sp>
      <p:sp>
        <p:nvSpPr>
          <p:cNvPr id="150" name="Google Shape;150;p21"/>
          <p:cNvSpPr/>
          <p:nvPr/>
        </p:nvSpPr>
        <p:spPr>
          <a:xfrm>
            <a:off x="6515100" y="2349500"/>
            <a:ext cx="2311500" cy="7746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ADK claim reviewer</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Read-only evidence tools</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Cited recommendations</a:t>
            </a:r>
            <a:endParaRPr sz="1200">
              <a:solidFill>
                <a:srgbClr val="1F2633"/>
              </a:solidFill>
              <a:latin typeface="Google Sans Flex"/>
              <a:ea typeface="Google Sans Flex"/>
              <a:cs typeface="Google Sans Flex"/>
              <a:sym typeface="Google Sans Flex"/>
            </a:endParaRPr>
          </a:p>
        </p:txBody>
      </p:sp>
      <p:sp>
        <p:nvSpPr>
          <p:cNvPr id="151" name="Google Shape;151;p21"/>
          <p:cNvSpPr/>
          <p:nvPr/>
        </p:nvSpPr>
        <p:spPr>
          <a:xfrm>
            <a:off x="6515100" y="3365500"/>
            <a:ext cx="2311500" cy="749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Memory Bank</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Store-scoped retrieval</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Past seller decisions</a:t>
            </a:r>
            <a:endParaRPr sz="1200">
              <a:solidFill>
                <a:srgbClr val="1F2633"/>
              </a:solidFill>
              <a:latin typeface="Google Sans Flex"/>
              <a:ea typeface="Google Sans Flex"/>
              <a:cs typeface="Google Sans Flex"/>
              <a:sym typeface="Google Sans Flex"/>
            </a:endParaRPr>
          </a:p>
        </p:txBody>
      </p:sp>
      <p:sp>
        <p:nvSpPr>
          <p:cNvPr id="152" name="Google Shape;152;p21"/>
          <p:cNvSpPr/>
          <p:nvPr/>
        </p:nvSpPr>
        <p:spPr>
          <a:xfrm>
            <a:off x="3225800" y="3632200"/>
            <a:ext cx="2667000" cy="7113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Firestore and Cloud Storage</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200">
                <a:solidFill>
                  <a:srgbClr val="1F2633"/>
                </a:solidFill>
                <a:latin typeface="Google Sans Flex"/>
                <a:ea typeface="Google Sans Flex"/>
                <a:cs typeface="Google Sans Flex"/>
                <a:sym typeface="Google Sans Flex"/>
              </a:rPr>
              <a:t>Orders, decisions and events</a:t>
            </a:r>
            <a:endParaRPr sz="12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Hashed photo and video evidence</a:t>
            </a:r>
            <a:endParaRPr sz="1200">
              <a:solidFill>
                <a:srgbClr val="1F2633"/>
              </a:solidFill>
              <a:latin typeface="Google Sans Flex"/>
              <a:ea typeface="Google Sans Flex"/>
              <a:cs typeface="Google Sans Flex"/>
              <a:sym typeface="Google Sans Flex"/>
            </a:endParaRPr>
          </a:p>
        </p:txBody>
      </p:sp>
      <p:cxnSp>
        <p:nvCxnSpPr>
          <p:cNvPr id="153" name="Google Shape;153;p21"/>
          <p:cNvCxnSpPr/>
          <p:nvPr/>
        </p:nvCxnSpPr>
        <p:spPr>
          <a:xfrm>
            <a:off x="2603500" y="18161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54" name="Google Shape;154;p21"/>
          <p:cNvCxnSpPr/>
          <p:nvPr/>
        </p:nvCxnSpPr>
        <p:spPr>
          <a:xfrm>
            <a:off x="2603500" y="27686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55" name="Google Shape;155;p21"/>
          <p:cNvCxnSpPr/>
          <p:nvPr/>
        </p:nvCxnSpPr>
        <p:spPr>
          <a:xfrm>
            <a:off x="2603500" y="3797300"/>
            <a:ext cx="330300" cy="12600"/>
          </a:xfrm>
          <a:prstGeom prst="straightConnector1">
            <a:avLst/>
          </a:prstGeom>
          <a:noFill/>
          <a:ln cap="flat" cmpd="sng" w="16500">
            <a:solidFill>
              <a:srgbClr val="91A3B8"/>
            </a:solidFill>
            <a:prstDash val="solid"/>
            <a:round/>
            <a:headEnd len="med" w="med" type="none"/>
            <a:tailEnd len="med" w="med" type="none"/>
          </a:ln>
        </p:spPr>
      </p:cxnSp>
      <p:cxnSp>
        <p:nvCxnSpPr>
          <p:cNvPr id="156" name="Google Shape;156;p21"/>
          <p:cNvCxnSpPr/>
          <p:nvPr/>
        </p:nvCxnSpPr>
        <p:spPr>
          <a:xfrm flipH="1" rot="10800000">
            <a:off x="2933700" y="2857400"/>
            <a:ext cx="12600" cy="939900"/>
          </a:xfrm>
          <a:prstGeom prst="straightConnector1">
            <a:avLst/>
          </a:prstGeom>
          <a:noFill/>
          <a:ln cap="flat" cmpd="sng" w="16500">
            <a:solidFill>
              <a:srgbClr val="91A3B8"/>
            </a:solidFill>
            <a:prstDash val="solid"/>
            <a:round/>
            <a:headEnd len="med" w="med" type="none"/>
            <a:tailEnd len="med" w="med" type="none"/>
          </a:ln>
        </p:spPr>
      </p:cxnSp>
      <p:cxnSp>
        <p:nvCxnSpPr>
          <p:cNvPr id="157" name="Google Shape;157;p21"/>
          <p:cNvCxnSpPr/>
          <p:nvPr/>
        </p:nvCxnSpPr>
        <p:spPr>
          <a:xfrm>
            <a:off x="2933700" y="2857500"/>
            <a:ext cx="29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58" name="Google Shape;158;p21"/>
          <p:cNvCxnSpPr/>
          <p:nvPr/>
        </p:nvCxnSpPr>
        <p:spPr>
          <a:xfrm>
            <a:off x="5892800" y="17653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59" name="Google Shape;159;p21"/>
          <p:cNvCxnSpPr/>
          <p:nvPr/>
        </p:nvCxnSpPr>
        <p:spPr>
          <a:xfrm>
            <a:off x="5892800" y="27432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60" name="Google Shape;160;p21"/>
          <p:cNvCxnSpPr/>
          <p:nvPr/>
        </p:nvCxnSpPr>
        <p:spPr>
          <a:xfrm>
            <a:off x="7670800" y="3124200"/>
            <a:ext cx="12600" cy="241200"/>
          </a:xfrm>
          <a:prstGeom prst="straightConnector1">
            <a:avLst/>
          </a:prstGeom>
          <a:noFill/>
          <a:ln cap="flat" cmpd="sng" w="16500">
            <a:solidFill>
              <a:srgbClr val="91A3B8"/>
            </a:solidFill>
            <a:prstDash val="solid"/>
            <a:round/>
            <a:headEnd len="med" w="med" type="none"/>
            <a:tailEnd len="med" w="med" type="triangle"/>
          </a:ln>
        </p:spPr>
      </p:cxnSp>
      <p:cxnSp>
        <p:nvCxnSpPr>
          <p:cNvPr id="161" name="Google Shape;161;p21"/>
          <p:cNvCxnSpPr/>
          <p:nvPr/>
        </p:nvCxnSpPr>
        <p:spPr>
          <a:xfrm>
            <a:off x="4559300" y="2984500"/>
            <a:ext cx="12600" cy="647700"/>
          </a:xfrm>
          <a:prstGeom prst="straightConnector1">
            <a:avLst/>
          </a:prstGeom>
          <a:noFill/>
          <a:ln cap="flat" cmpd="sng" w="16500">
            <a:solidFill>
              <a:srgbClr val="91A3B8"/>
            </a:solidFill>
            <a:prstDash val="solid"/>
            <a:round/>
            <a:headEnd len="med" w="med" type="none"/>
            <a:tailEnd len="med" w="med" type="triangle"/>
          </a:ln>
        </p:spPr>
      </p:cxnSp>
      <p:cxnSp>
        <p:nvCxnSpPr>
          <p:cNvPr id="162" name="Google Shape;162;p21"/>
          <p:cNvCxnSpPr/>
          <p:nvPr/>
        </p:nvCxnSpPr>
        <p:spPr>
          <a:xfrm>
            <a:off x="5892800" y="2921000"/>
            <a:ext cx="292200" cy="12600"/>
          </a:xfrm>
          <a:prstGeom prst="straightConnector1">
            <a:avLst/>
          </a:prstGeom>
          <a:noFill/>
          <a:ln cap="flat" cmpd="sng" w="16500">
            <a:solidFill>
              <a:srgbClr val="91A3B8"/>
            </a:solidFill>
            <a:prstDash val="solid"/>
            <a:round/>
            <a:headEnd len="med" w="med" type="none"/>
            <a:tailEnd len="med" w="med" type="none"/>
          </a:ln>
        </p:spPr>
      </p:cxnSp>
      <p:cxnSp>
        <p:nvCxnSpPr>
          <p:cNvPr id="163" name="Google Shape;163;p21"/>
          <p:cNvCxnSpPr/>
          <p:nvPr/>
        </p:nvCxnSpPr>
        <p:spPr>
          <a:xfrm>
            <a:off x="6184900" y="2921000"/>
            <a:ext cx="12600" cy="1714500"/>
          </a:xfrm>
          <a:prstGeom prst="straightConnector1">
            <a:avLst/>
          </a:prstGeom>
          <a:noFill/>
          <a:ln cap="flat" cmpd="sng" w="16500">
            <a:solidFill>
              <a:srgbClr val="91A3B8"/>
            </a:solidFill>
            <a:prstDash val="solid"/>
            <a:round/>
            <a:headEnd len="med" w="med" type="none"/>
            <a:tailEnd len="med" w="med" type="none"/>
          </a:ln>
        </p:spPr>
      </p:cxnSp>
      <p:cxnSp>
        <p:nvCxnSpPr>
          <p:cNvPr id="164" name="Google Shape;164;p21"/>
          <p:cNvCxnSpPr/>
          <p:nvPr/>
        </p:nvCxnSpPr>
        <p:spPr>
          <a:xfrm>
            <a:off x="6184900" y="4635500"/>
            <a:ext cx="330300" cy="12600"/>
          </a:xfrm>
          <a:prstGeom prst="straightConnector1">
            <a:avLst/>
          </a:prstGeom>
          <a:noFill/>
          <a:ln cap="flat" cmpd="sng" w="16500">
            <a:solidFill>
              <a:srgbClr val="91A3B8"/>
            </a:solidFill>
            <a:prstDash val="solid"/>
            <a:round/>
            <a:headEnd len="med" w="med" type="none"/>
            <a:tailEnd len="med" w="med" type="triangle"/>
          </a:ln>
        </p:spPr>
      </p:cxnSp>
      <p:cxnSp>
        <p:nvCxnSpPr>
          <p:cNvPr id="165" name="Google Shape;165;p21"/>
          <p:cNvCxnSpPr/>
          <p:nvPr/>
        </p:nvCxnSpPr>
        <p:spPr>
          <a:xfrm flipH="1" rot="10800000">
            <a:off x="7670800" y="2133500"/>
            <a:ext cx="12600" cy="216000"/>
          </a:xfrm>
          <a:prstGeom prst="straightConnector1">
            <a:avLst/>
          </a:prstGeom>
          <a:noFill/>
          <a:ln cap="flat" cmpd="sng" w="16500">
            <a:solidFill>
              <a:srgbClr val="91A3B8"/>
            </a:solidFill>
            <a:prstDash val="solid"/>
            <a:round/>
            <a:headEnd len="med" w="med" type="none"/>
            <a:tailEnd len="med" w="med" type="triangle"/>
          </a:ln>
        </p:spPr>
      </p:cxnSp>
      <p:sp>
        <p:nvSpPr>
          <p:cNvPr id="166" name="Google Shape;166;p21"/>
          <p:cNvSpPr/>
          <p:nvPr/>
        </p:nvSpPr>
        <p:spPr>
          <a:xfrm>
            <a:off x="6515100" y="4318000"/>
            <a:ext cx="2311500" cy="6351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GB" sz="1300">
                <a:solidFill>
                  <a:srgbClr val="1F2633"/>
                </a:solidFill>
                <a:latin typeface="Google Sans Flex"/>
                <a:ea typeface="Google Sans Flex"/>
                <a:cs typeface="Google Sans Flex"/>
                <a:sym typeface="Google Sans Flex"/>
              </a:rPr>
              <a:t>Model Armor</a:t>
            </a:r>
            <a:endParaRPr b="1" sz="1300">
              <a:solidFill>
                <a:srgbClr val="1F2633"/>
              </a:solidFill>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200">
                <a:solidFill>
                  <a:srgbClr val="1F2633"/>
                </a:solidFill>
                <a:latin typeface="Google Sans Flex"/>
                <a:ea typeface="Google Sans Flex"/>
                <a:cs typeface="Google Sans Flex"/>
                <a:sym typeface="Google Sans Flex"/>
              </a:rPr>
              <a:t>Input screening</a:t>
            </a:r>
            <a:endParaRPr sz="1200">
              <a:solidFill>
                <a:srgbClr val="1F2633"/>
              </a:solidFill>
              <a:latin typeface="Google Sans Flex"/>
              <a:ea typeface="Google Sans Flex"/>
              <a:cs typeface="Google Sans Flex"/>
              <a:sym typeface="Google Sans Fle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73" name="Google Shape;173;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75" name="Google Shape;175;p22"/>
          <p:cNvSpPr txBox="1"/>
          <p:nvPr/>
        </p:nvSpPr>
        <p:spPr>
          <a:xfrm>
            <a:off x="3429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AI and agent orchestration</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Gemini on Vertex AI: text, image and video</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Google ADK: claim reviewer with evidence tools</a:t>
            </a:r>
            <a:endParaRPr sz="1200">
              <a:solidFill>
                <a:srgbClr val="292B30"/>
              </a:solidFill>
              <a:latin typeface="Google Sans Flex"/>
              <a:ea typeface="Google Sans Flex"/>
              <a:cs typeface="Google Sans Flex"/>
              <a:sym typeface="Google Sans Flex"/>
            </a:endParaRPr>
          </a:p>
        </p:txBody>
      </p:sp>
      <p:sp>
        <p:nvSpPr>
          <p:cNvPr id="176" name="Google Shape;176;p22"/>
          <p:cNvSpPr txBox="1"/>
          <p:nvPr/>
        </p:nvSpPr>
        <p:spPr>
          <a:xfrm>
            <a:off x="3429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Memory and AI screening</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Memory Bank: similar seller decisions</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Model Armor: injection and unsafe-link checks</a:t>
            </a:r>
            <a:endParaRPr sz="1200">
              <a:solidFill>
                <a:srgbClr val="292B30"/>
              </a:solidFill>
              <a:latin typeface="Google Sans Flex"/>
              <a:ea typeface="Google Sans Flex"/>
              <a:cs typeface="Google Sans Flex"/>
              <a:sym typeface="Google Sans Flex"/>
            </a:endParaRPr>
          </a:p>
        </p:txBody>
      </p:sp>
      <p:sp>
        <p:nvSpPr>
          <p:cNvPr id="177" name="Google Shape;177;p22"/>
          <p:cNvSpPr txBox="1"/>
          <p:nvPr/>
        </p:nvSpPr>
        <p:spPr>
          <a:xfrm>
            <a:off x="3429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Application development</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React, TypeScript and Vite: seller dashboard</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Python, FastAPI and Pydantic: backend</a:t>
            </a:r>
            <a:endParaRPr sz="1200">
              <a:solidFill>
                <a:srgbClr val="292B30"/>
              </a:solidFill>
              <a:latin typeface="Google Sans Flex"/>
              <a:ea typeface="Google Sans Flex"/>
              <a:cs typeface="Google Sans Flex"/>
              <a:sym typeface="Google Sans Flex"/>
            </a:endParaRPr>
          </a:p>
        </p:txBody>
      </p:sp>
      <p:sp>
        <p:nvSpPr>
          <p:cNvPr id="178" name="Google Shape;178;p22"/>
          <p:cNvSpPr txBox="1"/>
          <p:nvPr/>
        </p:nvSpPr>
        <p:spPr>
          <a:xfrm>
            <a:off x="47625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Cloud infrastructure and security</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Firebase Hosting and Cloud Run</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Firestore, Cloud Storage, Firebase Auth</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Secret Manager for integration credentials</a:t>
            </a:r>
            <a:endParaRPr sz="1200">
              <a:solidFill>
                <a:srgbClr val="292B30"/>
              </a:solidFill>
              <a:latin typeface="Google Sans Flex"/>
              <a:ea typeface="Google Sans Flex"/>
              <a:cs typeface="Google Sans Flex"/>
              <a:sym typeface="Google Sans Flex"/>
            </a:endParaRPr>
          </a:p>
        </p:txBody>
      </p:sp>
      <p:sp>
        <p:nvSpPr>
          <p:cNvPr id="179" name="Google Shape;179;p22"/>
          <p:cNvSpPr txBox="1"/>
          <p:nvPr/>
        </p:nvSpPr>
        <p:spPr>
          <a:xfrm>
            <a:off x="47625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Commerce integrations</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Messenger Graph API and webhooks</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PayMongo (test), Lalamove (sandbox)</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Google Maps: geocoding and delivery pins</a:t>
            </a:r>
            <a:endParaRPr sz="1200">
              <a:solidFill>
                <a:srgbClr val="292B30"/>
              </a:solidFill>
              <a:latin typeface="Google Sans Flex"/>
              <a:ea typeface="Google Sans Flex"/>
              <a:cs typeface="Google Sans Flex"/>
              <a:sym typeface="Google Sans Flex"/>
            </a:endParaRPr>
          </a:p>
        </p:txBody>
      </p:sp>
      <p:sp>
        <p:nvSpPr>
          <p:cNvPr id="180" name="Google Shape;180;p22"/>
          <p:cNvSpPr txBox="1"/>
          <p:nvPr/>
        </p:nvSpPr>
        <p:spPr>
          <a:xfrm>
            <a:off x="47625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Demo and evaluation</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Gemini Flash-Lite: simulated customers</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Gemini image generation and Veo: samples</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pytest and live Gemini evaluations</a:t>
            </a:r>
            <a:endParaRPr sz="1200">
              <a:solidFill>
                <a:srgbClr val="292B30"/>
              </a:solidFill>
              <a:latin typeface="Google Sans Flex"/>
              <a:ea typeface="Google Sans Flex"/>
              <a:cs typeface="Google Sans Flex"/>
              <a:sym typeface="Google Sans Flex"/>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86" name="Google Shape;186;p23"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87" name="Google Shape;187;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Estimated implementation cost (optional)</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189" name="Google Shape;189;p23"/>
          <p:cNvSpPr txBox="1"/>
          <p:nvPr/>
        </p:nvSpPr>
        <p:spPr>
          <a:xfrm>
            <a:off x="347472" y="1033271"/>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750" u="none" cap="none" strike="noStrike">
                <a:solidFill>
                  <a:srgbClr val="5F6368"/>
                </a:solidFill>
                <a:latin typeface="Google Sans Flex"/>
                <a:ea typeface="Google Sans Flex"/>
                <a:cs typeface="Google Sans Flex"/>
                <a:sym typeface="Google Sans Flex"/>
              </a:rPr>
              <a:t>AI cost measured per action by our evaluation; infrastructure at Google Cloud's list prices for asia-southeast1 (Cloud Billing Catalog, Oct 2026). USD.</a:t>
            </a:r>
            <a:endParaRPr/>
          </a:p>
        </p:txBody>
      </p:sp>
      <p:sp>
        <p:nvSpPr>
          <p:cNvPr id="190" name="Google Shape;190;p23"/>
          <p:cNvSpPr/>
          <p:nvPr/>
        </p:nvSpPr>
        <p:spPr>
          <a:xfrm>
            <a:off x="347472" y="1261872"/>
            <a:ext cx="2009400" cy="7863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1A73E8"/>
                </a:solidFill>
                <a:latin typeface="Google Sans Flex Medium"/>
                <a:ea typeface="Google Sans Flex Medium"/>
                <a:cs typeface="Google Sans Flex Medium"/>
                <a:sym typeface="Google Sans Flex Medium"/>
              </a:rPr>
              <a:t>$0.014</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Gemini per order</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draft with checks, one receipt read, one packing check</a:t>
            </a:r>
            <a:endParaRPr/>
          </a:p>
        </p:txBody>
      </p:sp>
      <p:sp>
        <p:nvSpPr>
          <p:cNvPr id="191" name="Google Shape;191;p23"/>
          <p:cNvSpPr/>
          <p:nvPr/>
        </p:nvSpPr>
        <p:spPr>
          <a:xfrm>
            <a:off x="2494026" y="1261872"/>
            <a:ext cx="2009400" cy="7863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1A73E8"/>
                </a:solidFill>
                <a:latin typeface="Google Sans Flex Medium"/>
                <a:ea typeface="Google Sans Flex Medium"/>
                <a:cs typeface="Google Sans Flex Medium"/>
                <a:sym typeface="Google Sans Flex Medium"/>
              </a:rPr>
              <a:t>$13.6</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a month, always-warm server</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one Cloud Run instance idle at Tier 2 rates; $0 if it scales to zero</a:t>
            </a:r>
            <a:endParaRPr/>
          </a:p>
        </p:txBody>
      </p:sp>
      <p:sp>
        <p:nvSpPr>
          <p:cNvPr id="192" name="Google Shape;192;p23"/>
          <p:cNvSpPr/>
          <p:nvPr/>
        </p:nvSpPr>
        <p:spPr>
          <a:xfrm>
            <a:off x="4640580" y="1261872"/>
            <a:ext cx="2009400" cy="7863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188038"/>
                </a:solidFill>
                <a:latin typeface="Google Sans Flex Medium"/>
                <a:ea typeface="Google Sans Flex Medium"/>
                <a:cs typeface="Google Sans Flex Medium"/>
                <a:sym typeface="Google Sans Flex Medium"/>
              </a:rPr>
              <a:t>~$19</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a month at 300 orders</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a small seller: AI with re-checks and claims, plus the warm instance</a:t>
            </a:r>
            <a:endParaRPr/>
          </a:p>
        </p:txBody>
      </p:sp>
      <p:sp>
        <p:nvSpPr>
          <p:cNvPr id="193" name="Google Shape;193;p23"/>
          <p:cNvSpPr/>
          <p:nvPr/>
        </p:nvSpPr>
        <p:spPr>
          <a:xfrm>
            <a:off x="6787134" y="1261872"/>
            <a:ext cx="2009400" cy="7863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5F6368"/>
                </a:solidFill>
                <a:latin typeface="Google Sans Flex Medium"/>
                <a:ea typeface="Google Sans Flex Medium"/>
                <a:cs typeface="Google Sans Flex Medium"/>
                <a:sym typeface="Google Sans Flex Medium"/>
              </a:rPr>
              <a:t>$30</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a day, demo ceiling</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5,000 AI calls a day for all demo visitors, 250 each</a:t>
            </a:r>
            <a:endParaRPr/>
          </a:p>
        </p:txBody>
      </p:sp>
      <p:sp>
        <p:nvSpPr>
          <p:cNvPr id="194" name="Google Shape;194;p23"/>
          <p:cNvSpPr txBox="1"/>
          <p:nvPr/>
        </p:nvSpPr>
        <p:spPr>
          <a:xfrm>
            <a:off x="347472" y="2212848"/>
            <a:ext cx="40233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950" u="none" cap="none" strike="noStrike">
                <a:solidFill>
                  <a:srgbClr val="202124"/>
                </a:solidFill>
                <a:latin typeface="Google Sans Flex Medium"/>
                <a:ea typeface="Google Sans Flex Medium"/>
                <a:cs typeface="Google Sans Flex Medium"/>
                <a:sym typeface="Google Sans Flex Medium"/>
              </a:rPr>
              <a:t>AI cost per action</a:t>
            </a:r>
            <a:r>
              <a:rPr b="0" i="0" lang="en-GB" sz="750" u="none" cap="none" strike="noStrike">
                <a:solidFill>
                  <a:srgbClr val="5F6368"/>
                </a:solidFill>
                <a:latin typeface="Google Sans Flex"/>
                <a:ea typeface="Google Sans Flex"/>
                <a:cs typeface="Google Sans Flex"/>
                <a:sym typeface="Google Sans Flex"/>
              </a:rPr>
              <a:t>  ·  measured, median</a:t>
            </a:r>
            <a:endParaRPr/>
          </a:p>
        </p:txBody>
      </p:sp>
      <p:graphicFrame>
        <p:nvGraphicFramePr>
          <p:cNvPr id="195" name="Google Shape;195;p23"/>
          <p:cNvGraphicFramePr/>
          <p:nvPr/>
        </p:nvGraphicFramePr>
        <p:xfrm>
          <a:off x="347472" y="2423160"/>
          <a:ext cx="3000000" cy="3000000"/>
        </p:xfrm>
        <a:graphic>
          <a:graphicData uri="http://schemas.openxmlformats.org/drawingml/2006/table">
            <a:tbl>
              <a:tblPr>
                <a:noFill/>
                <a:tableStyleId>{23C7D242-BC95-4C21-88F1-E8C023749159}</a:tableStyleId>
              </a:tblPr>
              <a:tblGrid>
                <a:gridCol w="1783075"/>
                <a:gridCol w="502925"/>
                <a:gridCol w="777250"/>
                <a:gridCol w="685800"/>
              </a:tblGrid>
              <a:tr h="196600">
                <a:tc>
                  <a:txBody>
                    <a:bodyPr/>
                    <a:lstStyle/>
                    <a:p>
                      <a:pPr indent="0" lvl="0" marL="0" marR="0" rtl="0" algn="l">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Action</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Calls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Tokens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Cost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Draft order + checks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2</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2,638</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$0.0057</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GCash receipt read</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1</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1,918</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$0.0044</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Packing photo check</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1</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2,050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$0.0041</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Claim review (ADK agent)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2</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5,965</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$0.0123</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Typical order (first three)</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4</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 </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$0.0142</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bl>
          </a:graphicData>
        </a:graphic>
      </p:graphicFrame>
      <p:sp>
        <p:nvSpPr>
          <p:cNvPr id="196" name="Google Shape;196;p23"/>
          <p:cNvSpPr txBox="1"/>
          <p:nvPr/>
        </p:nvSpPr>
        <p:spPr>
          <a:xfrm>
            <a:off x="347472" y="3675887"/>
            <a:ext cx="37491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Tokens include Gemini's thinking, at gemini-3.8-flash's list price of $1.50 / $7.50 per 1M input / output tokens. Checks run again when the customer writes again, and some orders need a claim review: we budget 1.3× the typical order.</a:t>
            </a:r>
            <a:endParaRPr/>
          </a:p>
        </p:txBody>
      </p:sp>
      <p:sp>
        <p:nvSpPr>
          <p:cNvPr id="197" name="Google Shape;197;p23"/>
          <p:cNvSpPr txBox="1"/>
          <p:nvPr/>
        </p:nvSpPr>
        <p:spPr>
          <a:xfrm>
            <a:off x="4599432" y="2212848"/>
            <a:ext cx="41970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950" u="none" cap="none" strike="noStrike">
                <a:solidFill>
                  <a:srgbClr val="202124"/>
                </a:solidFill>
                <a:latin typeface="Google Sans Flex Medium"/>
                <a:ea typeface="Google Sans Flex Medium"/>
                <a:cs typeface="Google Sans Flex Medium"/>
                <a:sym typeface="Google Sans Flex Medium"/>
              </a:rPr>
              <a:t>Monthly estimate</a:t>
            </a:r>
            <a:r>
              <a:rPr b="0" i="0" lang="en-GB" sz="750" u="none" cap="none" strike="noStrike">
                <a:solidFill>
                  <a:srgbClr val="5F6368"/>
                </a:solidFill>
                <a:latin typeface="Google Sans Flex"/>
                <a:ea typeface="Google Sans Flex"/>
                <a:cs typeface="Google Sans Flex"/>
                <a:sym typeface="Google Sans Flex"/>
              </a:rPr>
              <a:t>  ·  one seller</a:t>
            </a:r>
            <a:endParaRPr/>
          </a:p>
        </p:txBody>
      </p:sp>
      <p:graphicFrame>
        <p:nvGraphicFramePr>
          <p:cNvPr id="198" name="Google Shape;198;p23"/>
          <p:cNvGraphicFramePr/>
          <p:nvPr/>
        </p:nvGraphicFramePr>
        <p:xfrm>
          <a:off x="4599432" y="2423160"/>
          <a:ext cx="3000000" cy="3000000"/>
        </p:xfrm>
        <a:graphic>
          <a:graphicData uri="http://schemas.openxmlformats.org/drawingml/2006/table">
            <a:tbl>
              <a:tblPr>
                <a:noFill/>
                <a:tableStyleId>{23C7D242-BC95-4C21-88F1-E8C023749159}</a:tableStyleId>
              </a:tblPr>
              <a:tblGrid>
                <a:gridCol w="1874525"/>
                <a:gridCol w="1005850"/>
                <a:gridCol w="1133850"/>
              </a:tblGrid>
              <a:tr h="196600">
                <a:tc>
                  <a:txBody>
                    <a:bodyPr/>
                    <a:lstStyle/>
                    <a:p>
                      <a:pPr indent="0" lvl="0" marL="0" marR="0" rtl="0" algn="l">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Item</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300 orders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3,000 orders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Gemini (Vertex AI), 1.3× typical order</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$5.54</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$55.38</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Cloud Run, 1 warm instance</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$13.61</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$13.61</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Cloud Run busy time (estimate)</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free tier</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 $1</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Firestore, Storage, Hosting</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free tier</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free tier</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Secret Manager (10 secrets)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$0.24</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$0.24</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9660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Total</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$19.39</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$69.99</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bl>
          </a:graphicData>
        </a:graphic>
      </p:graphicFrame>
      <p:sp>
        <p:nvSpPr>
          <p:cNvPr id="199" name="Google Shape;199;p23"/>
          <p:cNvSpPr txBox="1"/>
          <p:nvPr/>
        </p:nvSpPr>
        <p:spPr>
          <a:xfrm>
            <a:off x="4599432" y="3886200"/>
            <a:ext cx="4197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Free tiers: Cloud Run (Tier 2) 128,571 vCPU-s and 2M requests a month; Firestore 50,000 reads and 20,000 writes a day, 1 GiB. Busy time assumes about 50 instance-seconds per order.</a:t>
            </a:r>
            <a:endParaRPr/>
          </a:p>
        </p:txBody>
      </p:sp>
      <p:sp>
        <p:nvSpPr>
          <p:cNvPr id="200" name="Google Shape;200;p23"/>
          <p:cNvSpPr/>
          <p:nvPr/>
        </p:nvSpPr>
        <p:spPr>
          <a:xfrm>
            <a:off x="347472" y="4206240"/>
            <a:ext cx="8449200" cy="713100"/>
          </a:xfrm>
          <a:prstGeom prst="roundRect">
            <a:avLst>
              <a:gd fmla="val 8000" name="adj"/>
            </a:avLst>
          </a:prstGeom>
          <a:solidFill>
            <a:srgbClr val="F1F3F4"/>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GB" sz="750" u="none" cap="none" strike="noStrike">
                <a:solidFill>
                  <a:srgbClr val="202124"/>
                </a:solidFill>
                <a:latin typeface="Google Sans Flex"/>
                <a:ea typeface="Google Sans Flex"/>
                <a:cs typeface="Google Sans Flex"/>
                <a:sym typeface="Google Sans Flex"/>
              </a:rPr>
              <a:t>Paid by the seller or customer, not by Suri: </a:t>
            </a:r>
            <a:r>
              <a:rPr b="0" i="0" lang="en-GB" sz="750" u="none" cap="none" strike="noStrike">
                <a:solidFill>
                  <a:srgbClr val="202124"/>
                </a:solidFill>
                <a:latin typeface="Google Sans Flex"/>
                <a:ea typeface="Google Sans Flex"/>
                <a:cs typeface="Google Sans Flex"/>
                <a:sym typeface="Google Sans Flex"/>
              </a:rPr>
              <a:t>PayMongo's transaction fees, Lalamove delivery fees and GCash transfers. Messenger and the Graph API are free.</a:t>
            </a:r>
            <a:endParaRPr/>
          </a:p>
          <a:p>
            <a:pPr indent="0" lvl="0" marL="0" marR="0" rtl="0" algn="l">
              <a:lnSpc>
                <a:spcPct val="100000"/>
              </a:lnSpc>
              <a:spcBef>
                <a:spcPts val="300"/>
              </a:spcBef>
              <a:spcAft>
                <a:spcPts val="0"/>
              </a:spcAft>
              <a:buNone/>
            </a:pPr>
            <a:r>
              <a:rPr b="1" i="0" lang="en-GB" sz="750" u="none" cap="none" strike="noStrike">
                <a:solidFill>
                  <a:srgbClr val="202124"/>
                </a:solidFill>
                <a:latin typeface="Google Sans Flex"/>
                <a:ea typeface="Google Sans Flex"/>
                <a:cs typeface="Google Sans Flex"/>
                <a:sym typeface="Google Sans Flex"/>
              </a:rPr>
              <a:t>Ways to cut it: </a:t>
            </a:r>
            <a:r>
              <a:rPr b="0" i="0" lang="en-GB" sz="750" u="none" cap="none" strike="noStrike">
                <a:solidFill>
                  <a:srgbClr val="202124"/>
                </a:solidFill>
                <a:latin typeface="Google Sans Flex"/>
                <a:ea typeface="Google Sans Flex"/>
                <a:cs typeface="Google Sans Flex"/>
                <a:sym typeface="Google Sans Flex"/>
              </a:rPr>
              <a:t>scale to zero outside selling hours ($13.6 less a month, with a cold start); Flex or batch pricing for non-urgent checks halves the Gemini price; cached checks already avoid repeat calls when a chat is opened again.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06" name="Google Shape;206;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207" name="Google Shape;207;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14" name="Google Shape;214;p25"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215" name="Google Shape;215;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Google Sans Flex Medium"/>
                <a:ea typeface="Google Sans Flex Medium"/>
                <a:cs typeface="Google Sans Flex Medium"/>
                <a:sym typeface="Google Sans Flex Medium"/>
              </a:rPr>
              <a:t>Prototype Performance report/Benchmarking</a:t>
            </a:r>
            <a:endParaRPr b="0" i="0" sz="1600" u="none" cap="none" strike="noStrike">
              <a:solidFill>
                <a:srgbClr val="000000"/>
              </a:solidFill>
              <a:latin typeface="Google Sans Flex Medium"/>
              <a:ea typeface="Google Sans Flex Medium"/>
              <a:cs typeface="Google Sans Flex Medium"/>
              <a:sym typeface="Google Sans Flex Medium"/>
            </a:endParaRPr>
          </a:p>
        </p:txBody>
      </p:sp>
      <p:sp>
        <p:nvSpPr>
          <p:cNvPr id="217" name="Google Shape;217;p25"/>
          <p:cNvSpPr txBox="1"/>
          <p:nvPr/>
        </p:nvSpPr>
        <p:spPr>
          <a:xfrm>
            <a:off x="347472" y="1033271"/>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750" u="none" cap="none" strike="noStrike">
                <a:solidFill>
                  <a:srgbClr val="5F6368"/>
                </a:solidFill>
                <a:latin typeface="Google Sans Flex"/>
                <a:ea typeface="Google Sans Flex"/>
                <a:cs typeface="Google Sans Flex"/>
                <a:sym typeface="Google Sans Flex"/>
              </a:rPr>
              <a:t>Deployed prototype (Cloud Run + Firebase Hosting) and make eval: 84 synthetic cases × 3 runs, scored in code. Gemini on Vertex AI (gemini-3.8-flash). Eval run 2026-10-18 12:55 UTC.</a:t>
            </a:r>
            <a:endParaRPr/>
          </a:p>
        </p:txBody>
      </p:sp>
      <p:sp>
        <p:nvSpPr>
          <p:cNvPr id="218" name="Google Shape;218;p25"/>
          <p:cNvSpPr/>
          <p:nvPr/>
        </p:nvSpPr>
        <p:spPr>
          <a:xfrm>
            <a:off x="347472" y="1261872"/>
            <a:ext cx="2009400" cy="7131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188038"/>
                </a:solidFill>
                <a:latin typeface="Google Sans Flex Medium"/>
                <a:ea typeface="Google Sans Flex Medium"/>
                <a:cs typeface="Google Sans Flex Medium"/>
                <a:sym typeface="Google Sans Flex Medium"/>
              </a:rPr>
              <a:t>57/57</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risky messages caught</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checks before shipping; 0 false alarms in 129 runs</a:t>
            </a:r>
            <a:endParaRPr/>
          </a:p>
        </p:txBody>
      </p:sp>
      <p:sp>
        <p:nvSpPr>
          <p:cNvPr id="219" name="Google Shape;219;p25"/>
          <p:cNvSpPr/>
          <p:nvPr/>
        </p:nvSpPr>
        <p:spPr>
          <a:xfrm>
            <a:off x="2494026" y="1261872"/>
            <a:ext cx="2009400" cy="7131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188038"/>
                </a:solidFill>
                <a:latin typeface="Google Sans Flex Medium"/>
                <a:ea typeface="Google Sans Flex Medium"/>
                <a:cs typeface="Google Sans Flex Medium"/>
                <a:sym typeface="Google Sans Flex Medium"/>
              </a:rPr>
              <a:t>0</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unsafe outcomes</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customer value in an order, false packing match, planted receipt text passed</a:t>
            </a:r>
            <a:endParaRPr/>
          </a:p>
        </p:txBody>
      </p:sp>
      <p:sp>
        <p:nvSpPr>
          <p:cNvPr id="220" name="Google Shape;220;p25"/>
          <p:cNvSpPr/>
          <p:nvPr/>
        </p:nvSpPr>
        <p:spPr>
          <a:xfrm>
            <a:off x="4640580" y="1261872"/>
            <a:ext cx="2009400" cy="7131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1A73E8"/>
                </a:solidFill>
                <a:latin typeface="Google Sans Flex Medium"/>
                <a:ea typeface="Google Sans Flex Medium"/>
                <a:cs typeface="Google Sans Flex Medium"/>
                <a:sym typeface="Google Sans Flex Medium"/>
              </a:rPr>
              <a:t>3.1 s</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checks, end to end</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median, live app; draft order 5.8 s</a:t>
            </a:r>
            <a:endParaRPr/>
          </a:p>
        </p:txBody>
      </p:sp>
      <p:sp>
        <p:nvSpPr>
          <p:cNvPr id="221" name="Google Shape;221;p25"/>
          <p:cNvSpPr/>
          <p:nvPr/>
        </p:nvSpPr>
        <p:spPr>
          <a:xfrm>
            <a:off x="6787134" y="1261872"/>
            <a:ext cx="2009400" cy="713100"/>
          </a:xfrm>
          <a:prstGeom prst="roundRect">
            <a:avLst>
              <a:gd fmla="val 8000" name="adj"/>
            </a:avLst>
          </a:prstGeom>
          <a:solidFill>
            <a:srgbClr val="F1F3F4"/>
          </a:solidFill>
          <a:ln>
            <a:no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b="0" i="0" lang="en-GB" sz="1700" u="none" cap="none" strike="noStrike">
                <a:solidFill>
                  <a:srgbClr val="1A73E8"/>
                </a:solidFill>
                <a:latin typeface="Google Sans Flex Medium"/>
                <a:ea typeface="Google Sans Flex Medium"/>
                <a:cs typeface="Google Sans Flex Medium"/>
                <a:sym typeface="Google Sans Flex Medium"/>
              </a:rPr>
              <a:t>$0.0057</a:t>
            </a:r>
            <a:endParaRPr/>
          </a:p>
          <a:p>
            <a:pPr indent="0" lvl="0" marL="0" marR="0" rtl="0" algn="l">
              <a:lnSpc>
                <a:spcPct val="100000"/>
              </a:lnSpc>
              <a:spcBef>
                <a:spcPts val="0"/>
              </a:spcBef>
              <a:spcAft>
                <a:spcPts val="0"/>
              </a:spcAft>
              <a:buNone/>
            </a:pPr>
            <a:r>
              <a:rPr b="0" i="0" lang="en-GB" sz="850" u="none" cap="none" strike="noStrike">
                <a:solidFill>
                  <a:srgbClr val="202124"/>
                </a:solidFill>
                <a:latin typeface="Google Sans Flex Medium"/>
                <a:ea typeface="Google Sans Flex Medium"/>
                <a:cs typeface="Google Sans Flex Medium"/>
                <a:sym typeface="Google Sans Flex Medium"/>
              </a:rPr>
              <a:t>Gemini cost per action</a:t>
            </a:r>
            <a:endParaRPr/>
          </a:p>
          <a:p>
            <a:pPr indent="0" lvl="0" marL="0" marR="0" rtl="0" algn="l">
              <a:lnSpc>
                <a:spcPct val="100000"/>
              </a:lnSpc>
              <a:spcBef>
                <a:spcPts val="0"/>
              </a:spcBef>
              <a:spcAft>
                <a:spcPts val="0"/>
              </a:spcAft>
              <a:buNone/>
            </a:pPr>
            <a:r>
              <a:rPr b="0" i="0" lang="en-GB" sz="700" u="none" cap="none" strike="noStrike">
                <a:solidFill>
                  <a:srgbClr val="5F6368"/>
                </a:solidFill>
                <a:latin typeface="Google Sans Flex"/>
                <a:ea typeface="Google Sans Flex"/>
                <a:cs typeface="Google Sans Flex"/>
                <a:sym typeface="Google Sans Flex"/>
              </a:rPr>
              <a:t>median, draft + checks; claim review $0.0123</a:t>
            </a:r>
            <a:endParaRPr/>
          </a:p>
        </p:txBody>
      </p:sp>
      <p:sp>
        <p:nvSpPr>
          <p:cNvPr id="222" name="Google Shape;222;p25"/>
          <p:cNvSpPr txBox="1"/>
          <p:nvPr/>
        </p:nvSpPr>
        <p:spPr>
          <a:xfrm>
            <a:off x="347472" y="2075688"/>
            <a:ext cx="38862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950" u="none" cap="none" strike="noStrike">
                <a:solidFill>
                  <a:srgbClr val="202124"/>
                </a:solidFill>
                <a:latin typeface="Google Sans Flex Medium"/>
                <a:ea typeface="Google Sans Flex Medium"/>
                <a:cs typeface="Google Sans Flex Medium"/>
                <a:sym typeface="Google Sans Flex Medium"/>
              </a:rPr>
              <a:t>AI accuracy</a:t>
            </a:r>
            <a:r>
              <a:rPr b="0" i="0" lang="en-GB" sz="750" u="none" cap="none" strike="noStrike">
                <a:solidFill>
                  <a:srgbClr val="5F6368"/>
                </a:solidFill>
                <a:latin typeface="Google Sans Flex"/>
                <a:ea typeface="Google Sans Flex"/>
                <a:cs typeface="Google Sans Flex"/>
                <a:sym typeface="Google Sans Flex"/>
              </a:rPr>
              <a:t>  ·  gemini-3.8-flash, 3 runs per case</a:t>
            </a:r>
            <a:endParaRPr/>
          </a:p>
        </p:txBody>
      </p:sp>
      <p:graphicFrame>
        <p:nvGraphicFramePr>
          <p:cNvPr id="223" name="Google Shape;223;p25"/>
          <p:cNvGraphicFramePr/>
          <p:nvPr/>
        </p:nvGraphicFramePr>
        <p:xfrm>
          <a:off x="347472" y="2286000"/>
          <a:ext cx="3000000" cy="3000000"/>
        </p:xfrm>
        <a:graphic>
          <a:graphicData uri="http://schemas.openxmlformats.org/drawingml/2006/table">
            <a:tbl>
              <a:tblPr>
                <a:noFill/>
                <a:tableStyleId>{23C7D242-BC95-4C21-88F1-E8C023749159}</a:tableStyleId>
              </a:tblPr>
              <a:tblGrid>
                <a:gridCol w="1280150"/>
                <a:gridCol w="1645925"/>
                <a:gridCol w="960125"/>
              </a:tblGrid>
              <a:tr h="187450">
                <a:tc>
                  <a:txBody>
                    <a:bodyPr/>
                    <a:lstStyle/>
                    <a:p>
                      <a:pPr indent="0" lvl="0" marL="0" marR="0" rtl="0" algn="l">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Task (cases)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l">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Measure</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50" u="none" cap="none" strike="noStrike">
                          <a:solidFill>
                            <a:srgbClr val="5F6368"/>
                          </a:solidFill>
                          <a:latin typeface="Google Sans Flex"/>
                          <a:ea typeface="Google Sans Flex"/>
                          <a:cs typeface="Google Sans Flex"/>
                          <a:sym typeface="Google Sans Flex"/>
                        </a:rPr>
                        <a:t>Result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r>
              <a:tr h="187450">
                <a:tc rowSpan="3">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Chat → order (43)</a:t>
                      </a:r>
                      <a:endParaRPr/>
                    </a:p>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 </a:t>
                      </a:r>
                      <a:endParaRPr/>
                    </a:p>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 </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Fields correct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951/954 (100%)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vMerge="1"/>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Checks caught / false alarms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57/57 / 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vMerge="1"/>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Injection: customer value used</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Claim review (17)</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Acceptable action</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51/51 (100%)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Packing photos (20)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Line result / false match</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66/66 / 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GCash receipts (4)</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GB" sz="800" u="none" cap="none" strike="noStrike">
                          <a:solidFill>
                            <a:srgbClr val="202124"/>
                          </a:solidFill>
                          <a:latin typeface="Google Sans Flex"/>
                          <a:ea typeface="Google Sans Flex"/>
                          <a:cs typeface="Google Sans Flex"/>
                          <a:sym typeface="Google Sans Flex"/>
                        </a:rPr>
                        <a:t>Checks / planted text passed</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1" lang="en-GB" sz="800" u="none" cap="none" strike="noStrike">
                          <a:solidFill>
                            <a:srgbClr val="188038"/>
                          </a:solidFill>
                          <a:latin typeface="Google Sans Flex"/>
                          <a:ea typeface="Google Sans Flex"/>
                          <a:cs typeface="Google Sans Flex"/>
                          <a:sym typeface="Google Sans Flex"/>
                        </a:rPr>
                        <a:t>12/12 / 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bl>
          </a:graphicData>
        </a:graphic>
      </p:graphicFrame>
      <p:sp>
        <p:nvSpPr>
          <p:cNvPr id="224" name="Google Shape;224;p25"/>
          <p:cNvSpPr txBox="1"/>
          <p:nvPr/>
        </p:nvSpPr>
        <p:spPr>
          <a:xfrm>
            <a:off x="4370832" y="2075688"/>
            <a:ext cx="44256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950" u="none" cap="none" strike="noStrike">
                <a:solidFill>
                  <a:srgbClr val="202124"/>
                </a:solidFill>
                <a:latin typeface="Google Sans Flex Medium"/>
                <a:ea typeface="Google Sans Flex Medium"/>
                <a:cs typeface="Google Sans Flex Medium"/>
                <a:sym typeface="Google Sans Flex Medium"/>
              </a:rPr>
              <a:t>Speed, tokens and cost per AI action</a:t>
            </a:r>
            <a:r>
              <a:rPr b="0" i="0" lang="en-GB" sz="750" u="none" cap="none" strike="noStrike">
                <a:solidFill>
                  <a:srgbClr val="5F6368"/>
                </a:solidFill>
                <a:latin typeface="Google Sans Flex"/>
                <a:ea typeface="Google Sans Flex"/>
                <a:cs typeface="Google Sans Flex"/>
                <a:sym typeface="Google Sans Flex"/>
              </a:rPr>
              <a:t>  ·  p50 / p95</a:t>
            </a:r>
            <a:endParaRPr/>
          </a:p>
        </p:txBody>
      </p:sp>
      <p:graphicFrame>
        <p:nvGraphicFramePr>
          <p:cNvPr id="225" name="Google Shape;225;p25"/>
          <p:cNvGraphicFramePr/>
          <p:nvPr/>
        </p:nvGraphicFramePr>
        <p:xfrm>
          <a:off x="4370832" y="2286000"/>
          <a:ext cx="3000000" cy="3000000"/>
        </p:xfrm>
        <a:graphic>
          <a:graphicData uri="http://schemas.openxmlformats.org/drawingml/2006/table">
            <a:tbl>
              <a:tblPr>
                <a:noFill/>
                <a:tableStyleId>{23C7D242-BC95-4C21-88F1-E8C023749159}</a:tableStyleId>
              </a:tblPr>
              <a:tblGrid>
                <a:gridCol w="1261875"/>
                <a:gridCol w="914400"/>
                <a:gridCol w="1042425"/>
                <a:gridCol w="566925"/>
                <a:gridCol w="640075"/>
              </a:tblGrid>
              <a:tr h="187450">
                <a:tc>
                  <a:txBody>
                    <a:bodyPr/>
                    <a:lstStyle/>
                    <a:p>
                      <a:pPr indent="0" lvl="0" marL="0" marR="0" rtl="0" algn="l">
                        <a:lnSpc>
                          <a:spcPct val="100000"/>
                        </a:lnSpc>
                        <a:spcBef>
                          <a:spcPts val="0"/>
                        </a:spcBef>
                        <a:spcAft>
                          <a:spcPts val="0"/>
                        </a:spcAft>
                        <a:buNone/>
                      </a:pPr>
                      <a:r>
                        <a:rPr b="0" lang="en-GB" sz="700" u="none" cap="none" strike="noStrike">
                          <a:solidFill>
                            <a:srgbClr val="5F6368"/>
                          </a:solidFill>
                          <a:latin typeface="Google Sans Flex"/>
                          <a:ea typeface="Google Sans Flex"/>
                          <a:cs typeface="Google Sans Flex"/>
                          <a:sym typeface="Google Sans Flex"/>
                        </a:rPr>
                        <a:t>Action</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00" u="none" cap="none" strike="noStrike">
                          <a:solidFill>
                            <a:srgbClr val="5F6368"/>
                          </a:solidFill>
                          <a:latin typeface="Google Sans Flex"/>
                          <a:ea typeface="Google Sans Flex"/>
                          <a:cs typeface="Google Sans Flex"/>
                          <a:sym typeface="Google Sans Flex"/>
                        </a:rPr>
                        <a:t>Live app</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00" u="none" cap="none" strike="noStrike">
                          <a:solidFill>
                            <a:srgbClr val="5F6368"/>
                          </a:solidFill>
                          <a:latin typeface="Google Sans Flex"/>
                          <a:ea typeface="Google Sans Flex"/>
                          <a:cs typeface="Google Sans Flex"/>
                          <a:sym typeface="Google Sans Flex"/>
                        </a:rPr>
                        <a:t>Model only (eval)</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00" u="none" cap="none" strike="noStrike">
                          <a:solidFill>
                            <a:srgbClr val="5F6368"/>
                          </a:solidFill>
                          <a:latin typeface="Google Sans Flex"/>
                          <a:ea typeface="Google Sans Flex"/>
                          <a:cs typeface="Google Sans Flex"/>
                          <a:sym typeface="Google Sans Flex"/>
                        </a:rPr>
                        <a:t>Tokens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c>
                  <a:txBody>
                    <a:bodyPr/>
                    <a:lstStyle/>
                    <a:p>
                      <a:pPr indent="0" lvl="0" marL="0" marR="0" rtl="0" algn="r">
                        <a:lnSpc>
                          <a:spcPct val="100000"/>
                        </a:lnSpc>
                        <a:spcBef>
                          <a:spcPts val="0"/>
                        </a:spcBef>
                        <a:spcAft>
                          <a:spcPts val="0"/>
                        </a:spcAft>
                        <a:buNone/>
                      </a:pPr>
                      <a:r>
                        <a:rPr b="0" lang="en-GB" sz="700" u="none" cap="none" strike="noStrike">
                          <a:solidFill>
                            <a:srgbClr val="5F6368"/>
                          </a:solidFill>
                          <a:latin typeface="Google Sans Flex"/>
                          <a:ea typeface="Google Sans Flex"/>
                          <a:cs typeface="Google Sans Flex"/>
                          <a:sym typeface="Google Sans Flex"/>
                        </a:rPr>
                        <a:t>Cost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1F3F4"/>
                    </a:solidFill>
                  </a:tcPr>
                </a:tc>
              </a:tr>
              <a:tr h="187450">
                <a:tc>
                  <a:txBody>
                    <a:bodyPr/>
                    <a:lstStyle/>
                    <a:p>
                      <a:pPr indent="0" lvl="0" marL="0" marR="0" rtl="0" algn="l">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Draft order</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5.8 s / 8.6 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rowSpan="2">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3.2 s / 10.9 s (both)</a:t>
                      </a:r>
                      <a:endParaRPr/>
                    </a:p>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 </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rowSpan="2">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2,638</a:t>
                      </a:r>
                      <a:endParaRPr/>
                    </a:p>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 </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rowSpan="2">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$0.0057</a:t>
                      </a:r>
                      <a:endParaRPr/>
                    </a:p>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 </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a:txBody>
                    <a:bodyPr/>
                    <a:lstStyle/>
                    <a:p>
                      <a:pPr indent="0" lvl="0" marL="0" marR="0" rtl="0" algn="l">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Checks before shipping</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3.1 s / 9.9 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vMerge="1"/>
                <a:tc vMerge="1"/>
                <a:tc vMerge="1"/>
              </a:tr>
              <a:tr h="187450">
                <a:tc>
                  <a:txBody>
                    <a:bodyPr/>
                    <a:lstStyle/>
                    <a:p>
                      <a:pPr indent="0" lvl="0" marL="0" marR="0" rtl="0" algn="l">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Packing photo check</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3.8 s / 8.4 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2,050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$0.0041</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a:txBody>
                    <a:bodyPr/>
                    <a:lstStyle/>
                    <a:p>
                      <a:pPr indent="0" lvl="0" marL="0" marR="0" rtl="0" algn="l">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Claim review (agent)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10.4 s p50</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15.0 s / 44.8 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5,965</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$0.0123</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a:txBody>
                    <a:bodyPr/>
                    <a:lstStyle/>
                    <a:p>
                      <a:pPr indent="0" lvl="0" marL="0" marR="0" rtl="0" algn="l">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GCash receipt read</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3.4 s / 11.9 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1,918</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$0.0044</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alpha val="0"/>
                        </a:srgbClr>
                      </a:solidFill>
                      <a:prstDash val="solid"/>
                      <a:round/>
                      <a:headEnd len="sm" w="sm" type="none"/>
                      <a:tailEnd len="sm" w="sm" type="none"/>
                    </a:lnB>
                    <a:solidFill>
                      <a:srgbClr val="FFFFFF"/>
                    </a:solidFill>
                  </a:tcPr>
                </a:tc>
              </a:tr>
              <a:tr h="187450">
                <a:tc>
                  <a:txBody>
                    <a:bodyPr/>
                    <a:lstStyle/>
                    <a:p>
                      <a:pPr indent="0" lvl="0" marL="0" marR="0" rtl="0" algn="l">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AI customer (Flash-Lite)</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1.2 s / 1.3 s</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None/>
                      </a:pPr>
                      <a:r>
                        <a:rPr b="0" lang="en-GB" sz="750" u="none" cap="none" strike="noStrike">
                          <a:solidFill>
                            <a:srgbClr val="202124"/>
                          </a:solidFill>
                          <a:latin typeface="Google Sans Flex"/>
                          <a:ea typeface="Google Sans Flex"/>
                          <a:cs typeface="Google Sans Flex"/>
                          <a:sym typeface="Google Sans Flex"/>
                        </a:rPr>
                        <a:t>–</a:t>
                      </a:r>
                      <a:endParaRPr/>
                    </a:p>
                  </a:txBody>
                  <a:tcPr marT="9150" marB="91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ADCE0">
                          <a:alpha val="0"/>
                        </a:srgbClr>
                      </a:solidFill>
                      <a:prstDash val="solid"/>
                      <a:round/>
                      <a:headEnd len="sm" w="sm" type="none"/>
                      <a:tailEnd len="sm" w="sm" type="none"/>
                    </a:lnT>
                    <a:lnB cap="flat" cmpd="sng" w="9525">
                      <a:solidFill>
                        <a:srgbClr val="DADCE0"/>
                      </a:solidFill>
                      <a:prstDash val="solid"/>
                      <a:round/>
                      <a:headEnd len="sm" w="sm" type="none"/>
                      <a:tailEnd len="sm" w="sm" type="none"/>
                    </a:lnB>
                    <a:solidFill>
                      <a:srgbClr val="FFFFFF"/>
                    </a:solidFill>
                  </a:tcPr>
                </a:tc>
              </a:tr>
            </a:tbl>
          </a:graphicData>
        </a:graphic>
      </p:graphicFrame>
      <p:sp>
        <p:nvSpPr>
          <p:cNvPr id="226" name="Google Shape;226;p25"/>
          <p:cNvSpPr txBox="1"/>
          <p:nvPr/>
        </p:nvSpPr>
        <p:spPr>
          <a:xfrm>
            <a:off x="347472" y="3685032"/>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GB" sz="750" u="none" cap="none" strike="noStrike">
                <a:solidFill>
                  <a:srgbClr val="202124"/>
                </a:solidFill>
                <a:latin typeface="Google Sans Flex"/>
                <a:ea typeface="Google Sans Flex"/>
                <a:cs typeface="Google Sans Flex"/>
                <a:sym typeface="Google Sans Flex"/>
              </a:rPr>
              <a:t>Without AI: </a:t>
            </a:r>
            <a:r>
              <a:rPr b="0" i="0" lang="en-GB" sz="750" u="none" cap="none" strike="noStrike">
                <a:solidFill>
                  <a:srgbClr val="5F6368"/>
                </a:solidFill>
                <a:latin typeface="Google Sans Flex"/>
                <a:ea typeface="Google Sans Flex"/>
                <a:cs typeface="Google Sans Flex"/>
                <a:sym typeface="Google Sans Flex"/>
              </a:rPr>
              <a:t>pages 0.2 s–0.5 s p50; one warm 1-vCPU instance served 11.5 req/s at 10 concurrent users and 13.3 at 25, 0 errors in 600 requests.</a:t>
            </a:r>
            <a:endParaRPr/>
          </a:p>
        </p:txBody>
      </p:sp>
      <p:sp>
        <p:nvSpPr>
          <p:cNvPr id="227" name="Google Shape;227;p25"/>
          <p:cNvSpPr/>
          <p:nvPr/>
        </p:nvSpPr>
        <p:spPr>
          <a:xfrm>
            <a:off x="347472" y="3922776"/>
            <a:ext cx="2743200" cy="1024200"/>
          </a:xfrm>
          <a:prstGeom prst="roundRect">
            <a:avLst>
              <a:gd fmla="val 8000" name="adj"/>
            </a:avLst>
          </a:prstGeom>
          <a:solidFill>
            <a:srgbClr val="F1F3F4"/>
          </a:solidFill>
          <a:ln>
            <a:no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b="0" i="0" lang="en-GB" sz="800" u="none" cap="none" strike="noStrike">
                <a:solidFill>
                  <a:srgbClr val="202124"/>
                </a:solidFill>
                <a:latin typeface="Google Sans Flex Medium"/>
                <a:ea typeface="Google Sans Flex Medium"/>
                <a:cs typeface="Google Sans Flex Medium"/>
                <a:sym typeface="Google Sans Flex Medium"/>
              </a:rPr>
              <a:t>Environment and method</a:t>
            </a:r>
            <a:endParaRPr/>
          </a:p>
          <a:p>
            <a:pPr indent="0" lvl="0" marL="0" marR="0" rtl="0" algn="l">
              <a:lnSpc>
                <a:spcPct val="100000"/>
              </a:lnSpc>
              <a:spcBef>
                <a:spcPts val="200"/>
              </a:spcBef>
              <a:spcAft>
                <a:spcPts val="0"/>
              </a:spcAft>
              <a:buNone/>
            </a:pPr>
            <a:r>
              <a:rPr b="1" i="0" lang="en-GB" sz="650" u="none" cap="none" strike="noStrike">
                <a:solidFill>
                  <a:srgbClr val="202124"/>
                </a:solidFill>
                <a:latin typeface="Google Sans Flex"/>
                <a:ea typeface="Google Sans Flex"/>
                <a:cs typeface="Google Sans Flex"/>
                <a:sym typeface="Google Sans Flex"/>
              </a:rPr>
              <a:t>App: </a:t>
            </a:r>
            <a:r>
              <a:rPr b="0" i="0" lang="en-GB" sz="650" u="none" cap="none" strike="noStrike">
                <a:solidFill>
                  <a:srgbClr val="202124"/>
                </a:solidFill>
                <a:latin typeface="Google Sans Flex"/>
                <a:ea typeface="Google Sans Flex"/>
                <a:cs typeface="Google Sans Flex"/>
                <a:sym typeface="Google Sans Flex"/>
              </a:rPr>
              <a:t>Cloud Run asia-southeast1, 1 vCPU, 512 MiB, 1 warm instance; Firestore, Cloud Storage; Firebase Hosting.</a:t>
            </a:r>
            <a:endParaRPr/>
          </a:p>
          <a:p>
            <a:pPr indent="0" lvl="0" marL="0" marR="0" rtl="0" algn="l">
              <a:lnSpc>
                <a:spcPct val="100000"/>
              </a:lnSpc>
              <a:spcBef>
                <a:spcPts val="200"/>
              </a:spcBef>
              <a:spcAft>
                <a:spcPts val="0"/>
              </a:spcAft>
              <a:buNone/>
            </a:pPr>
            <a:r>
              <a:rPr b="1" i="0" lang="en-GB" sz="650" u="none" cap="none" strike="noStrike">
                <a:solidFill>
                  <a:srgbClr val="202124"/>
                </a:solidFill>
                <a:latin typeface="Google Sans Flex"/>
                <a:ea typeface="Google Sans Flex"/>
                <a:cs typeface="Google Sans Flex"/>
                <a:sym typeface="Google Sans Flex"/>
              </a:rPr>
              <a:t>Live: </a:t>
            </a:r>
            <a:r>
              <a:rPr b="0" i="0" lang="en-GB" sz="650" u="none" cap="none" strike="noStrike">
                <a:solidFill>
                  <a:srgbClr val="202124"/>
                </a:solidFill>
                <a:latin typeface="Google Sans Flex"/>
                <a:ea typeface="Google Sans Flex"/>
                <a:cs typeface="Google Sans Flex"/>
                <a:sym typeface="Google Sans Flex"/>
              </a:rPr>
              <a:t>a laptop over the internet as new demo visitors; AI actions 5× each on fresh visitors, pages 20×, 200 requests at 1/10/25 users.</a:t>
            </a:r>
            <a:endParaRPr/>
          </a:p>
          <a:p>
            <a:pPr indent="0" lvl="0" marL="0" marR="0" rtl="0" algn="l">
              <a:lnSpc>
                <a:spcPct val="100000"/>
              </a:lnSpc>
              <a:spcBef>
                <a:spcPts val="200"/>
              </a:spcBef>
              <a:spcAft>
                <a:spcPts val="0"/>
              </a:spcAft>
              <a:buNone/>
            </a:pPr>
            <a:r>
              <a:rPr b="1" i="0" lang="en-GB" sz="650" u="none" cap="none" strike="noStrike">
                <a:solidFill>
                  <a:srgbClr val="202124"/>
                </a:solidFill>
                <a:latin typeface="Google Sans Flex"/>
                <a:ea typeface="Google Sans Flex"/>
                <a:cs typeface="Google Sans Flex"/>
                <a:sym typeface="Google Sans Flex"/>
              </a:rPr>
              <a:t>Tokens: </a:t>
            </a:r>
            <a:r>
              <a:rPr b="0" i="0" lang="en-GB" sz="650" u="none" cap="none" strike="noStrike">
                <a:solidFill>
                  <a:srgbClr val="202124"/>
                </a:solidFill>
                <a:latin typeface="Google Sans Flex"/>
                <a:ea typeface="Google Sans Flex"/>
                <a:cs typeface="Google Sans Flex"/>
                <a:sym typeface="Google Sans Flex"/>
              </a:rPr>
              <a:t>Vertex usage metadata, thinking included, at list price $1.50 / $7.50 per 1M in / out.</a:t>
            </a:r>
            <a:endParaRPr/>
          </a:p>
        </p:txBody>
      </p:sp>
      <p:sp>
        <p:nvSpPr>
          <p:cNvPr id="228" name="Google Shape;228;p25"/>
          <p:cNvSpPr/>
          <p:nvPr/>
        </p:nvSpPr>
        <p:spPr>
          <a:xfrm>
            <a:off x="3200400" y="3922776"/>
            <a:ext cx="2743200" cy="1024200"/>
          </a:xfrm>
          <a:prstGeom prst="roundRect">
            <a:avLst>
              <a:gd fmla="val 8000" name="adj"/>
            </a:avLst>
          </a:prstGeom>
          <a:solidFill>
            <a:srgbClr val="F1F3F4"/>
          </a:solidFill>
          <a:ln>
            <a:no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b="0" i="0" lang="en-GB" sz="800" u="none" cap="none" strike="noStrike">
                <a:solidFill>
                  <a:srgbClr val="202124"/>
                </a:solidFill>
                <a:latin typeface="Google Sans Flex Medium"/>
                <a:ea typeface="Google Sans Flex Medium"/>
                <a:cs typeface="Google Sans Flex Medium"/>
                <a:sym typeface="Google Sans Flex Medium"/>
              </a:rPr>
              <a:t>Constraints we hit</a:t>
            </a:r>
            <a:endParaRPr/>
          </a:p>
          <a:p>
            <a:pPr indent="0" lvl="0" marL="0" marR="0" rtl="0" algn="l">
              <a:lnSpc>
                <a:spcPct val="100000"/>
              </a:lnSpc>
              <a:spcBef>
                <a:spcPts val="200"/>
              </a:spcBef>
              <a:spcAft>
                <a:spcPts val="0"/>
              </a:spcAft>
              <a:buNone/>
            </a:pPr>
            <a:r>
              <a:rPr b="1" i="0" lang="en-GB" sz="650" u="none" cap="none" strike="noStrike">
                <a:solidFill>
                  <a:srgbClr val="202124"/>
                </a:solidFill>
                <a:latin typeface="Google Sans Flex"/>
                <a:ea typeface="Google Sans Flex"/>
                <a:cs typeface="Google Sans Flex"/>
                <a:sym typeface="Google Sans Flex"/>
              </a:rPr>
              <a:t>Quotas: </a:t>
            </a:r>
            <a:r>
              <a:rPr b="0" i="0" lang="en-GB" sz="650" u="none" cap="none" strike="noStrike">
                <a:solidFill>
                  <a:srgbClr val="202124"/>
                </a:solidFill>
                <a:latin typeface="Google Sans Flex"/>
                <a:ea typeface="Google Sans Flex"/>
                <a:cs typeface="Google Sans Flex"/>
                <a:sym typeface="Google Sans Flex"/>
              </a:rPr>
              <a:t>Vertex AI pay-as-you-go, default quotas; no free-tier or raised limits assumed.</a:t>
            </a:r>
            <a:endParaRPr/>
          </a:p>
          <a:p>
            <a:pPr indent="0" lvl="0" marL="0" marR="0" rtl="0" algn="l">
              <a:lnSpc>
                <a:spcPct val="100000"/>
              </a:lnSpc>
              <a:spcBef>
                <a:spcPts val="200"/>
              </a:spcBef>
              <a:spcAft>
                <a:spcPts val="0"/>
              </a:spcAft>
              <a:buNone/>
            </a:pPr>
            <a:r>
              <a:rPr b="1" i="0" lang="en-GB" sz="650" u="none" cap="none" strike="noStrike">
                <a:solidFill>
                  <a:srgbClr val="202124"/>
                </a:solidFill>
                <a:latin typeface="Google Sans Flex"/>
                <a:ea typeface="Google Sans Flex"/>
                <a:cs typeface="Google Sans Flex"/>
                <a:sym typeface="Google Sans Flex"/>
              </a:rPr>
              <a:t>429: </a:t>
            </a:r>
            <a:r>
              <a:rPr b="0" i="0" lang="en-GB" sz="650" u="none" cap="none" strike="noStrike">
                <a:solidFill>
                  <a:srgbClr val="202124"/>
                </a:solidFill>
                <a:latin typeface="Google Sans Flex"/>
                <a:ea typeface="Google Sans Flex"/>
                <a:cs typeface="Google Sans Flex"/>
                <a:sym typeface="Google Sans Flex"/>
              </a:rPr>
              <a:t>8 parallel eval workers hit RESOURCE_EXHAUSTED, so evals run 4 at a time.</a:t>
            </a:r>
            <a:endParaRPr/>
          </a:p>
          <a:p>
            <a:pPr indent="0" lvl="0" marL="0" marR="0" rtl="0" algn="l">
              <a:lnSpc>
                <a:spcPct val="100000"/>
              </a:lnSpc>
              <a:spcBef>
                <a:spcPts val="200"/>
              </a:spcBef>
              <a:spcAft>
                <a:spcPts val="0"/>
              </a:spcAft>
              <a:buNone/>
            </a:pPr>
            <a:r>
              <a:rPr b="1" i="0" lang="en-GB" sz="650" u="none" cap="none" strike="noStrike">
                <a:solidFill>
                  <a:srgbClr val="202124"/>
                </a:solidFill>
                <a:latin typeface="Google Sans Flex"/>
                <a:ea typeface="Google Sans Flex"/>
                <a:cs typeface="Google Sans Flex"/>
                <a:sym typeface="Google Sans Flex"/>
              </a:rPr>
              <a:t>504: </a:t>
            </a:r>
            <a:r>
              <a:rPr b="0" i="0" lang="en-GB" sz="650" u="none" cap="none" strike="noStrike">
                <a:solidFill>
                  <a:srgbClr val="202124"/>
                </a:solidFill>
                <a:latin typeface="Google Sans Flex"/>
                <a:ea typeface="Google Sans Flex"/>
                <a:cs typeface="Google Sans Flex"/>
                <a:sym typeface="Google Sans Flex"/>
              </a:rPr>
              <a:t>Vertex sometimes times out under load: a 90 s timeout per call, one retry on chat actions; demo capped at 5,000 AI calls a day.</a:t>
            </a:r>
            <a:endParaRPr/>
          </a:p>
        </p:txBody>
      </p:sp>
      <p:sp>
        <p:nvSpPr>
          <p:cNvPr id="229" name="Google Shape;229;p25"/>
          <p:cNvSpPr/>
          <p:nvPr/>
        </p:nvSpPr>
        <p:spPr>
          <a:xfrm>
            <a:off x="6053328" y="3922776"/>
            <a:ext cx="2743200" cy="1024200"/>
          </a:xfrm>
          <a:prstGeom prst="roundRect">
            <a:avLst>
              <a:gd fmla="val 8000" name="adj"/>
            </a:avLst>
          </a:prstGeom>
          <a:solidFill>
            <a:srgbClr val="F1F3F4"/>
          </a:solidFill>
          <a:ln>
            <a:no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b="0" i="0" lang="en-GB" sz="800" u="none" cap="none" strike="noStrike">
                <a:solidFill>
                  <a:srgbClr val="202124"/>
                </a:solidFill>
                <a:latin typeface="Google Sans Flex Medium"/>
                <a:ea typeface="Google Sans Flex Medium"/>
                <a:cs typeface="Google Sans Flex Medium"/>
                <a:sym typeface="Google Sans Flex Medium"/>
              </a:rPr>
              <a:t>How we keep it fast</a:t>
            </a:r>
            <a:endParaRPr/>
          </a:p>
          <a:p>
            <a:pPr indent="0" lvl="0" marL="0" marR="0" rtl="0" algn="l">
              <a:lnSpc>
                <a:spcPct val="100000"/>
              </a:lnSpc>
              <a:spcBef>
                <a:spcPts val="200"/>
              </a:spcBef>
              <a:spcAft>
                <a:spcPts val="0"/>
              </a:spcAft>
              <a:buNone/>
            </a:pPr>
            <a:r>
              <a:rPr b="0" i="0" lang="en-GB" sz="650" u="none" cap="none" strike="noStrike">
                <a:solidFill>
                  <a:srgbClr val="202124"/>
                </a:solidFill>
                <a:latin typeface="Google Sans Flex"/>
                <a:ea typeface="Google Sans Flex"/>
                <a:cs typeface="Google Sans Flex"/>
                <a:sym typeface="Google Sans Flex"/>
              </a:rPr>
              <a:t>Checks run once per new customer message and are stored; briefs are cached; the claim agent runs on low thinking.</a:t>
            </a:r>
            <a:endParaRPr/>
          </a:p>
          <a:p>
            <a:pPr indent="0" lvl="0" marL="0" marR="0" rtl="0" algn="l">
              <a:lnSpc>
                <a:spcPct val="100000"/>
              </a:lnSpc>
              <a:spcBef>
                <a:spcPts val="200"/>
              </a:spcBef>
              <a:spcAft>
                <a:spcPts val="0"/>
              </a:spcAft>
              <a:buNone/>
            </a:pPr>
            <a:r>
              <a:rPr b="0" i="0" lang="en-GB" sz="650" u="none" cap="none" strike="noStrike">
                <a:solidFill>
                  <a:srgbClr val="202124"/>
                </a:solidFill>
                <a:latin typeface="Google Sans Flex"/>
                <a:ea typeface="Google Sans Flex"/>
                <a:cs typeface="Google Sans Flex"/>
                <a:sym typeface="Google Sans Flex"/>
              </a:rPr>
              <a:t>AI calls go straight to Cloud Run (300 s), past Hosting's 60 s limit; 1 warm instance, 30 requests each.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35" name="Google Shape;235;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236" name="Google Shape;236;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26"/>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238" name="Google Shape;238;p26"/>
          <p:cNvSpPr txBox="1"/>
          <p:nvPr/>
        </p:nvSpPr>
        <p:spPr>
          <a:xfrm>
            <a:off x="3429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Learning from resolved claims</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Use seller corrections and resolved outcomes to</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improve recall and propose packing lessons.</a:t>
            </a:r>
            <a:endParaRPr sz="1200">
              <a:solidFill>
                <a:srgbClr val="292B30"/>
              </a:solidFill>
              <a:latin typeface="Google Sans Flex"/>
              <a:ea typeface="Google Sans Flex"/>
              <a:cs typeface="Google Sans Flex"/>
              <a:sym typeface="Google Sans Flex"/>
            </a:endParaRPr>
          </a:p>
        </p:txBody>
      </p:sp>
      <p:sp>
        <p:nvSpPr>
          <p:cNvPr id="239" name="Google Shape;239;p26"/>
          <p:cNvSpPr txBox="1"/>
          <p:nvPr/>
        </p:nvSpPr>
        <p:spPr>
          <a:xfrm>
            <a:off x="3429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Conversational shopping</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Help customers discover products, choose variants</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and build orders using the seller’s catalog and stock.</a:t>
            </a:r>
            <a:endParaRPr sz="1200">
              <a:solidFill>
                <a:srgbClr val="292B30"/>
              </a:solidFill>
              <a:latin typeface="Google Sans Flex"/>
              <a:ea typeface="Google Sans Flex"/>
              <a:cs typeface="Google Sans Flex"/>
              <a:sym typeface="Google Sans Flex"/>
            </a:endParaRPr>
          </a:p>
        </p:txBody>
      </p:sp>
      <p:sp>
        <p:nvSpPr>
          <p:cNvPr id="240" name="Google Shape;240;p26"/>
          <p:cNvSpPr txBox="1"/>
          <p:nvPr/>
        </p:nvSpPr>
        <p:spPr>
          <a:xfrm>
            <a:off x="3429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Customer and sales insights</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Surface demand, common questions, repeat purchases</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and customer-stated reasons for abandoned orders.</a:t>
            </a:r>
            <a:endParaRPr sz="1200">
              <a:solidFill>
                <a:srgbClr val="292B30"/>
              </a:solidFill>
              <a:latin typeface="Google Sans Flex"/>
              <a:ea typeface="Google Sans Flex"/>
              <a:cs typeface="Google Sans Flex"/>
              <a:sym typeface="Google Sans Flex"/>
            </a:endParaRPr>
          </a:p>
        </p:txBody>
      </p:sp>
      <p:sp>
        <p:nvSpPr>
          <p:cNvPr id="241" name="Google Shape;241;p26"/>
          <p:cNvSpPr txBox="1"/>
          <p:nvPr/>
        </p:nvSpPr>
        <p:spPr>
          <a:xfrm>
            <a:off x="47625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Production and payment integrations</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Pilot with sellers and add provider-confirmed</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payments and reconciliation. Explore direct GCash</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access, subject to partner approval.</a:t>
            </a:r>
            <a:endParaRPr sz="1200">
              <a:solidFill>
                <a:srgbClr val="292B30"/>
              </a:solidFill>
              <a:latin typeface="Google Sans Flex"/>
              <a:ea typeface="Google Sans Flex"/>
              <a:cs typeface="Google Sans Flex"/>
              <a:sym typeface="Google Sans Flex"/>
            </a:endParaRPr>
          </a:p>
        </p:txBody>
      </p:sp>
      <p:sp>
        <p:nvSpPr>
          <p:cNvPr id="242" name="Google Shape;242;p26"/>
          <p:cNvSpPr txBox="1"/>
          <p:nvPr/>
        </p:nvSpPr>
        <p:spPr>
          <a:xfrm>
            <a:off x="47625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GB">
                <a:latin typeface="Google Sans Flex"/>
                <a:ea typeface="Google Sans Flex"/>
                <a:cs typeface="Google Sans Flex"/>
                <a:sym typeface="Google Sans Flex"/>
              </a:rPr>
              <a:t>Multi-store onboarding and team access</a:t>
            </a:r>
            <a:endParaRPr b="1">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solidFill>
                  <a:srgbClr val="292B30"/>
                </a:solidFill>
                <a:latin typeface="Google Sans Flex"/>
                <a:ea typeface="Google Sans Flex"/>
                <a:cs typeface="Google Sans Flex"/>
                <a:sym typeface="Google Sans Flex"/>
              </a:rPr>
              <a:t>Add store onboarding and staff permissions.</a:t>
            </a:r>
            <a:endParaRPr sz="1200">
              <a:solidFill>
                <a:srgbClr val="292B30"/>
              </a:solidFill>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solidFill>
                  <a:srgbClr val="292B30"/>
                </a:solidFill>
                <a:latin typeface="Google Sans Flex"/>
                <a:ea typeface="Google Sans Flex"/>
                <a:cs typeface="Google Sans Flex"/>
                <a:sym typeface="Google Sans Flex"/>
              </a:rPr>
              <a:t>Keep each store’s records and memories isolated.</a:t>
            </a:r>
            <a:endParaRPr sz="1200">
              <a:solidFill>
                <a:srgbClr val="292B30"/>
              </a:solidFill>
              <a:latin typeface="Google Sans Flex"/>
              <a:ea typeface="Google Sans Flex"/>
              <a:cs typeface="Google Sans Flex"/>
              <a:sym typeface="Google Sans Flex"/>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48" name="Google Shape;248;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249" name="Google Shape;249;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7"/>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 - https://github.com/kevsoriano/servermaya</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 - http://servermaya-ai-builder-cup.web.app/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56" name="Google Shape;256;p2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257" name="Google Shape;257;p2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2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63" name="Google Shape;263;p29"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