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lang="en-GB" sz="1800">
                <a:latin typeface="Google Sans Flex"/>
                <a:ea typeface="Google Sans Flex"/>
                <a:cs typeface="Google Sans Flex"/>
                <a:sym typeface="Google Sans Flex"/>
              </a:rPr>
              <a:t>ServerMaya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lang="en-GB" sz="1800">
                <a:latin typeface="Google Sans Flex"/>
                <a:ea typeface="Google Sans Flex"/>
                <a:cs typeface="Google Sans Flex"/>
                <a:sym typeface="Google Sans Flex"/>
              </a:rPr>
              <a:t>Jan Beatrix Escarda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lang="en-GB" sz="1300">
                <a:latin typeface="Google Sans Flex"/>
                <a:ea typeface="Google Sans Flex"/>
                <a:cs typeface="Google Sans Flex"/>
                <a:sym typeface="Google Sans Flex"/>
              </a:rPr>
              <a:t>Southeast Asia lost up to US$23.6B to scams and fraud in 2024 (ASEAN Foundation). Small sellers face fake receipts and disputed deliveries. Records split across chats, payment apps and couriers make claims hard to check before shipping or refunding. Source: https://aseanfoundation.org/programme/scam-ready-asean/</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Google Shape;72;p15"/>
          <p:cNvSpPr txBox="1"/>
          <p:nvPr/>
        </p:nvSpPr>
        <p:spPr>
          <a:xfrm>
            <a:off x="342900" y="1017963"/>
            <a:ext cx="84582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800">
                <a:latin typeface="Google Sans Flex Medium"/>
                <a:ea typeface="Google Sans Flex Medium"/>
                <a:cs typeface="Google Sans Flex Medium"/>
                <a:sym typeface="Google Sans Flex Medium"/>
              </a:rPr>
              <a:t>SURI: Seller Understanding, Risk &amp; Insights</a:t>
            </a:r>
            <a:endParaRPr sz="18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An AI assistant for small sellers taking orders through Messenger.</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Helps sellers check payment claims and complaints against order records,</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packing photos and delivery proofs. Starting with the Philippines.</a:t>
            </a:r>
            <a:endParaRPr sz="1200">
              <a:latin typeface="Google Sans Flex"/>
              <a:ea typeface="Google Sans Flex"/>
              <a:cs typeface="Google Sans Flex"/>
              <a:sym typeface="Google Sans Flex"/>
            </a:endParaRPr>
          </a:p>
        </p:txBody>
      </p:sp>
      <p:sp>
        <p:nvSpPr>
          <p:cNvPr id="73" name="Google Shape;73;p15"/>
          <p:cNvSpPr txBox="1"/>
          <p:nvPr/>
        </p:nvSpPr>
        <p:spPr>
          <a:xfrm>
            <a:off x="342900" y="2478463"/>
            <a:ext cx="39369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The problem</a:t>
            </a:r>
            <a:endParaRPr sz="14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Fake receipts and disputed deliveries can</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cost sellers goods or refunds. Records split</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across apps make claims hard to check.</a:t>
            </a:r>
            <a:endParaRPr sz="1200">
              <a:latin typeface="Google Sans Flex"/>
              <a:ea typeface="Google Sans Flex"/>
              <a:cs typeface="Google Sans Flex"/>
              <a:sym typeface="Google Sans Flex"/>
            </a:endParaRPr>
          </a:p>
        </p:txBody>
      </p:sp>
      <p:sp>
        <p:nvSpPr>
          <p:cNvPr id="74" name="Google Shape;74;p15"/>
          <p:cNvSpPr txBox="1"/>
          <p:nvPr/>
        </p:nvSpPr>
        <p:spPr>
          <a:xfrm>
            <a:off x="4762500" y="2478463"/>
            <a:ext cx="40386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The solution</a:t>
            </a:r>
            <a:endParaRPr sz="14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AI reads chats, receipts and visual evidence.</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It highlights conflicts and missing proof,</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so sellers can check before shipping or refunding.</a:t>
            </a:r>
            <a:endParaRPr sz="1200">
              <a:latin typeface="Google Sans Flex"/>
              <a:ea typeface="Google Sans Flex"/>
              <a:cs typeface="Google Sans Flex"/>
              <a:sym typeface="Google Sans Flex"/>
            </a:endParaRPr>
          </a:p>
        </p:txBody>
      </p:sp>
      <p:sp>
        <p:nvSpPr>
          <p:cNvPr id="75" name="Google Shape;75;p15"/>
          <p:cNvSpPr txBox="1"/>
          <p:nvPr/>
        </p:nvSpPr>
        <p:spPr>
          <a:xfrm>
            <a:off x="342900" y="3837363"/>
            <a:ext cx="84582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Regional scale</a:t>
            </a:r>
            <a:endParaRPr sz="14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Southeast Asia lost up to US$23.6B to scams and fraud in 2024.</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Source: https://aseanfoundation.org/programme/scam-ready-asean/</a:t>
            </a:r>
            <a:endParaRPr sz="1200">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7871100" cy="35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0" lvl="0" marL="457200" rtl="0" algn="l">
              <a:spcBef>
                <a:spcPts val="0"/>
              </a:spcBef>
              <a:spcAft>
                <a:spcPts val="0"/>
              </a:spcAft>
              <a:buNone/>
            </a:pPr>
            <a:r>
              <a:rPr lang="en-GB" sz="1100">
                <a:latin typeface="Google Sans Flex"/>
                <a:ea typeface="Google Sans Flex"/>
                <a:cs typeface="Google Sans Flex"/>
                <a:sym typeface="Google Sans Flex"/>
              </a:rPr>
              <a:t>Meta warns about scams, Manychat helps businesses sell through chat, and Chargeflow handles card payment disputes. Our app goes beyond flagging a suspicious message: it checks the buyer’s claim against payment records, packing photos and delivery proofs, shows where the evidence conflicts, and recommends what the seller should check next.</a:t>
            </a:r>
            <a:endParaRPr sz="11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0" lvl="0" marL="457200" rtl="0" algn="l">
              <a:spcBef>
                <a:spcPts val="0"/>
              </a:spcBef>
              <a:spcAft>
                <a:spcPts val="0"/>
              </a:spcAft>
              <a:buNone/>
            </a:pPr>
            <a:r>
              <a:rPr lang="en-GB" sz="1100">
                <a:latin typeface="Google Sans Flex"/>
                <a:ea typeface="Google Sans Flex"/>
                <a:cs typeface="Google Sans Flex"/>
                <a:sym typeface="Google Sans Flex"/>
              </a:rPr>
              <a:t>If a buyer says “I already paid” or “an item is missing,” the seller can check that claim against the order’s records. The app also flags pressure to ship before payment is confirmed. Across orders, it highlights reused payment references, repeated complaints and damage linked to a product or courier. Each flag points to records the seller can check. It does not automatically label anyone a fraudster.</a:t>
            </a:r>
            <a:endParaRPr sz="11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457200" rtl="0" algn="l">
              <a:spcBef>
                <a:spcPts val="0"/>
              </a:spcBef>
              <a:spcAft>
                <a:spcPts val="0"/>
              </a:spcAft>
              <a:buNone/>
            </a:pPr>
            <a:r>
              <a:rPr lang="en-GB" sz="1100">
                <a:latin typeface="Google Sans Flex"/>
                <a:ea typeface="Google Sans Flex"/>
                <a:cs typeface="Google Sans Flex"/>
                <a:sym typeface="Google Sans Flex"/>
              </a:rPr>
              <a:t>Built for small sellers who manage orders in chat, payments in a wallet app and deliveries through a courier. It brings those records together so sellers can check before shipping or refunding. The first version uses Messenger, GCash, PayMongo and Lalamove.</a:t>
            </a:r>
            <a:endParaRPr sz="1100">
              <a:latin typeface="Google Sans Flex"/>
              <a:ea typeface="Google Sans Flex"/>
              <a:cs typeface="Google Sans Flex"/>
              <a:sym typeface="Google Sans Flex"/>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Google Shape;103;p18"/>
          <p:cNvSpPr txBox="1"/>
          <p:nvPr/>
        </p:nvSpPr>
        <p:spPr>
          <a:xfrm>
            <a:off x="342900" y="14732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Conversation understanding</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Extracts Messenger orders and flags conflicting details, suspicious requests or pressure to ship.</a:t>
            </a:r>
            <a:endParaRPr sz="1200">
              <a:latin typeface="Google Sans Flex"/>
              <a:ea typeface="Google Sans Flex"/>
              <a:cs typeface="Google Sans Flex"/>
              <a:sym typeface="Google Sans Flex"/>
            </a:endParaRPr>
          </a:p>
        </p:txBody>
      </p:sp>
      <p:sp>
        <p:nvSpPr>
          <p:cNvPr id="89" name="Google Shape;104;p18"/>
          <p:cNvSpPr txBox="1"/>
          <p:nvPr/>
        </p:nvSpPr>
        <p:spPr>
          <a:xfrm>
            <a:off x="342900" y="25781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Customer history summaries</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Summarizes previous orders, payments and claims for the seller.</a:t>
            </a:r>
            <a:endParaRPr sz="1200">
              <a:latin typeface="Google Sans Flex"/>
              <a:ea typeface="Google Sans Flex"/>
              <a:cs typeface="Google Sans Flex"/>
              <a:sym typeface="Google Sans Flex"/>
            </a:endParaRPr>
          </a:p>
        </p:txBody>
      </p:sp>
      <p:sp>
        <p:nvSpPr>
          <p:cNvPr id="90" name="Google Shape;105;p18"/>
          <p:cNvSpPr txBox="1"/>
          <p:nvPr/>
        </p:nvSpPr>
        <p:spPr>
          <a:xfrm>
            <a:off x="342900" y="36830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Packing review</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Compares packing photos with confirmed items and product references to spot mismatches.</a:t>
            </a:r>
            <a:endParaRPr sz="1200">
              <a:latin typeface="Google Sans Flex"/>
              <a:ea typeface="Google Sans Flex"/>
              <a:cs typeface="Google Sans Flex"/>
              <a:sym typeface="Google Sans Flex"/>
            </a:endParaRPr>
          </a:p>
        </p:txBody>
      </p:sp>
      <p:sp>
        <p:nvSpPr>
          <p:cNvPr id="91" name="Google Shape;106;p18"/>
          <p:cNvSpPr txBox="1"/>
          <p:nvPr/>
        </p:nvSpPr>
        <p:spPr>
          <a:xfrm>
            <a:off x="4762500" y="14732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Visual evidence analysis</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Reads receipt screenshots for payment checks and reviews delivery and unboxing media for condition, label matches and evidence gaps.</a:t>
            </a:r>
            <a:endParaRPr sz="1200">
              <a:latin typeface="Google Sans Flex"/>
              <a:ea typeface="Google Sans Flex"/>
              <a:cs typeface="Google Sans Flex"/>
              <a:sym typeface="Google Sans Flex"/>
            </a:endParaRPr>
          </a:p>
        </p:txBody>
      </p:sp>
      <p:sp>
        <p:nvSpPr>
          <p:cNvPr id="92" name="Google Shape;107;p18"/>
          <p:cNvSpPr txBox="1"/>
          <p:nvPr/>
        </p:nvSpPr>
        <p:spPr>
          <a:xfrm>
            <a:off x="4762500" y="25781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Claim review and recommendations</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Compares complaints with order records and recommends next steps with evidence citations.</a:t>
            </a:r>
            <a:endParaRPr sz="1200">
              <a:latin typeface="Google Sans Flex"/>
              <a:ea typeface="Google Sans Flex"/>
              <a:cs typeface="Google Sans Flex"/>
              <a:sym typeface="Google Sans Flex"/>
            </a:endParaRPr>
          </a:p>
        </p:txBody>
      </p:sp>
      <p:sp>
        <p:nvSpPr>
          <p:cNvPr id="93" name="Google Shape;108;p18"/>
          <p:cNvSpPr txBox="1"/>
          <p:nvPr/>
        </p:nvSpPr>
        <p:spPr>
          <a:xfrm>
            <a:off x="4762500" y="36830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Past-decision recall</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Uses Memory Bank to retrieve similar seller decisions and suggest consistent responses.</a:t>
            </a:r>
            <a:endParaRPr sz="1200">
              <a:latin typeface="Google Sans Flex"/>
              <a:ea typeface="Google Sans Flex"/>
              <a:cs typeface="Google Sans Flex"/>
              <a:sym typeface="Google Sans Flex"/>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Google Shape;117;p19"/>
          <p:cNvSpPr/>
          <p:nvPr/>
        </p:nvSpPr>
        <p:spPr>
          <a:xfrm>
            <a:off x="355600" y="13970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1  Capture and confirm</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AI drafts the Messenger order.</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Seller reviews, customer confirms.</a:t>
            </a:r>
            <a:endParaRPr sz="1100">
              <a:latin typeface="Google Sans Flex"/>
              <a:ea typeface="Google Sans Flex"/>
              <a:cs typeface="Google Sans Flex"/>
              <a:sym typeface="Google Sans Flex"/>
            </a:endParaRPr>
          </a:p>
        </p:txBody>
      </p:sp>
      <p:sp>
        <p:nvSpPr>
          <p:cNvPr id="97" name="Google Shape;118;p19"/>
          <p:cNvSpPr/>
          <p:nvPr/>
        </p:nvSpPr>
        <p:spPr>
          <a:xfrm>
            <a:off x="3314700" y="1397000"/>
            <a:ext cx="25146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2  Check payment</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PayMongo verifies payment, or</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seller reconciles GCash history.</a:t>
            </a:r>
            <a:endParaRPr sz="1100">
              <a:latin typeface="Google Sans Flex"/>
              <a:ea typeface="Google Sans Flex"/>
              <a:cs typeface="Google Sans Flex"/>
              <a:sym typeface="Google Sans Flex"/>
            </a:endParaRPr>
          </a:p>
        </p:txBody>
      </p:sp>
      <p:sp>
        <p:nvSpPr>
          <p:cNvPr id="98" name="Google Shape;119;p19"/>
          <p:cNvSpPr/>
          <p:nvPr/>
        </p:nvSpPr>
        <p:spPr>
          <a:xfrm>
            <a:off x="6273800" y="13970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3  Review packing</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AI checks photos and videos.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Seller resolves gaps before dispatch.</a:t>
            </a:r>
            <a:endParaRPr sz="1100">
              <a:latin typeface="Google Sans Flex"/>
              <a:ea typeface="Google Sans Flex"/>
              <a:cs typeface="Google Sans Flex"/>
              <a:sym typeface="Google Sans Flex"/>
            </a:endParaRPr>
          </a:p>
        </p:txBody>
      </p:sp>
      <p:sp>
        <p:nvSpPr>
          <p:cNvPr id="99" name="Google Shape;120;p19"/>
          <p:cNvSpPr/>
          <p:nvPr/>
        </p:nvSpPr>
        <p:spPr>
          <a:xfrm>
            <a:off x="6273800" y="2933700"/>
            <a:ext cx="25146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4  Deliver and receive</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Book courier, track delivery proofs.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Customer confirms receipt.</a:t>
            </a:r>
            <a:endParaRPr sz="1100">
              <a:latin typeface="Google Sans Flex"/>
              <a:ea typeface="Google Sans Flex"/>
              <a:cs typeface="Google Sans Flex"/>
              <a:sym typeface="Google Sans Flex"/>
            </a:endParaRPr>
          </a:p>
        </p:txBody>
      </p:sp>
      <p:sp>
        <p:nvSpPr>
          <p:cNvPr id="100" name="Google Shape;121;p19"/>
          <p:cNvSpPr/>
          <p:nvPr/>
        </p:nvSpPr>
        <p:spPr>
          <a:xfrm>
            <a:off x="3314700" y="29337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5  Review any claim</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AI compares the evidence and</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recalls similar seller decisions.</a:t>
            </a:r>
            <a:endParaRPr sz="1100">
              <a:latin typeface="Google Sans Flex"/>
              <a:ea typeface="Google Sans Flex"/>
              <a:cs typeface="Google Sans Flex"/>
              <a:sym typeface="Google Sans Flex"/>
            </a:endParaRPr>
          </a:p>
        </p:txBody>
      </p:sp>
      <p:sp>
        <p:nvSpPr>
          <p:cNvPr id="101" name="Google Shape;122;p19"/>
          <p:cNvSpPr/>
          <p:nvPr/>
        </p:nvSpPr>
        <p:spPr>
          <a:xfrm>
            <a:off x="355600" y="2933700"/>
            <a:ext cx="2514600" cy="914400"/>
          </a:xfrm>
          <a:prstGeom prst="roundRect">
            <a:avLst>
              <a:gd fmla="val 16667" name="adj"/>
            </a:avLst>
          </a:prstGeom>
          <a:solidFill>
            <a:srgbClr val="E5F5EB"/>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6  Resolution and patterns</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Seller approves the action.</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Update history and patterns.</a:t>
            </a:r>
            <a:endParaRPr sz="1100">
              <a:latin typeface="Google Sans Flex"/>
              <a:ea typeface="Google Sans Flex"/>
              <a:cs typeface="Google Sans Flex"/>
              <a:sym typeface="Google Sans Flex"/>
            </a:endParaRPr>
          </a:p>
        </p:txBody>
      </p:sp>
      <p:cxnSp>
        <p:nvCxnSpPr>
          <p:cNvPr id="102" name="Google Shape;123;p19"/>
          <p:cNvCxnSpPr/>
          <p:nvPr/>
        </p:nvCxnSpPr>
        <p:spPr>
          <a:xfrm>
            <a:off x="2870200" y="18542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03" name="Google Shape;124;p19"/>
          <p:cNvCxnSpPr/>
          <p:nvPr/>
        </p:nvCxnSpPr>
        <p:spPr>
          <a:xfrm>
            <a:off x="5829300" y="18542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04" name="Google Shape;125;p19"/>
          <p:cNvCxnSpPr/>
          <p:nvPr/>
        </p:nvCxnSpPr>
        <p:spPr>
          <a:xfrm>
            <a:off x="7531100" y="2311400"/>
            <a:ext cx="12600" cy="622200"/>
          </a:xfrm>
          <a:prstGeom prst="straightConnector1">
            <a:avLst/>
          </a:prstGeom>
          <a:noFill/>
          <a:ln cap="flat" cmpd="sng" w="16500">
            <a:solidFill>
              <a:srgbClr val="91A3B8"/>
            </a:solidFill>
            <a:prstDash val="solid"/>
            <a:round/>
            <a:headEnd len="med" w="med" type="none"/>
            <a:tailEnd len="med" w="med" type="triangle"/>
          </a:ln>
        </p:spPr>
      </p:cxnSp>
      <p:cxnSp>
        <p:nvCxnSpPr>
          <p:cNvPr id="105" name="Google Shape;126;p19"/>
          <p:cNvCxnSpPr/>
          <p:nvPr/>
        </p:nvCxnSpPr>
        <p:spPr>
          <a:xfrm flipH="1">
            <a:off x="5829200" y="33909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06" name="Google Shape;127;p19"/>
          <p:cNvCxnSpPr/>
          <p:nvPr/>
        </p:nvCxnSpPr>
        <p:spPr>
          <a:xfrm flipH="1">
            <a:off x="2870100" y="3390900"/>
            <a:ext cx="444600" cy="12600"/>
          </a:xfrm>
          <a:prstGeom prst="straightConnector1">
            <a:avLst/>
          </a:prstGeom>
          <a:noFill/>
          <a:ln cap="flat" cmpd="sng" w="16500">
            <a:solidFill>
              <a:srgbClr val="91A3B8"/>
            </a:solidFill>
            <a:prstDash val="solid"/>
            <a:round/>
            <a:headEnd len="med" w="med" type="none"/>
            <a:tailEnd len="med" w="med" type="triangle"/>
          </a:ln>
        </p:spPr>
      </p:cxnSp>
      <p:sp>
        <p:nvSpPr>
          <p:cNvPr id="107" name="Google Shape;128;p19"/>
          <p:cNvSpPr/>
          <p:nvPr/>
        </p:nvSpPr>
        <p:spPr>
          <a:xfrm>
            <a:off x="1016000" y="4203700"/>
            <a:ext cx="7112100" cy="546000"/>
          </a:xfrm>
          <a:prstGeom prst="roundRect">
            <a:avLst>
              <a:gd fmla="val 16667" name="adj"/>
            </a:avLst>
          </a:prstGeom>
          <a:solidFill>
            <a:srgbClr val="FFFF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Checks stay under seller control</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Unclear evidence prompts clarification. Refunds and replacements require seller action.</a:t>
            </a:r>
            <a:endParaRPr sz="1100">
              <a:latin typeface="Google Sans Flex"/>
              <a:ea typeface="Google Sans Flex"/>
              <a:cs typeface="Google Sans Flex"/>
              <a:sym typeface="Google Sans Flex"/>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301" name="Shape 301"/>
          <p:cNvSpPr txBox="1"/>
          <p:nvPr/>
        </p:nvSpPr>
        <p:spPr>
          <a:xfrm>
            <a:off x="347472" y="1078992"/>
            <a:ext cx="5413248" cy="201168"/>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Conversations</a:t>
            </a:r>
            <a:endParaRPr lang="en-GB" sz="1100"/>
          </a:p>
        </p:txBody>
      </p:sp>
      <p:sp>
        <p:nvSpPr>
          <p:cNvPr id="302" name="Shape 302"/>
          <p:cNvSpPr txBox="1"/>
          <p:nvPr/>
        </p:nvSpPr>
        <p:spPr>
          <a:xfrm>
            <a:off x="347472" y="1261872"/>
            <a:ext cx="5413248" cy="18288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50" dirty="0">
                <a:solidFill>
                  <a:srgbClr val="5B6678"/>
                </a:solidFill>
                <a:latin typeface="Google Sans Flex"/>
                <a:ea typeface="Google Sans Flex"/>
                <a:cs typeface="Google Sans Flex"/>
                <a:sym typeface="Google Sans Flex"/>
              </a:rPr>
              <a:t>The seller works each chat with the AI's reading of it beside it</a:t>
            </a:r>
            <a:endParaRPr lang="en-GB" sz="850"/>
          </a:p>
        </p:txBody>
      </p:sp>
      <p:sp>
        <p:nvSpPr>
          <p:cNvPr id="303" name="Shape 303"/>
          <p:cNvSpPr/>
          <p:nvPr/>
        </p:nvSpPr>
        <p:spPr>
          <a:xfrm>
            <a:off x="347472" y="1463040"/>
            <a:ext cx="5413248" cy="3090672"/>
          </a:xfrm>
          <a:prstGeom prst="roundRect">
            <a:avLst>
              <a:gd name="adj" fmla="val 3000"/>
            </a:avLst>
          </a:prstGeom>
          <a:solidFill>
            <a:srgbClr val="FFFFFF"/>
          </a:solidFill>
          <a:ln w="8900">
            <a:solidFill>
              <a:srgbClr val="91A3B8"/>
            </a:solidFill>
            <a:prstDash val="solid"/>
          </a:ln>
        </p:spPr>
        <p:txBody>
          <a:bodyPr wrap="square" lIns="36576" tIns="36576" rIns="36576" bIns="36576" anchor="t" rtlCol="0">
            <a:noAutofit/>
          </a:bodyPr>
          <a:lstStyle/>
          <a:p>
            <a:pPr marL="0" indent="0" algn="l">
              <a:spcBef>
                <a:spcPts val="0"/>
              </a:spcBef>
              <a:buNone/>
            </a:pPr>
            <a:endParaRPr lang="en-GB" sz="800"/>
          </a:p>
        </p:txBody>
      </p:sp>
      <p:sp>
        <p:nvSpPr>
          <p:cNvPr id="304" name="Shape 304"/>
          <p:cNvSpPr/>
          <p:nvPr/>
        </p:nvSpPr>
        <p:spPr>
          <a:xfrm>
            <a:off x="347472" y="1463040"/>
            <a:ext cx="5413248" cy="246888"/>
          </a:xfrm>
          <a:prstGeom prst="rect">
            <a:avLst/>
          </a:prstGeom>
          <a:solidFill>
            <a:srgbClr val="F1F3F5"/>
          </a:solidFill>
          <a:ln>
            <a:noFill/>
          </a:ln>
        </p:spPr>
        <p:txBody>
          <a:bodyPr wrap="square" lIns="91440" tIns="91440" rIns="91440" bIns="91440" anchor="ctr" rtlCol="0">
            <a:noAutofit/>
          </a:bodyPr>
          <a:lstStyle/>
          <a:p>
            <a:pPr marL="0" indent="0" algn="l">
              <a:spcBef>
                <a:spcPts val="0"/>
              </a:spcBef>
              <a:buNone/>
            </a:pPr>
            <a:r>
              <a:rPr lang="en-GB" sz="750" dirty="0">
                <a:solidFill>
                  <a:srgbClr val="334155"/>
                </a:solidFill>
                <a:latin typeface="Google Sans Flex Medium"/>
                <a:ea typeface="Google Sans Flex Medium"/>
                <a:cs typeface="Google Sans Flex Medium"/>
                <a:sym typeface="Google Sans Flex Medium"/>
              </a:rPr>
              <a:t>Suri     Conversations     Orders     Patterns     Settings</a:t>
            </a:r>
            <a:endParaRPr lang="en-GB" sz="750"/>
          </a:p>
        </p:txBody>
      </p:sp>
      <p:sp>
        <p:nvSpPr>
          <p:cNvPr id="305" name="Shape 305"/>
          <p:cNvSpPr/>
          <p:nvPr/>
        </p:nvSpPr>
        <p:spPr>
          <a:xfrm>
            <a:off x="347472" y="1709928"/>
            <a:ext cx="1207008" cy="2843784"/>
          </a:xfrm>
          <a:prstGeom prst="rect">
            <a:avLst/>
          </a:prstGeom>
          <a:noFill/>
          <a:ln w="8900">
            <a:solidFill>
              <a:srgbClr val="91A3B8"/>
            </a:solidFill>
            <a:prstDash val="solid"/>
          </a:ln>
        </p:spPr>
        <p:txBody>
          <a:bodyPr wrap="square" lIns="36576" tIns="36576" rIns="36576" bIns="36576" anchor="t" rtlCol="0">
            <a:noAutofit/>
          </a:bodyPr>
          <a:lstStyle/>
          <a:p>
            <a:pPr marL="0" indent="0" algn="l">
              <a:spcBef>
                <a:spcPts val="0"/>
              </a:spcBef>
              <a:buNone/>
            </a:pPr>
            <a:endParaRPr lang="en-GB" sz="800"/>
          </a:p>
        </p:txBody>
      </p:sp>
      <p:sp>
        <p:nvSpPr>
          <p:cNvPr id="306" name="Shape 306"/>
          <p:cNvSpPr txBox="1"/>
          <p:nvPr/>
        </p:nvSpPr>
        <p:spPr>
          <a:xfrm>
            <a:off x="420624" y="1764792"/>
            <a:ext cx="91440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50" dirty="0">
                <a:solidFill>
                  <a:srgbClr val="1F2937"/>
                </a:solidFill>
                <a:latin typeface="Google Sans Flex Medium"/>
                <a:ea typeface="Google Sans Flex Medium"/>
                <a:cs typeface="Google Sans Flex Medium"/>
                <a:sym typeface="Google Sans Flex Medium"/>
              </a:rPr>
              <a:t>Chats</a:t>
            </a:r>
            <a:endParaRPr lang="en-GB" sz="750"/>
          </a:p>
        </p:txBody>
      </p:sp>
      <p:sp>
        <p:nvSpPr>
          <p:cNvPr id="307" name="Shape 307"/>
          <p:cNvSpPr/>
          <p:nvPr/>
        </p:nvSpPr>
        <p:spPr>
          <a:xfrm>
            <a:off x="384048" y="1947672"/>
            <a:ext cx="1133856" cy="457200"/>
          </a:xfrm>
          <a:prstGeom prst="roundRect">
            <a:avLst>
              <a:gd name="adj" fmla="val 8000"/>
            </a:avLst>
          </a:prstGeom>
          <a:solidFill>
            <a:srgbClr val="E5F0FF"/>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08" name="Shape 308"/>
          <p:cNvSpPr/>
          <p:nvPr/>
        </p:nvSpPr>
        <p:spPr>
          <a:xfrm>
            <a:off x="429768" y="2002536"/>
            <a:ext cx="182880" cy="182880"/>
          </a:xfrm>
          <a:prstGeom prst="ellipse">
            <a:avLst/>
          </a:prstGeom>
          <a:solidFill>
            <a:srgbClr val="C3CCD6"/>
          </a:solidFill>
          <a:ln>
            <a:noFill/>
          </a:ln>
        </p:spPr>
        <p:txBody>
          <a:bodyPr wrap="square" lIns="0" tIns="0" rIns="0" bIns="0" anchor="ctr" rtlCol="0">
            <a:noAutofit/>
          </a:bodyPr>
          <a:lstStyle/>
          <a:p>
            <a:pPr marL="0" indent="0" algn="ctr">
              <a:spcBef>
                <a:spcPts val="0"/>
              </a:spcBef>
              <a:buNone/>
            </a:pPr>
            <a:endParaRPr lang="en-GB" sz="700"/>
          </a:p>
        </p:txBody>
      </p:sp>
      <p:sp>
        <p:nvSpPr>
          <p:cNvPr id="309" name="Shape 309"/>
          <p:cNvSpPr txBox="1"/>
          <p:nvPr/>
        </p:nvSpPr>
        <p:spPr>
          <a:xfrm>
            <a:off x="658368" y="1984248"/>
            <a:ext cx="868680" cy="13716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Mark Dizon</a:t>
            </a:r>
            <a:endParaRPr lang="en-GB" sz="650"/>
          </a:p>
        </p:txBody>
      </p:sp>
      <p:sp>
        <p:nvSpPr>
          <p:cNvPr id="310" name="Shape 310"/>
          <p:cNvSpPr/>
          <p:nvPr/>
        </p:nvSpPr>
        <p:spPr>
          <a:xfrm>
            <a:off x="658368" y="2139696"/>
            <a:ext cx="731520"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11" name="Shape 311"/>
          <p:cNvSpPr/>
          <p:nvPr/>
        </p:nvSpPr>
        <p:spPr>
          <a:xfrm>
            <a:off x="658368" y="2231136"/>
            <a:ext cx="841248" cy="128016"/>
          </a:xfrm>
          <a:prstGeom prst="roundRect">
            <a:avLst>
              <a:gd name="adj" fmla="val 30000"/>
            </a:avLst>
          </a:prstGeom>
          <a:solidFill>
            <a:srgbClr val="FDF1DF"/>
          </a:solidFill>
          <a:ln>
            <a:noFill/>
          </a:ln>
        </p:spPr>
        <p:txBody>
          <a:bodyPr wrap="square" lIns="18288" tIns="18288" rIns="18288" bIns="18288" anchor="ctr" rtlCol="0">
            <a:noAutofit/>
          </a:bodyPr>
          <a:lstStyle/>
          <a:p>
            <a:pPr marL="0" indent="0" algn="l">
              <a:spcBef>
                <a:spcPts val="0"/>
              </a:spcBef>
              <a:buNone/>
            </a:pPr>
            <a:r>
              <a:rPr lang="en-GB" sz="550" dirty="0">
                <a:solidFill>
                  <a:srgbClr val="9A5B13"/>
                </a:solidFill>
                <a:latin typeface="Google Sans Flex"/>
                <a:ea typeface="Google Sans Flex"/>
                <a:cs typeface="Google Sans Flex"/>
                <a:sym typeface="Google Sans Flex"/>
              </a:rPr>
              <a:t>2 checks before shipping</a:t>
            </a:r>
            <a:endParaRPr lang="en-GB" sz="550"/>
          </a:p>
        </p:txBody>
      </p:sp>
      <p:sp>
        <p:nvSpPr>
          <p:cNvPr id="312" name="Shape 312"/>
          <p:cNvSpPr/>
          <p:nvPr/>
        </p:nvSpPr>
        <p:spPr>
          <a:xfrm>
            <a:off x="429768" y="2487168"/>
            <a:ext cx="182880" cy="182880"/>
          </a:xfrm>
          <a:prstGeom prst="ellipse">
            <a:avLst/>
          </a:prstGeom>
          <a:solidFill>
            <a:srgbClr val="C3CCD6"/>
          </a:solidFill>
          <a:ln>
            <a:noFill/>
          </a:ln>
        </p:spPr>
        <p:txBody>
          <a:bodyPr wrap="square" lIns="0" tIns="0" rIns="0" bIns="0" anchor="ctr" rtlCol="0">
            <a:noAutofit/>
          </a:bodyPr>
          <a:lstStyle/>
          <a:p>
            <a:pPr marL="0" indent="0" algn="ctr">
              <a:spcBef>
                <a:spcPts val="0"/>
              </a:spcBef>
              <a:buNone/>
            </a:pPr>
            <a:endParaRPr lang="en-GB" sz="700"/>
          </a:p>
        </p:txBody>
      </p:sp>
      <p:sp>
        <p:nvSpPr>
          <p:cNvPr id="313" name="Shape 313"/>
          <p:cNvSpPr txBox="1"/>
          <p:nvPr/>
        </p:nvSpPr>
        <p:spPr>
          <a:xfrm>
            <a:off x="658368" y="2468880"/>
            <a:ext cx="868680" cy="13716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Dan Cortez</a:t>
            </a:r>
            <a:endParaRPr lang="en-GB" sz="650"/>
          </a:p>
        </p:txBody>
      </p:sp>
      <p:sp>
        <p:nvSpPr>
          <p:cNvPr id="314" name="Shape 314"/>
          <p:cNvSpPr/>
          <p:nvPr/>
        </p:nvSpPr>
        <p:spPr>
          <a:xfrm>
            <a:off x="658368" y="2624328"/>
            <a:ext cx="731520"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15" name="Shape 315"/>
          <p:cNvSpPr/>
          <p:nvPr/>
        </p:nvSpPr>
        <p:spPr>
          <a:xfrm>
            <a:off x="658368" y="2715768"/>
            <a:ext cx="841248" cy="128016"/>
          </a:xfrm>
          <a:prstGeom prst="roundRect">
            <a:avLst>
              <a:gd name="adj" fmla="val 30000"/>
            </a:avLst>
          </a:prstGeom>
          <a:solidFill>
            <a:srgbClr val="FDF1DF"/>
          </a:solidFill>
          <a:ln>
            <a:noFill/>
          </a:ln>
        </p:spPr>
        <p:txBody>
          <a:bodyPr wrap="square" lIns="18288" tIns="18288" rIns="18288" bIns="18288" anchor="ctr" rtlCol="0">
            <a:noAutofit/>
          </a:bodyPr>
          <a:lstStyle/>
          <a:p>
            <a:pPr marL="0" indent="0" algn="l">
              <a:spcBef>
                <a:spcPts val="0"/>
              </a:spcBef>
              <a:buNone/>
            </a:pPr>
            <a:r>
              <a:rPr lang="en-GB" sz="550" dirty="0">
                <a:solidFill>
                  <a:srgbClr val="9A5B13"/>
                </a:solidFill>
                <a:latin typeface="Google Sans Flex"/>
                <a:ea typeface="Google Sans Flex"/>
                <a:cs typeface="Google Sans Flex"/>
                <a:sym typeface="Google Sans Flex"/>
              </a:rPr>
              <a:t>3 checks before shipping</a:t>
            </a:r>
            <a:endParaRPr lang="en-GB" sz="550"/>
          </a:p>
        </p:txBody>
      </p:sp>
      <p:sp>
        <p:nvSpPr>
          <p:cNvPr id="316" name="Shape 316"/>
          <p:cNvSpPr/>
          <p:nvPr/>
        </p:nvSpPr>
        <p:spPr>
          <a:xfrm>
            <a:off x="429768" y="2971800"/>
            <a:ext cx="182880" cy="182880"/>
          </a:xfrm>
          <a:prstGeom prst="ellipse">
            <a:avLst/>
          </a:prstGeom>
          <a:solidFill>
            <a:srgbClr val="C3CCD6"/>
          </a:solidFill>
          <a:ln>
            <a:noFill/>
          </a:ln>
        </p:spPr>
        <p:txBody>
          <a:bodyPr wrap="square" lIns="0" tIns="0" rIns="0" bIns="0" anchor="ctr" rtlCol="0">
            <a:noAutofit/>
          </a:bodyPr>
          <a:lstStyle/>
          <a:p>
            <a:pPr marL="0" indent="0" algn="ctr">
              <a:spcBef>
                <a:spcPts val="0"/>
              </a:spcBef>
              <a:buNone/>
            </a:pPr>
            <a:endParaRPr lang="en-GB" sz="700"/>
          </a:p>
        </p:txBody>
      </p:sp>
      <p:sp>
        <p:nvSpPr>
          <p:cNvPr id="317" name="Shape 317"/>
          <p:cNvSpPr txBox="1"/>
          <p:nvPr/>
        </p:nvSpPr>
        <p:spPr>
          <a:xfrm>
            <a:off x="658368" y="2953512"/>
            <a:ext cx="868680" cy="13716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Bea Villanueva</a:t>
            </a:r>
            <a:endParaRPr lang="en-GB" sz="650"/>
          </a:p>
        </p:txBody>
      </p:sp>
      <p:sp>
        <p:nvSpPr>
          <p:cNvPr id="318" name="Shape 318"/>
          <p:cNvSpPr/>
          <p:nvPr/>
        </p:nvSpPr>
        <p:spPr>
          <a:xfrm>
            <a:off x="658368" y="3108960"/>
            <a:ext cx="731520"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19" name="Shape 319"/>
          <p:cNvSpPr/>
          <p:nvPr/>
        </p:nvSpPr>
        <p:spPr>
          <a:xfrm>
            <a:off x="429768" y="3456432"/>
            <a:ext cx="182880" cy="182880"/>
          </a:xfrm>
          <a:prstGeom prst="ellipse">
            <a:avLst/>
          </a:prstGeom>
          <a:solidFill>
            <a:srgbClr val="C3CCD6"/>
          </a:solidFill>
          <a:ln>
            <a:noFill/>
          </a:ln>
        </p:spPr>
        <p:txBody>
          <a:bodyPr wrap="square" lIns="0" tIns="0" rIns="0" bIns="0" anchor="ctr" rtlCol="0">
            <a:noAutofit/>
          </a:bodyPr>
          <a:lstStyle/>
          <a:p>
            <a:pPr marL="0" indent="0" algn="ctr">
              <a:spcBef>
                <a:spcPts val="0"/>
              </a:spcBef>
              <a:buNone/>
            </a:pPr>
            <a:endParaRPr lang="en-GB" sz="700"/>
          </a:p>
        </p:txBody>
      </p:sp>
      <p:sp>
        <p:nvSpPr>
          <p:cNvPr id="320" name="Shape 320"/>
          <p:cNvSpPr txBox="1"/>
          <p:nvPr/>
        </p:nvSpPr>
        <p:spPr>
          <a:xfrm>
            <a:off x="658368" y="3438144"/>
            <a:ext cx="868680" cy="13716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Carla Villamor</a:t>
            </a:r>
            <a:endParaRPr lang="en-GB" sz="650"/>
          </a:p>
        </p:txBody>
      </p:sp>
      <p:sp>
        <p:nvSpPr>
          <p:cNvPr id="321" name="Shape 321"/>
          <p:cNvSpPr/>
          <p:nvPr/>
        </p:nvSpPr>
        <p:spPr>
          <a:xfrm>
            <a:off x="658368" y="3593591"/>
            <a:ext cx="731520"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22" name="Shape 322"/>
          <p:cNvSpPr/>
          <p:nvPr/>
        </p:nvSpPr>
        <p:spPr>
          <a:xfrm>
            <a:off x="429768" y="3941063"/>
            <a:ext cx="182880" cy="182880"/>
          </a:xfrm>
          <a:prstGeom prst="ellipse">
            <a:avLst/>
          </a:prstGeom>
          <a:solidFill>
            <a:srgbClr val="C3CCD6"/>
          </a:solidFill>
          <a:ln>
            <a:noFill/>
          </a:ln>
        </p:spPr>
        <p:txBody>
          <a:bodyPr wrap="square" lIns="0" tIns="0" rIns="0" bIns="0" anchor="ctr" rtlCol="0">
            <a:noAutofit/>
          </a:bodyPr>
          <a:lstStyle/>
          <a:p>
            <a:pPr marL="0" indent="0" algn="ctr">
              <a:spcBef>
                <a:spcPts val="0"/>
              </a:spcBef>
              <a:buNone/>
            </a:pPr>
            <a:endParaRPr lang="en-GB" sz="700"/>
          </a:p>
        </p:txBody>
      </p:sp>
      <p:sp>
        <p:nvSpPr>
          <p:cNvPr id="323" name="Shape 323"/>
          <p:cNvSpPr txBox="1"/>
          <p:nvPr/>
        </p:nvSpPr>
        <p:spPr>
          <a:xfrm>
            <a:off x="658368" y="3922776"/>
            <a:ext cx="868680" cy="13716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Ana Reyes</a:t>
            </a:r>
            <a:endParaRPr lang="en-GB" sz="650"/>
          </a:p>
        </p:txBody>
      </p:sp>
      <p:sp>
        <p:nvSpPr>
          <p:cNvPr id="324" name="Shape 324"/>
          <p:cNvSpPr/>
          <p:nvPr/>
        </p:nvSpPr>
        <p:spPr>
          <a:xfrm>
            <a:off x="658368" y="4078224"/>
            <a:ext cx="731520"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25" name="Shape 325"/>
          <p:cNvSpPr/>
          <p:nvPr/>
        </p:nvSpPr>
        <p:spPr>
          <a:xfrm>
            <a:off x="1316736" y="1746504"/>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1</a:t>
            </a:r>
            <a:endParaRPr lang="en-GB" sz="800"/>
          </a:p>
        </p:txBody>
      </p:sp>
      <p:sp>
        <p:nvSpPr>
          <p:cNvPr id="326" name="Shape 326"/>
          <p:cNvSpPr/>
          <p:nvPr/>
        </p:nvSpPr>
        <p:spPr>
          <a:xfrm>
            <a:off x="1554480" y="1709928"/>
            <a:ext cx="2331720" cy="2843784"/>
          </a:xfrm>
          <a:prstGeom prst="rect">
            <a:avLst/>
          </a:prstGeom>
          <a:noFill/>
          <a:ln w="8900">
            <a:solidFill>
              <a:srgbClr val="91A3B8"/>
            </a:solidFill>
            <a:prstDash val="solid"/>
          </a:ln>
        </p:spPr>
        <p:txBody>
          <a:bodyPr wrap="square" lIns="36576" tIns="36576" rIns="36576" bIns="36576" anchor="t" rtlCol="0">
            <a:noAutofit/>
          </a:bodyPr>
          <a:lstStyle/>
          <a:p>
            <a:pPr marL="0" indent="0" algn="l">
              <a:spcBef>
                <a:spcPts val="0"/>
              </a:spcBef>
              <a:buNone/>
            </a:pPr>
            <a:endParaRPr lang="en-GB" sz="800"/>
          </a:p>
        </p:txBody>
      </p:sp>
      <p:sp>
        <p:nvSpPr>
          <p:cNvPr id="327" name="Shape 327"/>
          <p:cNvSpPr txBox="1"/>
          <p:nvPr/>
        </p:nvSpPr>
        <p:spPr>
          <a:xfrm>
            <a:off x="1645920" y="1764792"/>
            <a:ext cx="182880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50" dirty="0">
                <a:solidFill>
                  <a:srgbClr val="1F2937"/>
                </a:solidFill>
                <a:latin typeface="Google Sans Flex Medium"/>
                <a:ea typeface="Google Sans Flex Medium"/>
                <a:cs typeface="Google Sans Flex Medium"/>
                <a:sym typeface="Google Sans Flex Medium"/>
              </a:rPr>
              <a:t>Mark Dizon</a:t>
            </a:r>
            <a:endParaRPr lang="en-GB" sz="750"/>
          </a:p>
        </p:txBody>
      </p:sp>
      <p:sp>
        <p:nvSpPr>
          <p:cNvPr id="328" name="Shape 328"/>
          <p:cNvSpPr/>
          <p:nvPr/>
        </p:nvSpPr>
        <p:spPr>
          <a:xfrm>
            <a:off x="1645920" y="2002536"/>
            <a:ext cx="1600200" cy="182880"/>
          </a:xfrm>
          <a:prstGeom prst="roundRect">
            <a:avLst>
              <a:gd name="adj" fmla="val 40000"/>
            </a:avLst>
          </a:prstGeom>
          <a:solidFill>
            <a:srgbClr val="F1F3F5"/>
          </a:solidFill>
          <a:ln>
            <a:noFill/>
          </a:ln>
        </p:spPr>
        <p:txBody>
          <a:bodyPr wrap="square" lIns="45720" tIns="45720" rIns="45720" bIns="45720" anchor="ctr" rtlCol="0">
            <a:noAutofit/>
          </a:bodyPr>
          <a:lstStyle/>
          <a:p>
            <a:pPr marL="0" indent="0" algn="l">
              <a:spcBef>
                <a:spcPts val="0"/>
              </a:spcBef>
              <a:buNone/>
            </a:pPr>
            <a:r>
              <a:rPr lang="en-GB" sz="600" dirty="0">
                <a:solidFill>
                  <a:srgbClr val="1F2937"/>
                </a:solidFill>
                <a:latin typeface="Google Sans Flex"/>
                <a:ea typeface="Google Sans Flex"/>
                <a:cs typeface="Google Sans Flex"/>
                <a:sym typeface="Google Sans Flex"/>
              </a:rPr>
              <a:t>Hi! 2 tote bags please, black and cream</a:t>
            </a:r>
            <a:endParaRPr lang="en-GB" sz="600"/>
          </a:p>
        </p:txBody>
      </p:sp>
      <p:sp>
        <p:nvSpPr>
          <p:cNvPr id="329" name="Shape 329"/>
          <p:cNvSpPr/>
          <p:nvPr/>
        </p:nvSpPr>
        <p:spPr>
          <a:xfrm>
            <a:off x="2331720" y="2249424"/>
            <a:ext cx="1463040" cy="182880"/>
          </a:xfrm>
          <a:prstGeom prst="roundRect">
            <a:avLst>
              <a:gd name="adj" fmla="val 40000"/>
            </a:avLst>
          </a:prstGeom>
          <a:solidFill>
            <a:srgbClr val="D7ECEA"/>
          </a:solidFill>
          <a:ln>
            <a:noFill/>
          </a:ln>
        </p:spPr>
        <p:txBody>
          <a:bodyPr wrap="square" lIns="45720" tIns="45720" rIns="45720" bIns="45720" anchor="ctr" rtlCol="0">
            <a:noAutofit/>
          </a:bodyPr>
          <a:lstStyle/>
          <a:p>
            <a:pPr marL="0" indent="0" algn="l">
              <a:spcBef>
                <a:spcPts val="0"/>
              </a:spcBef>
              <a:buNone/>
            </a:pPr>
            <a:r>
              <a:rPr lang="en-GB" sz="600" dirty="0">
                <a:solidFill>
                  <a:srgbClr val="1F2937"/>
                </a:solidFill>
                <a:latin typeface="Google Sans Flex"/>
                <a:ea typeface="Google Sans Flex"/>
                <a:cs typeface="Google Sans Flex"/>
                <a:sym typeface="Google Sans Flex"/>
              </a:rPr>
              <a:t>₱500 total. Payment is by GCash.</a:t>
            </a:r>
            <a:endParaRPr lang="en-GB" sz="600"/>
          </a:p>
        </p:txBody>
      </p:sp>
      <p:sp>
        <p:nvSpPr>
          <p:cNvPr id="330" name="Shape 330"/>
          <p:cNvSpPr/>
          <p:nvPr/>
        </p:nvSpPr>
        <p:spPr>
          <a:xfrm>
            <a:off x="1645920" y="2496312"/>
            <a:ext cx="1691640" cy="182880"/>
          </a:xfrm>
          <a:prstGeom prst="roundRect">
            <a:avLst>
              <a:gd name="adj" fmla="val 40000"/>
            </a:avLst>
          </a:prstGeom>
          <a:solidFill>
            <a:srgbClr val="F1F3F5"/>
          </a:solidFill>
          <a:ln>
            <a:noFill/>
          </a:ln>
        </p:spPr>
        <p:txBody>
          <a:bodyPr wrap="square" lIns="45720" tIns="45720" rIns="45720" bIns="45720" anchor="ctr" rtlCol="0">
            <a:noAutofit/>
          </a:bodyPr>
          <a:lstStyle/>
          <a:p>
            <a:pPr marL="0" indent="0" algn="l">
              <a:spcBef>
                <a:spcPts val="0"/>
              </a:spcBef>
              <a:buNone/>
            </a:pPr>
            <a:r>
              <a:rPr lang="en-GB" sz="600" dirty="0">
                <a:solidFill>
                  <a:srgbClr val="1F2937"/>
                </a:solidFill>
                <a:latin typeface="Google Sans Flex"/>
                <a:ea typeface="Google Sans Flex"/>
                <a:cs typeface="Google Sans Flex"/>
                <a:sym typeface="Google Sans Flex"/>
              </a:rPr>
              <a:t>Already paid via GCash. Please ship today!</a:t>
            </a:r>
            <a:endParaRPr lang="en-GB" sz="600"/>
          </a:p>
        </p:txBody>
      </p:sp>
      <p:sp>
        <p:nvSpPr>
          <p:cNvPr id="331" name="Shape 331"/>
          <p:cNvSpPr/>
          <p:nvPr/>
        </p:nvSpPr>
        <p:spPr>
          <a:xfrm>
            <a:off x="2377440" y="2743200"/>
            <a:ext cx="1417320" cy="182880"/>
          </a:xfrm>
          <a:prstGeom prst="roundRect">
            <a:avLst>
              <a:gd name="adj" fmla="val 40000"/>
            </a:avLst>
          </a:prstGeom>
          <a:solidFill>
            <a:srgbClr val="D7ECEA"/>
          </a:solidFill>
          <a:ln>
            <a:noFill/>
          </a:ln>
        </p:spPr>
        <p:txBody>
          <a:bodyPr wrap="square" lIns="45720" tIns="45720" rIns="45720" bIns="45720" anchor="ctr" rtlCol="0">
            <a:noAutofit/>
          </a:bodyPr>
          <a:lstStyle/>
          <a:p>
            <a:pPr marL="0" indent="0" algn="l">
              <a:spcBef>
                <a:spcPts val="0"/>
              </a:spcBef>
              <a:buNone/>
            </a:pPr>
            <a:r>
              <a:rPr lang="en-GB" sz="600" dirty="0">
                <a:solidFill>
                  <a:srgbClr val="1F2937"/>
                </a:solidFill>
                <a:latin typeface="Google Sans Flex"/>
                <a:ea typeface="Google Sans Flex"/>
                <a:cs typeface="Google Sans Flex"/>
                <a:sym typeface="Google Sans Flex"/>
              </a:rPr>
              <a:t>Here is your order … tap Confirm</a:t>
            </a:r>
            <a:endParaRPr lang="en-GB" sz="600"/>
          </a:p>
        </p:txBody>
      </p:sp>
      <p:sp>
        <p:nvSpPr>
          <p:cNvPr id="332" name="Shape 332"/>
          <p:cNvSpPr/>
          <p:nvPr/>
        </p:nvSpPr>
        <p:spPr>
          <a:xfrm>
            <a:off x="1645920" y="2990088"/>
            <a:ext cx="914400" cy="182880"/>
          </a:xfrm>
          <a:prstGeom prst="roundRect">
            <a:avLst>
              <a:gd name="adj" fmla="val 40000"/>
            </a:avLst>
          </a:prstGeom>
          <a:solidFill>
            <a:srgbClr val="F1F3F5"/>
          </a:solidFill>
          <a:ln>
            <a:noFill/>
          </a:ln>
        </p:spPr>
        <p:txBody>
          <a:bodyPr wrap="square" lIns="45720" tIns="45720" rIns="45720" bIns="45720" anchor="ctr" rtlCol="0">
            <a:noAutofit/>
          </a:bodyPr>
          <a:lstStyle/>
          <a:p>
            <a:pPr marL="0" indent="0" algn="l">
              <a:spcBef>
                <a:spcPts val="0"/>
              </a:spcBef>
              <a:buNone/>
            </a:pPr>
            <a:r>
              <a:rPr lang="en-GB" sz="600" dirty="0">
                <a:solidFill>
                  <a:srgbClr val="1F2937"/>
                </a:solidFill>
                <a:latin typeface="Google Sans Flex"/>
                <a:ea typeface="Google Sans Flex"/>
                <a:cs typeface="Google Sans Flex"/>
                <a:sym typeface="Google Sans Flex"/>
              </a:rPr>
              <a:t>Confirm #UYKSM v1</a:t>
            </a:r>
            <a:endParaRPr lang="en-GB" sz="600"/>
          </a:p>
        </p:txBody>
      </p:sp>
      <p:sp>
        <p:nvSpPr>
          <p:cNvPr id="333" name="Shape 333"/>
          <p:cNvSpPr/>
          <p:nvPr/>
        </p:nvSpPr>
        <p:spPr>
          <a:xfrm>
            <a:off x="1645920" y="3236976"/>
            <a:ext cx="566928" cy="457200"/>
          </a:xfrm>
          <a:prstGeom prst="rect">
            <a:avLst/>
          </a:prstGeom>
          <a:solidFill>
            <a:srgbClr val="F1F3F5"/>
          </a:solidFill>
          <a:ln w="8900">
            <a:solidFill>
              <a:srgbClr val="91A3B8"/>
            </a:solidFill>
            <a:prstDash val="dash"/>
          </a:ln>
        </p:spPr>
        <p:txBody>
          <a:bodyPr wrap="square" lIns="36576" tIns="36576" rIns="36576" bIns="36576" anchor="ctr" rtlCol="0">
            <a:noAutofit/>
          </a:bodyPr>
          <a:lstStyle/>
          <a:p>
            <a:pPr marL="0" indent="0" algn="ctr">
              <a:spcBef>
                <a:spcPts val="0"/>
              </a:spcBef>
              <a:buNone/>
            </a:pPr>
            <a:r>
              <a:rPr lang="en-GB" sz="600" dirty="0">
                <a:solidFill>
                  <a:srgbClr val="5B6678"/>
                </a:solidFill>
                <a:latin typeface="Google Sans Flex"/>
                <a:ea typeface="Google Sans Flex"/>
                <a:cs typeface="Google Sans Flex"/>
                <a:sym typeface="Google Sans Flex"/>
              </a:rPr>
              <a:t>receipt</a:t>
            </a:r>
            <a:endParaRPr lang="en-GB" sz="600"/>
          </a:p>
        </p:txBody>
      </p:sp>
      <p:sp>
        <p:nvSpPr>
          <p:cNvPr id="334" name="Shape 334"/>
          <p:cNvSpPr txBox="1"/>
          <p:nvPr/>
        </p:nvSpPr>
        <p:spPr>
          <a:xfrm>
            <a:off x="2286000" y="3392424"/>
            <a:ext cx="146304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5B6678"/>
                </a:solidFill>
                <a:latin typeface="Google Sans Flex"/>
                <a:ea typeface="Google Sans Flex"/>
                <a:cs typeface="Google Sans Flex"/>
                <a:sym typeface="Google Sans Flex"/>
              </a:rPr>
              <a:t>Sent a photo: tap to check it</a:t>
            </a:r>
            <a:endParaRPr lang="en-GB" sz="600"/>
          </a:p>
        </p:txBody>
      </p:sp>
      <p:sp>
        <p:nvSpPr>
          <p:cNvPr id="335" name="Shape 335"/>
          <p:cNvSpPr/>
          <p:nvPr/>
        </p:nvSpPr>
        <p:spPr>
          <a:xfrm>
            <a:off x="1645920" y="4224528"/>
            <a:ext cx="2148839" cy="256032"/>
          </a:xfrm>
          <a:prstGeom prst="roundRect">
            <a:avLst>
              <a:gd name="adj" fmla="val 12000"/>
            </a:avLst>
          </a:prstGeom>
          <a:solidFill>
            <a:srgbClr val="FFFFFF"/>
          </a:solidFill>
          <a:ln w="8900">
            <a:solidFill>
              <a:srgbClr val="91A3B8"/>
            </a:solidFill>
            <a:prstDash val="solid"/>
          </a:ln>
        </p:spPr>
        <p:txBody>
          <a:bodyPr wrap="square" lIns="64008" tIns="64008" rIns="64008" bIns="64008" anchor="ctr" rtlCol="0">
            <a:noAutofit/>
          </a:bodyPr>
          <a:lstStyle/>
          <a:p>
            <a:pPr marL="0" indent="0" algn="l">
              <a:spcBef>
                <a:spcPts val="0"/>
              </a:spcBef>
              <a:buNone/>
            </a:pPr>
            <a:r>
              <a:rPr lang="en-GB" sz="650" dirty="0">
                <a:solidFill>
                  <a:srgbClr val="5B6678"/>
                </a:solidFill>
                <a:latin typeface="Google Sans Flex"/>
                <a:ea typeface="Google Sans Flex"/>
                <a:cs typeface="Google Sans Flex"/>
                <a:sym typeface="Google Sans Flex"/>
              </a:rPr>
              <a:t>Reply as the seller…</a:t>
            </a:r>
            <a:endParaRPr lang="en-GB" sz="650"/>
          </a:p>
        </p:txBody>
      </p:sp>
      <p:sp>
        <p:nvSpPr>
          <p:cNvPr id="336" name="Shape 336"/>
          <p:cNvSpPr/>
          <p:nvPr/>
        </p:nvSpPr>
        <p:spPr>
          <a:xfrm>
            <a:off x="3355848" y="4261104"/>
            <a:ext cx="384048" cy="182880"/>
          </a:xfrm>
          <a:prstGeom prst="roundRect">
            <a:avLst>
              <a:gd name="adj" fmla="val 20000"/>
            </a:avLst>
          </a:prstGeom>
          <a:solidFill>
            <a:srgbClr val="0B6E66"/>
          </a:solidFill>
          <a:ln>
            <a:noFill/>
          </a:ln>
        </p:spPr>
        <p:txBody>
          <a:bodyPr wrap="square" lIns="0" tIns="0" rIns="0" bIns="0" anchor="ctr" rtlCol="0">
            <a:noAutofit/>
          </a:bodyPr>
          <a:lstStyle/>
          <a:p>
            <a:pPr marL="0" indent="0" algn="ctr">
              <a:spcBef>
                <a:spcPts val="0"/>
              </a:spcBef>
              <a:buNone/>
            </a:pPr>
            <a:r>
              <a:rPr lang="en-GB" sz="650" dirty="0">
                <a:solidFill>
                  <a:srgbClr val="FFFFFF"/>
                </a:solidFill>
                <a:latin typeface="Google Sans Flex"/>
                <a:ea typeface="Google Sans Flex"/>
                <a:cs typeface="Google Sans Flex"/>
                <a:sym typeface="Google Sans Flex"/>
              </a:rPr>
              <a:t>Send</a:t>
            </a:r>
            <a:endParaRPr lang="en-GB" sz="650"/>
          </a:p>
        </p:txBody>
      </p:sp>
      <p:sp>
        <p:nvSpPr>
          <p:cNvPr id="337" name="Shape 337"/>
          <p:cNvSpPr/>
          <p:nvPr/>
        </p:nvSpPr>
        <p:spPr>
          <a:xfrm>
            <a:off x="3611880" y="1746504"/>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2</a:t>
            </a:r>
            <a:endParaRPr lang="en-GB" sz="800"/>
          </a:p>
        </p:txBody>
      </p:sp>
      <p:sp>
        <p:nvSpPr>
          <p:cNvPr id="338" name="Shape 338"/>
          <p:cNvSpPr/>
          <p:nvPr/>
        </p:nvSpPr>
        <p:spPr>
          <a:xfrm>
            <a:off x="3886200" y="1709928"/>
            <a:ext cx="1874519" cy="2843784"/>
          </a:xfrm>
          <a:prstGeom prst="rect">
            <a:avLst/>
          </a:prstGeom>
          <a:noFill/>
          <a:ln w="8900">
            <a:solidFill>
              <a:srgbClr val="91A3B8"/>
            </a:solidFill>
            <a:prstDash val="solid"/>
          </a:ln>
        </p:spPr>
        <p:txBody>
          <a:bodyPr wrap="square" lIns="36576" tIns="36576" rIns="36576" bIns="36576" anchor="t" rtlCol="0">
            <a:noAutofit/>
          </a:bodyPr>
          <a:lstStyle/>
          <a:p>
            <a:pPr marL="0" indent="0" algn="l">
              <a:spcBef>
                <a:spcPts val="0"/>
              </a:spcBef>
              <a:buNone/>
            </a:pPr>
            <a:endParaRPr lang="en-GB" sz="800"/>
          </a:p>
        </p:txBody>
      </p:sp>
      <p:sp>
        <p:nvSpPr>
          <p:cNvPr id="339" name="Shape 339"/>
          <p:cNvSpPr txBox="1"/>
          <p:nvPr/>
        </p:nvSpPr>
        <p:spPr>
          <a:xfrm>
            <a:off x="3977639" y="1764792"/>
            <a:ext cx="1691639"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50" dirty="0">
                <a:solidFill>
                  <a:srgbClr val="1F2937"/>
                </a:solidFill>
                <a:latin typeface="Google Sans Flex Medium"/>
                <a:ea typeface="Google Sans Flex Medium"/>
                <a:cs typeface="Google Sans Flex Medium"/>
                <a:sym typeface="Google Sans Flex Medium"/>
              </a:rPr>
              <a:t>AI brief</a:t>
            </a:r>
            <a:endParaRPr lang="en-GB" sz="750"/>
          </a:p>
        </p:txBody>
      </p:sp>
      <p:sp>
        <p:nvSpPr>
          <p:cNvPr id="340" name="Shape 340"/>
          <p:cNvSpPr/>
          <p:nvPr/>
        </p:nvSpPr>
        <p:spPr>
          <a:xfrm>
            <a:off x="3977639" y="1984248"/>
            <a:ext cx="1691639"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41" name="Shape 341"/>
          <p:cNvSpPr/>
          <p:nvPr/>
        </p:nvSpPr>
        <p:spPr>
          <a:xfrm>
            <a:off x="3977639" y="2066543"/>
            <a:ext cx="1556308"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42" name="Shape 342"/>
          <p:cNvSpPr/>
          <p:nvPr/>
        </p:nvSpPr>
        <p:spPr>
          <a:xfrm>
            <a:off x="3977639" y="2148840"/>
            <a:ext cx="1640890"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43" name="Shape 343"/>
          <p:cNvSpPr/>
          <p:nvPr/>
        </p:nvSpPr>
        <p:spPr>
          <a:xfrm>
            <a:off x="3977639" y="2231136"/>
            <a:ext cx="1014983"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44" name="Shape 344"/>
          <p:cNvSpPr/>
          <p:nvPr/>
        </p:nvSpPr>
        <p:spPr>
          <a:xfrm>
            <a:off x="3977639" y="2350008"/>
            <a:ext cx="1691639" cy="310896"/>
          </a:xfrm>
          <a:prstGeom prst="roundRect">
            <a:avLst>
              <a:gd name="adj" fmla="val 12000"/>
            </a:avLst>
          </a:prstGeom>
          <a:solidFill>
            <a:srgbClr val="FDF1DF"/>
          </a:solidFill>
          <a:ln w="8900">
            <a:solidFill>
              <a:srgbClr val="D9A35B"/>
            </a:solidFill>
            <a:prstDash val="solid"/>
          </a:ln>
        </p:spPr>
        <p:txBody>
          <a:bodyPr wrap="square" lIns="45720" tIns="45720" rIns="45720" bIns="45720" anchor="ctr" rtlCol="0">
            <a:noAutofit/>
          </a:bodyPr>
          <a:lstStyle/>
          <a:p>
            <a:pPr marL="0" indent="0" algn="l">
              <a:spcBef>
                <a:spcPts val="0"/>
              </a:spcBef>
              <a:buNone/>
            </a:pPr>
            <a:r>
              <a:rPr lang="en-GB" sz="700" dirty="0">
                <a:solidFill>
                  <a:srgbClr val="9A5B13"/>
                </a:solidFill>
                <a:latin typeface="Google Sans Flex Medium"/>
                <a:ea typeface="Google Sans Flex Medium"/>
                <a:cs typeface="Google Sans Flex Medium"/>
                <a:sym typeface="Google Sans Flex Medium"/>
              </a:rPr>
              <a:t>!  2 to verify before shipping</a:t>
            </a:r>
            <a:endParaRPr lang="en-GB" sz="700"/>
          </a:p>
          <a:p>
            <a:pPr marL="0" indent="0" algn="l">
              <a:spcBef>
                <a:spcPts val="0"/>
              </a:spcBef>
              <a:buNone/>
            </a:pPr>
            <a:r>
              <a:rPr lang="en-GB" sz="550" dirty="0">
                <a:solidFill>
                  <a:srgbClr val="5B6678"/>
                </a:solidFill>
                <a:latin typeface="Google Sans Flex"/>
                <a:ea typeface="Google Sans Flex"/>
                <a:cs typeface="Google Sans Flex"/>
                <a:sym typeface="Google Sans Flex"/>
              </a:rPr>
              <a:t>From what was said in this chat</a:t>
            </a:r>
            <a:endParaRPr lang="en-GB" sz="550"/>
          </a:p>
        </p:txBody>
      </p:sp>
      <p:sp>
        <p:nvSpPr>
          <p:cNvPr id="345" name="Shape 345"/>
          <p:cNvSpPr/>
          <p:nvPr/>
        </p:nvSpPr>
        <p:spPr>
          <a:xfrm>
            <a:off x="5486400" y="1746504"/>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3</a:t>
            </a:r>
            <a:endParaRPr lang="en-GB" sz="800"/>
          </a:p>
        </p:txBody>
      </p:sp>
      <p:sp>
        <p:nvSpPr>
          <p:cNvPr id="346" name="Shape 346"/>
          <p:cNvSpPr txBox="1"/>
          <p:nvPr/>
        </p:nvSpPr>
        <p:spPr>
          <a:xfrm>
            <a:off x="3977639" y="2770632"/>
            <a:ext cx="1691639"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1F2937"/>
                </a:solidFill>
                <a:latin typeface="Google Sans Flex Medium"/>
                <a:ea typeface="Google Sans Flex Medium"/>
                <a:cs typeface="Google Sans Flex Medium"/>
                <a:sym typeface="Google Sans Flex Medium"/>
              </a:rPr>
              <a:t>Order #UYKSM · Confirmed</a:t>
            </a:r>
            <a:endParaRPr lang="en-GB" sz="700"/>
          </a:p>
        </p:txBody>
      </p:sp>
      <p:sp>
        <p:nvSpPr>
          <p:cNvPr id="347" name="Shape 347"/>
          <p:cNvSpPr txBox="1"/>
          <p:nvPr/>
        </p:nvSpPr>
        <p:spPr>
          <a:xfrm>
            <a:off x="3977639" y="2990088"/>
            <a:ext cx="109728"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0B6E66"/>
                </a:solidFill>
                <a:latin typeface="Google Sans Flex Medium"/>
                <a:ea typeface="Google Sans Flex Medium"/>
                <a:cs typeface="Google Sans Flex Medium"/>
                <a:sym typeface="Google Sans Flex Medium"/>
              </a:rPr>
              <a:t>✓</a:t>
            </a:r>
            <a:endParaRPr lang="en-GB" sz="700"/>
          </a:p>
        </p:txBody>
      </p:sp>
      <p:sp>
        <p:nvSpPr>
          <p:cNvPr id="348" name="Shape 348"/>
          <p:cNvSpPr txBox="1"/>
          <p:nvPr/>
        </p:nvSpPr>
        <p:spPr>
          <a:xfrm>
            <a:off x="4096511" y="2990088"/>
            <a:ext cx="548640"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Confirmed</a:t>
            </a:r>
            <a:endParaRPr lang="en-GB" sz="650"/>
          </a:p>
        </p:txBody>
      </p:sp>
      <p:sp>
        <p:nvSpPr>
          <p:cNvPr id="349" name="Shape 349"/>
          <p:cNvSpPr txBox="1"/>
          <p:nvPr/>
        </p:nvSpPr>
        <p:spPr>
          <a:xfrm>
            <a:off x="4636007" y="2990088"/>
            <a:ext cx="1033271"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5B6678"/>
                </a:solidFill>
                <a:latin typeface="Google Sans Flex"/>
                <a:ea typeface="Google Sans Flex"/>
                <a:cs typeface="Google Sans Flex"/>
                <a:sym typeface="Google Sans Flex"/>
              </a:rPr>
              <a:t>By the customer</a:t>
            </a:r>
            <a:endParaRPr lang="en-GB" sz="600"/>
          </a:p>
        </p:txBody>
      </p:sp>
      <p:sp>
        <p:nvSpPr>
          <p:cNvPr id="350" name="Shape 350"/>
          <p:cNvSpPr txBox="1"/>
          <p:nvPr/>
        </p:nvSpPr>
        <p:spPr>
          <a:xfrm>
            <a:off x="3977639" y="3163824"/>
            <a:ext cx="109728"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B45309"/>
                </a:solidFill>
                <a:latin typeface="Google Sans Flex Medium"/>
                <a:ea typeface="Google Sans Flex Medium"/>
                <a:cs typeface="Google Sans Flex Medium"/>
                <a:sym typeface="Google Sans Flex Medium"/>
              </a:rPr>
              <a:t>!</a:t>
            </a:r>
            <a:endParaRPr lang="en-GB" sz="700"/>
          </a:p>
        </p:txBody>
      </p:sp>
      <p:sp>
        <p:nvSpPr>
          <p:cNvPr id="351" name="Shape 351"/>
          <p:cNvSpPr txBox="1"/>
          <p:nvPr/>
        </p:nvSpPr>
        <p:spPr>
          <a:xfrm>
            <a:off x="4096511" y="3163824"/>
            <a:ext cx="548640"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Payment</a:t>
            </a:r>
            <a:endParaRPr lang="en-GB" sz="650"/>
          </a:p>
        </p:txBody>
      </p:sp>
      <p:sp>
        <p:nvSpPr>
          <p:cNvPr id="352" name="Shape 352"/>
          <p:cNvSpPr txBox="1"/>
          <p:nvPr/>
        </p:nvSpPr>
        <p:spPr>
          <a:xfrm>
            <a:off x="4636007" y="3163824"/>
            <a:ext cx="1033271"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B45309"/>
                </a:solidFill>
                <a:latin typeface="Google Sans Flex"/>
                <a:ea typeface="Google Sans Flex"/>
                <a:cs typeface="Google Sans Flex"/>
                <a:sym typeface="Google Sans Flex"/>
              </a:rPr>
              <a:t>Says they paid: not verified</a:t>
            </a:r>
            <a:endParaRPr lang="en-GB" sz="600"/>
          </a:p>
        </p:txBody>
      </p:sp>
      <p:sp>
        <p:nvSpPr>
          <p:cNvPr id="353" name="Shape 353"/>
          <p:cNvSpPr txBox="1"/>
          <p:nvPr/>
        </p:nvSpPr>
        <p:spPr>
          <a:xfrm>
            <a:off x="3977639" y="3337560"/>
            <a:ext cx="109728"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5B6678"/>
                </a:solidFill>
                <a:latin typeface="Google Sans Flex Medium"/>
                <a:ea typeface="Google Sans Flex Medium"/>
                <a:cs typeface="Google Sans Flex Medium"/>
                <a:sym typeface="Google Sans Flex Medium"/>
              </a:rPr>
              <a:t>·</a:t>
            </a:r>
            <a:endParaRPr lang="en-GB" sz="700"/>
          </a:p>
        </p:txBody>
      </p:sp>
      <p:sp>
        <p:nvSpPr>
          <p:cNvPr id="354" name="Shape 354"/>
          <p:cNvSpPr txBox="1"/>
          <p:nvPr/>
        </p:nvSpPr>
        <p:spPr>
          <a:xfrm>
            <a:off x="4096511" y="3337560"/>
            <a:ext cx="548640"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Packing</a:t>
            </a:r>
            <a:endParaRPr lang="en-GB" sz="650"/>
          </a:p>
        </p:txBody>
      </p:sp>
      <p:sp>
        <p:nvSpPr>
          <p:cNvPr id="355" name="Shape 355"/>
          <p:cNvSpPr txBox="1"/>
          <p:nvPr/>
        </p:nvSpPr>
        <p:spPr>
          <a:xfrm>
            <a:off x="4636007" y="3337560"/>
            <a:ext cx="1033271"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5B6678"/>
                </a:solidFill>
                <a:latin typeface="Google Sans Flex"/>
                <a:ea typeface="Google Sans Flex"/>
                <a:cs typeface="Google Sans Flex"/>
                <a:sym typeface="Google Sans Flex"/>
              </a:rPr>
              <a:t>Waits for payment</a:t>
            </a:r>
            <a:endParaRPr lang="en-GB" sz="600"/>
          </a:p>
        </p:txBody>
      </p:sp>
      <p:sp>
        <p:nvSpPr>
          <p:cNvPr id="356" name="Shape 356"/>
          <p:cNvSpPr txBox="1"/>
          <p:nvPr/>
        </p:nvSpPr>
        <p:spPr>
          <a:xfrm>
            <a:off x="3977639" y="3511296"/>
            <a:ext cx="109728"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5B6678"/>
                </a:solidFill>
                <a:latin typeface="Google Sans Flex Medium"/>
                <a:ea typeface="Google Sans Flex Medium"/>
                <a:cs typeface="Google Sans Flex Medium"/>
                <a:sym typeface="Google Sans Flex Medium"/>
              </a:rPr>
              <a:t>·</a:t>
            </a:r>
            <a:endParaRPr lang="en-GB" sz="700"/>
          </a:p>
        </p:txBody>
      </p:sp>
      <p:sp>
        <p:nvSpPr>
          <p:cNvPr id="357" name="Shape 357"/>
          <p:cNvSpPr txBox="1"/>
          <p:nvPr/>
        </p:nvSpPr>
        <p:spPr>
          <a:xfrm>
            <a:off x="4096511" y="3511296"/>
            <a:ext cx="548640"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50" dirty="0">
                <a:solidFill>
                  <a:srgbClr val="1F2937"/>
                </a:solidFill>
                <a:latin typeface="Google Sans Flex Medium"/>
                <a:ea typeface="Google Sans Flex Medium"/>
                <a:cs typeface="Google Sans Flex Medium"/>
                <a:sym typeface="Google Sans Flex Medium"/>
              </a:rPr>
              <a:t>Delivery</a:t>
            </a:r>
            <a:endParaRPr lang="en-GB" sz="650"/>
          </a:p>
        </p:txBody>
      </p:sp>
      <p:sp>
        <p:nvSpPr>
          <p:cNvPr id="358" name="Shape 358"/>
          <p:cNvSpPr txBox="1"/>
          <p:nvPr/>
        </p:nvSpPr>
        <p:spPr>
          <a:xfrm>
            <a:off x="4636007" y="3511296"/>
            <a:ext cx="1033271" cy="146304"/>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5B6678"/>
                </a:solidFill>
                <a:latin typeface="Google Sans Flex"/>
                <a:ea typeface="Google Sans Flex"/>
                <a:cs typeface="Google Sans Flex"/>
                <a:sym typeface="Google Sans Flex"/>
              </a:rPr>
              <a:t>Waits for packing</a:t>
            </a:r>
            <a:endParaRPr lang="en-GB" sz="600"/>
          </a:p>
        </p:txBody>
      </p:sp>
      <p:sp>
        <p:nvSpPr>
          <p:cNvPr id="359" name="Shape 359"/>
          <p:cNvSpPr/>
          <p:nvPr/>
        </p:nvSpPr>
        <p:spPr>
          <a:xfrm>
            <a:off x="3977639" y="3749040"/>
            <a:ext cx="1691639" cy="566928"/>
          </a:xfrm>
          <a:prstGeom prst="roundRect">
            <a:avLst>
              <a:gd name="adj" fmla="val 10000"/>
            </a:avLst>
          </a:prstGeom>
          <a:solidFill>
            <a:srgbClr val="E5F5EB"/>
          </a:solidFill>
          <a:ln w="8900">
            <a:solidFill>
              <a:srgbClr val="91A3B8"/>
            </a:solidFill>
            <a:prstDash val="solid"/>
          </a:ln>
        </p:spPr>
        <p:txBody>
          <a:bodyPr wrap="square" lIns="54864" tIns="54864" rIns="54864" bIns="54864" anchor="t" rtlCol="0">
            <a:noAutofit/>
          </a:bodyPr>
          <a:lstStyle/>
          <a:p>
            <a:pPr marL="0" indent="0" algn="l">
              <a:spcBef>
                <a:spcPts val="0"/>
              </a:spcBef>
              <a:buNone/>
            </a:pPr>
            <a:r>
              <a:rPr lang="en-GB" sz="550" dirty="0">
                <a:solidFill>
                  <a:srgbClr val="5B6678"/>
                </a:solidFill>
                <a:latin typeface="Google Sans Flex Medium"/>
                <a:ea typeface="Google Sans Flex Medium"/>
                <a:cs typeface="Google Sans Flex Medium"/>
                <a:sym typeface="Google Sans Flex Medium"/>
              </a:rPr>
              <a:t>NEXT STEP</a:t>
            </a:r>
            <a:endParaRPr lang="en-GB" sz="550"/>
          </a:p>
          <a:p>
            <a:pPr marL="0" indent="0" algn="l">
              <a:spcBef>
                <a:spcPts val="0"/>
              </a:spcBef>
              <a:buNone/>
            </a:pPr>
            <a:endParaRPr lang="en-GB" sz="300"/>
          </a:p>
        </p:txBody>
      </p:sp>
      <p:sp>
        <p:nvSpPr>
          <p:cNvPr id="360" name="Shape 360"/>
          <p:cNvSpPr/>
          <p:nvPr/>
        </p:nvSpPr>
        <p:spPr>
          <a:xfrm>
            <a:off x="4032503" y="3931920"/>
            <a:ext cx="1325880" cy="164592"/>
          </a:xfrm>
          <a:prstGeom prst="roundRect">
            <a:avLst>
              <a:gd name="adj" fmla="val 20000"/>
            </a:avLst>
          </a:prstGeom>
          <a:solidFill>
            <a:srgbClr val="FFFFFF"/>
          </a:solidFill>
          <a:ln w="8900">
            <a:solidFill>
              <a:srgbClr val="91A3B8"/>
            </a:solidFill>
            <a:prstDash val="solid"/>
          </a:ln>
        </p:spPr>
        <p:txBody>
          <a:bodyPr wrap="square" lIns="0" tIns="0" rIns="0" bIns="0" anchor="ctr" rtlCol="0">
            <a:noAutofit/>
          </a:bodyPr>
          <a:lstStyle/>
          <a:p>
            <a:pPr marL="0" indent="0" algn="ctr">
              <a:spcBef>
                <a:spcPts val="0"/>
              </a:spcBef>
              <a:buNone/>
            </a:pPr>
            <a:r>
              <a:rPr lang="en-GB" sz="600" dirty="0">
                <a:solidFill>
                  <a:srgbClr val="1F2937"/>
                </a:solidFill>
                <a:latin typeface="Google Sans Flex"/>
                <a:ea typeface="Google Sans Flex"/>
                <a:cs typeface="Google Sans Flex"/>
                <a:sym typeface="Google Sans Flex"/>
              </a:rPr>
              <a:t>Send PayMongo payment link</a:t>
            </a:r>
            <a:endParaRPr lang="en-GB" sz="600"/>
          </a:p>
        </p:txBody>
      </p:sp>
      <p:sp>
        <p:nvSpPr>
          <p:cNvPr id="361" name="Shape 361"/>
          <p:cNvSpPr/>
          <p:nvPr/>
        </p:nvSpPr>
        <p:spPr>
          <a:xfrm>
            <a:off x="4032503" y="4178808"/>
            <a:ext cx="1417319" cy="41148"/>
          </a:xfrm>
          <a:prstGeom prst="roundRect">
            <a:avLst>
              <a:gd name="adj" fmla="val 50000"/>
            </a:avLst>
          </a:prstGeom>
          <a:solidFill>
            <a:srgbClr val="D5DBE3"/>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62" name="Shape 362"/>
          <p:cNvSpPr/>
          <p:nvPr/>
        </p:nvSpPr>
        <p:spPr>
          <a:xfrm>
            <a:off x="5486400" y="2752344"/>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4</a:t>
            </a:r>
            <a:endParaRPr lang="en-GB" sz="800"/>
          </a:p>
        </p:txBody>
      </p:sp>
      <p:sp>
        <p:nvSpPr>
          <p:cNvPr id="363" name="Shape 363"/>
          <p:cNvSpPr/>
          <p:nvPr/>
        </p:nvSpPr>
        <p:spPr>
          <a:xfrm>
            <a:off x="347472" y="4626864"/>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1</a:t>
            </a:r>
            <a:endParaRPr lang="en-GB" sz="800"/>
          </a:p>
        </p:txBody>
      </p:sp>
      <p:sp>
        <p:nvSpPr>
          <p:cNvPr id="364" name="Shape 364"/>
          <p:cNvSpPr txBox="1"/>
          <p:nvPr/>
        </p:nvSpPr>
        <p:spPr>
          <a:xfrm>
            <a:off x="585216" y="4645152"/>
            <a:ext cx="242316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00" dirty="0">
                <a:solidFill>
                  <a:srgbClr val="334155"/>
                </a:solidFill>
                <a:latin typeface="Google Sans Flex"/>
                <a:ea typeface="Google Sans Flex"/>
                <a:cs typeface="Google Sans Flex"/>
                <a:sym typeface="Google Sans Flex"/>
              </a:rPr>
              <a:t>Chats tagged with checks to do</a:t>
            </a:r>
            <a:endParaRPr lang="en-GB" sz="800"/>
          </a:p>
        </p:txBody>
      </p:sp>
      <p:sp>
        <p:nvSpPr>
          <p:cNvPr id="365" name="Shape 365"/>
          <p:cNvSpPr/>
          <p:nvPr/>
        </p:nvSpPr>
        <p:spPr>
          <a:xfrm>
            <a:off x="3054096" y="4626864"/>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2</a:t>
            </a:r>
            <a:endParaRPr lang="en-GB" sz="800"/>
          </a:p>
        </p:txBody>
      </p:sp>
      <p:sp>
        <p:nvSpPr>
          <p:cNvPr id="366" name="Shape 366"/>
          <p:cNvSpPr txBox="1"/>
          <p:nvPr/>
        </p:nvSpPr>
        <p:spPr>
          <a:xfrm>
            <a:off x="3291839" y="4645152"/>
            <a:ext cx="242316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00" dirty="0">
                <a:solidFill>
                  <a:srgbClr val="334155"/>
                </a:solidFill>
                <a:latin typeface="Google Sans Flex"/>
                <a:ea typeface="Google Sans Flex"/>
                <a:cs typeface="Google Sans Flex"/>
                <a:sym typeface="Google Sans Flex"/>
              </a:rPr>
              <a:t>The customer's own messages and receipts</a:t>
            </a:r>
            <a:endParaRPr lang="en-GB" sz="800"/>
          </a:p>
        </p:txBody>
      </p:sp>
      <p:sp>
        <p:nvSpPr>
          <p:cNvPr id="367" name="Shape 367"/>
          <p:cNvSpPr/>
          <p:nvPr/>
        </p:nvSpPr>
        <p:spPr>
          <a:xfrm>
            <a:off x="347472" y="4828032"/>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3</a:t>
            </a:r>
            <a:endParaRPr lang="en-GB" sz="800"/>
          </a:p>
        </p:txBody>
      </p:sp>
      <p:sp>
        <p:nvSpPr>
          <p:cNvPr id="368" name="Shape 368"/>
          <p:cNvSpPr txBox="1"/>
          <p:nvPr/>
        </p:nvSpPr>
        <p:spPr>
          <a:xfrm>
            <a:off x="585216" y="4846320"/>
            <a:ext cx="242316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00" dirty="0">
                <a:solidFill>
                  <a:srgbClr val="334155"/>
                </a:solidFill>
                <a:latin typeface="Google Sans Flex"/>
                <a:ea typeface="Google Sans Flex"/>
                <a:cs typeface="Google Sans Flex"/>
                <a:sym typeface="Google Sans Flex"/>
              </a:rPr>
              <a:t>AI brief and checks, each with what to do</a:t>
            </a:r>
            <a:endParaRPr lang="en-GB" sz="800"/>
          </a:p>
        </p:txBody>
      </p:sp>
      <p:sp>
        <p:nvSpPr>
          <p:cNvPr id="369" name="Shape 369"/>
          <p:cNvSpPr/>
          <p:nvPr/>
        </p:nvSpPr>
        <p:spPr>
          <a:xfrm>
            <a:off x="3054096" y="4828032"/>
            <a:ext cx="182880" cy="182880"/>
          </a:xfrm>
          <a:prstGeom prst="ellipse">
            <a:avLst/>
          </a:prstGeom>
          <a:solidFill>
            <a:srgbClr val="334155"/>
          </a:solidFill>
          <a:ln>
            <a:noFill/>
          </a:ln>
        </p:spPr>
        <p:txBody>
          <a:bodyPr wrap="square" lIns="0" tIns="0" rIns="0" bIns="0" anchor="ctr" rtlCol="0">
            <a:noAutofit/>
          </a:bodyPr>
          <a:lstStyle/>
          <a:p>
            <a:pPr marL="0" indent="0" algn="ctr">
              <a:spcBef>
                <a:spcPts val="0"/>
              </a:spcBef>
              <a:buNone/>
            </a:pPr>
            <a:r>
              <a:rPr lang="en-GB" sz="800" dirty="0">
                <a:solidFill>
                  <a:srgbClr val="FFFFFF"/>
                </a:solidFill>
                <a:latin typeface="Google Sans Flex"/>
                <a:ea typeface="Google Sans Flex"/>
                <a:cs typeface="Google Sans Flex"/>
                <a:sym typeface="Google Sans Flex"/>
              </a:rPr>
              <a:t>4</a:t>
            </a:r>
            <a:endParaRPr lang="en-GB" sz="800"/>
          </a:p>
        </p:txBody>
      </p:sp>
      <p:sp>
        <p:nvSpPr>
          <p:cNvPr id="370" name="Shape 370"/>
          <p:cNvSpPr txBox="1"/>
          <p:nvPr/>
        </p:nvSpPr>
        <p:spPr>
          <a:xfrm>
            <a:off x="3291839" y="4846320"/>
            <a:ext cx="2423160" cy="164592"/>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00" dirty="0">
                <a:solidFill>
                  <a:srgbClr val="334155"/>
                </a:solidFill>
                <a:latin typeface="Google Sans Flex"/>
                <a:ea typeface="Google Sans Flex"/>
                <a:cs typeface="Google Sans Flex"/>
                <a:sym typeface="Google Sans Flex"/>
              </a:rPr>
              <a:t>Order status, and the next step</a:t>
            </a:r>
            <a:endParaRPr lang="en-GB" sz="800"/>
          </a:p>
        </p:txBody>
      </p:sp>
      <p:sp>
        <p:nvSpPr>
          <p:cNvPr id="371" name="Shape 371"/>
          <p:cNvSpPr txBox="1"/>
          <p:nvPr/>
        </p:nvSpPr>
        <p:spPr>
          <a:xfrm>
            <a:off x="5989320" y="1078992"/>
            <a:ext cx="2807208" cy="201168"/>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Orders · claim review</a:t>
            </a:r>
            <a:endParaRPr lang="en-GB" sz="1100"/>
          </a:p>
        </p:txBody>
      </p:sp>
      <p:sp>
        <p:nvSpPr>
          <p:cNvPr id="372" name="Shape 372"/>
          <p:cNvSpPr txBox="1"/>
          <p:nvPr/>
        </p:nvSpPr>
        <p:spPr>
          <a:xfrm>
            <a:off x="5989320" y="1261872"/>
            <a:ext cx="2807208" cy="18288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50" dirty="0">
                <a:solidFill>
                  <a:srgbClr val="5B6678"/>
                </a:solidFill>
                <a:latin typeface="Google Sans Flex"/>
                <a:ea typeface="Google Sans Flex"/>
                <a:cs typeface="Google Sans Flex"/>
                <a:sym typeface="Google Sans Flex"/>
              </a:rPr>
              <a:t>Evidence beside the claim; AI cites each finding</a:t>
            </a:r>
            <a:endParaRPr lang="en-GB" sz="850"/>
          </a:p>
        </p:txBody>
      </p:sp>
      <p:sp>
        <p:nvSpPr>
          <p:cNvPr id="373" name="Shape 373"/>
          <p:cNvSpPr/>
          <p:nvPr/>
        </p:nvSpPr>
        <p:spPr>
          <a:xfrm>
            <a:off x="5989320" y="1463040"/>
            <a:ext cx="2807208" cy="1536192"/>
          </a:xfrm>
          <a:prstGeom prst="roundRect">
            <a:avLst>
              <a:gd name="adj" fmla="val 4000"/>
            </a:avLst>
          </a:prstGeom>
          <a:solidFill>
            <a:srgbClr val="FFFFFF"/>
          </a:solidFill>
          <a:ln w="8900">
            <a:solidFill>
              <a:srgbClr val="91A3B8"/>
            </a:solidFill>
            <a:prstDash val="solid"/>
          </a:ln>
        </p:spPr>
        <p:txBody>
          <a:bodyPr wrap="square" lIns="36576" tIns="36576" rIns="36576" bIns="36576" anchor="t" rtlCol="0">
            <a:noAutofit/>
          </a:bodyPr>
          <a:lstStyle/>
          <a:p>
            <a:pPr marL="0" indent="0" algn="l">
              <a:spcBef>
                <a:spcPts val="0"/>
              </a:spcBef>
              <a:buNone/>
            </a:pPr>
            <a:endParaRPr lang="en-GB" sz="800"/>
          </a:p>
        </p:txBody>
      </p:sp>
      <p:sp>
        <p:nvSpPr>
          <p:cNvPr id="374" name="Shape 374"/>
          <p:cNvSpPr txBox="1"/>
          <p:nvPr/>
        </p:nvSpPr>
        <p:spPr>
          <a:xfrm>
            <a:off x="6080759" y="1527048"/>
            <a:ext cx="2624327" cy="155448"/>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1F2937"/>
                </a:solidFill>
                <a:latin typeface="Google Sans Flex Medium"/>
                <a:ea typeface="Google Sans Flex Medium"/>
                <a:cs typeface="Google Sans Flex Medium"/>
                <a:sym typeface="Google Sans Flex Medium"/>
              </a:rPr>
              <a:t>Damaged · open · from the customer's chat</a:t>
            </a:r>
            <a:endParaRPr lang="en-GB" sz="700"/>
          </a:p>
        </p:txBody>
      </p:sp>
      <p:sp>
        <p:nvSpPr>
          <p:cNvPr id="375" name="Shape 375"/>
          <p:cNvSpPr/>
          <p:nvPr/>
        </p:nvSpPr>
        <p:spPr>
          <a:xfrm>
            <a:off x="6080759" y="1737360"/>
            <a:ext cx="585216" cy="365760"/>
          </a:xfrm>
          <a:prstGeom prst="rect">
            <a:avLst/>
          </a:prstGeom>
          <a:solidFill>
            <a:srgbClr val="F1F3F5"/>
          </a:solidFill>
          <a:ln w="8900">
            <a:solidFill>
              <a:srgbClr val="91A3B8"/>
            </a:solidFill>
            <a:prstDash val="dash"/>
          </a:ln>
        </p:spPr>
        <p:txBody>
          <a:bodyPr wrap="square" lIns="18288" tIns="18288" rIns="18288" bIns="18288" anchor="ctr" rtlCol="0">
            <a:noAutofit/>
          </a:bodyPr>
          <a:lstStyle/>
          <a:p>
            <a:pPr marL="0" indent="0" algn="ctr">
              <a:spcBef>
                <a:spcPts val="0"/>
              </a:spcBef>
              <a:buNone/>
            </a:pPr>
            <a:r>
              <a:rPr lang="en-GB" sz="550" dirty="0">
                <a:solidFill>
                  <a:srgbClr val="5B6678"/>
                </a:solidFill>
                <a:latin typeface="Google Sans Flex"/>
                <a:ea typeface="Google Sans Flex"/>
                <a:cs typeface="Google Sans Flex"/>
                <a:sym typeface="Google Sans Flex"/>
              </a:rPr>
              <a:t>photo</a:t>
            </a:r>
            <a:endParaRPr lang="en-GB" sz="550"/>
          </a:p>
        </p:txBody>
      </p:sp>
      <p:sp>
        <p:nvSpPr>
          <p:cNvPr id="376" name="Shape 376"/>
          <p:cNvSpPr/>
          <p:nvPr/>
        </p:nvSpPr>
        <p:spPr>
          <a:xfrm>
            <a:off x="6739127" y="1737360"/>
            <a:ext cx="585216" cy="365760"/>
          </a:xfrm>
          <a:prstGeom prst="rect">
            <a:avLst/>
          </a:prstGeom>
          <a:solidFill>
            <a:srgbClr val="F1F3F5"/>
          </a:solidFill>
          <a:ln w="8900">
            <a:solidFill>
              <a:srgbClr val="91A3B8"/>
            </a:solidFill>
            <a:prstDash val="dash"/>
          </a:ln>
        </p:spPr>
        <p:txBody>
          <a:bodyPr wrap="square" lIns="18288" tIns="18288" rIns="18288" bIns="18288" anchor="ctr" rtlCol="0">
            <a:noAutofit/>
          </a:bodyPr>
          <a:lstStyle/>
          <a:p>
            <a:pPr marL="0" indent="0" algn="ctr">
              <a:spcBef>
                <a:spcPts val="0"/>
              </a:spcBef>
              <a:buNone/>
            </a:pPr>
            <a:r>
              <a:rPr lang="en-GB" sz="550" dirty="0">
                <a:solidFill>
                  <a:srgbClr val="5B6678"/>
                </a:solidFill>
                <a:latin typeface="Google Sans Flex"/>
                <a:ea typeface="Google Sans Flex"/>
                <a:cs typeface="Google Sans Flex"/>
                <a:sym typeface="Google Sans Flex"/>
              </a:rPr>
              <a:t>unboxing video</a:t>
            </a:r>
            <a:endParaRPr lang="en-GB" sz="550"/>
          </a:p>
        </p:txBody>
      </p:sp>
      <p:sp>
        <p:nvSpPr>
          <p:cNvPr id="377" name="Shape 377"/>
          <p:cNvSpPr/>
          <p:nvPr/>
        </p:nvSpPr>
        <p:spPr>
          <a:xfrm>
            <a:off x="7397496" y="1737360"/>
            <a:ext cx="585216" cy="365760"/>
          </a:xfrm>
          <a:prstGeom prst="rect">
            <a:avLst/>
          </a:prstGeom>
          <a:solidFill>
            <a:srgbClr val="F1F3F5"/>
          </a:solidFill>
          <a:ln w="8900">
            <a:solidFill>
              <a:srgbClr val="91A3B8"/>
            </a:solidFill>
            <a:prstDash val="dash"/>
          </a:ln>
        </p:spPr>
        <p:txBody>
          <a:bodyPr wrap="square" lIns="18288" tIns="18288" rIns="18288" bIns="18288" anchor="ctr" rtlCol="0">
            <a:noAutofit/>
          </a:bodyPr>
          <a:lstStyle/>
          <a:p>
            <a:pPr marL="0" indent="0" algn="ctr">
              <a:spcBef>
                <a:spcPts val="0"/>
              </a:spcBef>
              <a:buNone/>
            </a:pPr>
            <a:r>
              <a:rPr lang="en-GB" sz="550" dirty="0">
                <a:solidFill>
                  <a:srgbClr val="5B6678"/>
                </a:solidFill>
                <a:latin typeface="Google Sans Flex"/>
                <a:ea typeface="Google Sans Flex"/>
                <a:cs typeface="Google Sans Flex"/>
                <a:sym typeface="Google Sans Flex"/>
              </a:rPr>
              <a:t>packing video</a:t>
            </a:r>
            <a:endParaRPr lang="en-GB" sz="550"/>
          </a:p>
        </p:txBody>
      </p:sp>
      <p:sp>
        <p:nvSpPr>
          <p:cNvPr id="378" name="Shape 378"/>
          <p:cNvSpPr txBox="1"/>
          <p:nvPr/>
        </p:nvSpPr>
        <p:spPr>
          <a:xfrm>
            <a:off x="6080759" y="2157984"/>
            <a:ext cx="2624327" cy="13716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334155"/>
                </a:solidFill>
                <a:latin typeface="Google Sans Flex"/>
                <a:ea typeface="Google Sans Flex"/>
                <a:cs typeface="Google Sans Flex"/>
                <a:sym typeface="Google Sans Flex"/>
              </a:rPr>
              <a:t>▸ Custody check: suggests Unknown</a:t>
            </a:r>
            <a:endParaRPr lang="en-GB" sz="600"/>
          </a:p>
        </p:txBody>
      </p:sp>
      <p:sp>
        <p:nvSpPr>
          <p:cNvPr id="379" name="Shape 379"/>
          <p:cNvSpPr/>
          <p:nvPr/>
        </p:nvSpPr>
        <p:spPr>
          <a:xfrm>
            <a:off x="6080759" y="2331720"/>
            <a:ext cx="2624327" cy="384048"/>
          </a:xfrm>
          <a:prstGeom prst="roundRect">
            <a:avLst>
              <a:gd name="adj" fmla="val 8000"/>
            </a:avLst>
          </a:prstGeom>
          <a:solidFill>
            <a:srgbClr val="E5F0FF"/>
          </a:solidFill>
          <a:ln>
            <a:noFill/>
          </a:ln>
        </p:spPr>
        <p:txBody>
          <a:bodyPr wrap="square" lIns="45720" tIns="45720" rIns="45720" bIns="45720" anchor="t" rtlCol="0">
            <a:noAutofit/>
          </a:bodyPr>
          <a:lstStyle/>
          <a:p>
            <a:pPr marL="0" indent="0" algn="l">
              <a:spcBef>
                <a:spcPts val="0"/>
              </a:spcBef>
              <a:buNone/>
            </a:pPr>
            <a:r>
              <a:rPr lang="en-GB" sz="600" dirty="0">
                <a:solidFill>
                  <a:srgbClr val="1F2937"/>
                </a:solidFill>
                <a:latin typeface="Google Sans Flex"/>
                <a:ea typeface="Google Sans Flex"/>
                <a:cs typeface="Google Sans Flex"/>
                <a:sym typeface="Google Sans Flex"/>
              </a:rPr>
              <a:t>AI review: Supported · packed intact  [KP1] [KV1C]</a:t>
            </a:r>
            <a:endParaRPr lang="en-GB" sz="600"/>
          </a:p>
          <a:p>
            <a:pPr marL="0" indent="0" algn="l">
              <a:spcBef>
                <a:spcPts val="100"/>
              </a:spcBef>
              <a:buNone/>
            </a:pPr>
            <a:r>
              <a:rPr lang="en-GB" sz="600" dirty="0">
                <a:solidFill>
                  <a:srgbClr val="1F2937"/>
                </a:solidFill>
                <a:latin typeface="Google Sans Flex Medium"/>
                <a:ea typeface="Google Sans Flex Medium"/>
                <a:cs typeface="Google Sans Flex Medium"/>
                <a:sym typeface="Google Sans Flex Medium"/>
              </a:rPr>
              <a:t>Suggested: Send a replacement  [CV1C] [P1]</a:t>
            </a:r>
            <a:endParaRPr lang="en-GB" sz="600"/>
          </a:p>
        </p:txBody>
      </p:sp>
      <p:sp>
        <p:nvSpPr>
          <p:cNvPr id="380" name="Shape 380"/>
          <p:cNvSpPr/>
          <p:nvPr/>
        </p:nvSpPr>
        <p:spPr>
          <a:xfrm>
            <a:off x="6080759" y="2779776"/>
            <a:ext cx="731520" cy="155448"/>
          </a:xfrm>
          <a:prstGeom prst="roundRect">
            <a:avLst>
              <a:gd name="adj" fmla="val 20000"/>
            </a:avLst>
          </a:prstGeom>
          <a:solidFill>
            <a:srgbClr val="FFFFFF"/>
          </a:solidFill>
          <a:ln w="8900">
            <a:solidFill>
              <a:srgbClr val="91A3B8"/>
            </a:solidFill>
            <a:prstDash val="solid"/>
          </a:ln>
        </p:spPr>
        <p:txBody>
          <a:bodyPr wrap="square" lIns="0" tIns="0" rIns="0" bIns="0" anchor="ctr" rtlCol="0">
            <a:noAutofit/>
          </a:bodyPr>
          <a:lstStyle/>
          <a:p>
            <a:pPr marL="0" indent="0" algn="ctr">
              <a:spcBef>
                <a:spcPts val="0"/>
              </a:spcBef>
              <a:buNone/>
            </a:pPr>
            <a:r>
              <a:rPr lang="en-GB" sz="600" dirty="0">
                <a:solidFill>
                  <a:srgbClr val="1F2937"/>
                </a:solidFill>
                <a:latin typeface="Google Sans Flex"/>
                <a:ea typeface="Google Sans Flex"/>
                <a:cs typeface="Google Sans Flex"/>
                <a:sym typeface="Google Sans Flex"/>
              </a:rPr>
              <a:t>Review with AI</a:t>
            </a:r>
            <a:endParaRPr lang="en-GB" sz="600"/>
          </a:p>
        </p:txBody>
      </p:sp>
      <p:sp>
        <p:nvSpPr>
          <p:cNvPr id="381" name="Shape 381"/>
          <p:cNvSpPr/>
          <p:nvPr/>
        </p:nvSpPr>
        <p:spPr>
          <a:xfrm>
            <a:off x="6867143" y="2779776"/>
            <a:ext cx="868680" cy="155448"/>
          </a:xfrm>
          <a:prstGeom prst="roundRect">
            <a:avLst>
              <a:gd name="adj" fmla="val 20000"/>
            </a:avLst>
          </a:prstGeom>
          <a:solidFill>
            <a:srgbClr val="FFFFFF"/>
          </a:solidFill>
          <a:ln w="8900">
            <a:solidFill>
              <a:srgbClr val="91A3B8"/>
            </a:solidFill>
            <a:prstDash val="solid"/>
          </a:ln>
        </p:spPr>
        <p:txBody>
          <a:bodyPr wrap="square" lIns="0" tIns="0" rIns="0" bIns="0" anchor="ctr" rtlCol="0">
            <a:noAutofit/>
          </a:bodyPr>
          <a:lstStyle/>
          <a:p>
            <a:pPr marL="0" indent="0" algn="ctr">
              <a:spcBef>
                <a:spcPts val="0"/>
              </a:spcBef>
              <a:buNone/>
            </a:pPr>
            <a:r>
              <a:rPr lang="en-GB" sz="600" dirty="0">
                <a:solidFill>
                  <a:srgbClr val="1F2937"/>
                </a:solidFill>
                <a:latin typeface="Google Sans Flex"/>
                <a:ea typeface="Google Sans Flex"/>
                <a:cs typeface="Google Sans Flex"/>
                <a:sym typeface="Google Sans Flex"/>
              </a:rPr>
              <a:t>Decide without AI</a:t>
            </a:r>
            <a:endParaRPr lang="en-GB" sz="600"/>
          </a:p>
        </p:txBody>
      </p:sp>
      <p:sp>
        <p:nvSpPr>
          <p:cNvPr id="382" name="Shape 382"/>
          <p:cNvSpPr/>
          <p:nvPr/>
        </p:nvSpPr>
        <p:spPr>
          <a:xfrm>
            <a:off x="7790687" y="2779776"/>
            <a:ext cx="502920" cy="155448"/>
          </a:xfrm>
          <a:prstGeom prst="roundRect">
            <a:avLst>
              <a:gd name="adj" fmla="val 20000"/>
            </a:avLst>
          </a:prstGeom>
          <a:solidFill>
            <a:srgbClr val="FFFFFF"/>
          </a:solidFill>
          <a:ln w="8900">
            <a:solidFill>
              <a:srgbClr val="91A3B8"/>
            </a:solidFill>
            <a:prstDash val="solid"/>
          </a:ln>
        </p:spPr>
        <p:txBody>
          <a:bodyPr wrap="square" lIns="0" tIns="0" rIns="0" bIns="0" anchor="ctr" rtlCol="0">
            <a:noAutofit/>
          </a:bodyPr>
          <a:lstStyle/>
          <a:p>
            <a:pPr marL="0" indent="0" algn="ctr">
              <a:spcBef>
                <a:spcPts val="0"/>
              </a:spcBef>
              <a:buNone/>
            </a:pPr>
            <a:r>
              <a:rPr lang="en-GB" sz="600" dirty="0">
                <a:solidFill>
                  <a:srgbClr val="1F2937"/>
                </a:solidFill>
                <a:latin typeface="Google Sans Flex"/>
                <a:ea typeface="Google Sans Flex"/>
                <a:cs typeface="Google Sans Flex"/>
                <a:sym typeface="Google Sans Flex"/>
              </a:rPr>
              <a:t>Escalate</a:t>
            </a:r>
            <a:endParaRPr lang="en-GB" sz="600"/>
          </a:p>
        </p:txBody>
      </p:sp>
      <p:sp>
        <p:nvSpPr>
          <p:cNvPr id="383" name="Shape 383"/>
          <p:cNvSpPr txBox="1"/>
          <p:nvPr/>
        </p:nvSpPr>
        <p:spPr>
          <a:xfrm>
            <a:off x="5989320" y="3108960"/>
            <a:ext cx="2807208" cy="201168"/>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Patterns</a:t>
            </a:r>
            <a:endParaRPr lang="en-GB" sz="1100"/>
          </a:p>
        </p:txBody>
      </p:sp>
      <p:sp>
        <p:nvSpPr>
          <p:cNvPr id="384" name="Shape 384"/>
          <p:cNvSpPr txBox="1"/>
          <p:nvPr/>
        </p:nvSpPr>
        <p:spPr>
          <a:xfrm>
            <a:off x="5989320" y="3291840"/>
            <a:ext cx="2807208" cy="18288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850" dirty="0">
                <a:solidFill>
                  <a:srgbClr val="5B6678"/>
                </a:solidFill>
                <a:latin typeface="Google Sans Flex"/>
                <a:ea typeface="Google Sans Flex"/>
                <a:cs typeface="Google Sans Flex"/>
                <a:sym typeface="Google Sans Flex"/>
              </a:rPr>
              <a:t>What the checks found across chats, against the weeks before</a:t>
            </a:r>
            <a:endParaRPr lang="en-GB" sz="850"/>
          </a:p>
        </p:txBody>
      </p:sp>
      <p:sp>
        <p:nvSpPr>
          <p:cNvPr id="385" name="Shape 385"/>
          <p:cNvSpPr/>
          <p:nvPr/>
        </p:nvSpPr>
        <p:spPr>
          <a:xfrm>
            <a:off x="5989320" y="3493008"/>
            <a:ext cx="2807208" cy="1463040"/>
          </a:xfrm>
          <a:prstGeom prst="roundRect">
            <a:avLst>
              <a:gd name="adj" fmla="val 4000"/>
            </a:avLst>
          </a:prstGeom>
          <a:solidFill>
            <a:srgbClr val="FFFFFF"/>
          </a:solidFill>
          <a:ln w="8900">
            <a:solidFill>
              <a:srgbClr val="91A3B8"/>
            </a:solidFill>
            <a:prstDash val="solid"/>
          </a:ln>
        </p:spPr>
        <p:txBody>
          <a:bodyPr wrap="square" lIns="36576" tIns="36576" rIns="36576" bIns="36576" anchor="t" rtlCol="0">
            <a:noAutofit/>
          </a:bodyPr>
          <a:lstStyle/>
          <a:p>
            <a:pPr marL="0" indent="0" algn="l">
              <a:spcBef>
                <a:spcPts val="0"/>
              </a:spcBef>
              <a:buNone/>
            </a:pPr>
            <a:endParaRPr lang="en-GB" sz="800"/>
          </a:p>
        </p:txBody>
      </p:sp>
      <p:sp>
        <p:nvSpPr>
          <p:cNvPr id="386" name="Shape 386"/>
          <p:cNvSpPr txBox="1"/>
          <p:nvPr/>
        </p:nvSpPr>
        <p:spPr>
          <a:xfrm>
            <a:off x="6080759" y="3557015"/>
            <a:ext cx="2624327" cy="155448"/>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700" dirty="0">
                <a:solidFill>
                  <a:srgbClr val="1F2937"/>
                </a:solidFill>
                <a:latin typeface="Google Sans Flex Medium"/>
                <a:ea typeface="Google Sans Flex Medium"/>
                <a:cs typeface="Google Sans Flex Medium"/>
                <a:sym typeface="Google Sans Flex Medium"/>
              </a:rPr>
              <a:t>Receipts that don't fit the order or your GCash</a:t>
            </a:r>
            <a:endParaRPr lang="en-GB" sz="700"/>
          </a:p>
        </p:txBody>
      </p:sp>
      <p:sp>
        <p:nvSpPr>
          <p:cNvPr id="387" name="Shape 387"/>
          <p:cNvSpPr/>
          <p:nvPr/>
        </p:nvSpPr>
        <p:spPr>
          <a:xfrm>
            <a:off x="6080759" y="3739896"/>
            <a:ext cx="1417320" cy="137160"/>
          </a:xfrm>
          <a:prstGeom prst="roundRect">
            <a:avLst>
              <a:gd name="adj" fmla="val 30000"/>
            </a:avLst>
          </a:prstGeom>
          <a:solidFill>
            <a:srgbClr val="E5F5EB"/>
          </a:solidFill>
          <a:ln>
            <a:noFill/>
          </a:ln>
        </p:spPr>
        <p:txBody>
          <a:bodyPr wrap="square" lIns="27432" tIns="27432" rIns="27432" bIns="27432" anchor="ctr" rtlCol="0">
            <a:noAutofit/>
          </a:bodyPr>
          <a:lstStyle/>
          <a:p>
            <a:pPr marL="0" indent="0" algn="l">
              <a:spcBef>
                <a:spcPts val="0"/>
              </a:spcBef>
              <a:buNone/>
            </a:pPr>
            <a:r>
              <a:rPr lang="en-GB" sz="550" dirty="0">
                <a:solidFill>
                  <a:srgbClr val="0B6E66"/>
                </a:solidFill>
                <a:latin typeface="Google Sans Flex"/>
                <a:ea typeface="Google Sans Flex"/>
                <a:cs typeface="Google Sans Flex"/>
                <a:sym typeface="Google Sans Flex"/>
              </a:rPr>
              <a:t>Up from 3 since your last look</a:t>
            </a:r>
            <a:endParaRPr lang="en-GB" sz="550"/>
          </a:p>
        </p:txBody>
      </p:sp>
      <p:sp>
        <p:nvSpPr>
          <p:cNvPr id="388" name="Shape 388"/>
          <p:cNvSpPr/>
          <p:nvPr/>
        </p:nvSpPr>
        <p:spPr>
          <a:xfrm>
            <a:off x="6172200" y="4389120"/>
            <a:ext cx="219456" cy="18288"/>
          </a:xfrm>
          <a:prstGeom prst="rect">
            <a:avLst/>
          </a:prstGeom>
          <a:solidFill>
            <a:srgbClr val="C3CCD6"/>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89" name="Shape 389"/>
          <p:cNvSpPr txBox="1"/>
          <p:nvPr/>
        </p:nvSpPr>
        <p:spPr>
          <a:xfrm>
            <a:off x="6099048" y="4425696"/>
            <a:ext cx="365760" cy="118872"/>
          </a:xfrm>
          <a:prstGeom prst="roundRect">
            <a:avLst>
              <a:gd name="adj" fmla="val 10000"/>
            </a:avLst>
          </a:prstGeom>
          <a:noFill/>
          <a:ln>
            <a:noFill/>
          </a:ln>
        </p:spPr>
        <p:txBody>
          <a:bodyPr wrap="square" lIns="0" tIns="0" rIns="0" bIns="0" anchor="t" rtlCol="0">
            <a:noAutofit/>
          </a:bodyPr>
          <a:lstStyle/>
          <a:p>
            <a:pPr marL="0" indent="0" algn="ctr">
              <a:spcBef>
                <a:spcPts val="0"/>
              </a:spcBef>
              <a:buNone/>
            </a:pPr>
            <a:r>
              <a:rPr lang="en-GB" sz="500" dirty="0">
                <a:solidFill>
                  <a:srgbClr val="5B6678"/>
                </a:solidFill>
                <a:latin typeface="Google Sans Flex"/>
                <a:ea typeface="Google Sans Flex"/>
                <a:cs typeface="Google Sans Flex"/>
                <a:sym typeface="Google Sans Flex"/>
              </a:rPr>
              <a:t>3 wk</a:t>
            </a:r>
            <a:endParaRPr lang="en-GB" sz="500"/>
          </a:p>
        </p:txBody>
      </p:sp>
      <p:sp>
        <p:nvSpPr>
          <p:cNvPr id="390" name="Shape 390"/>
          <p:cNvSpPr/>
          <p:nvPr/>
        </p:nvSpPr>
        <p:spPr>
          <a:xfrm>
            <a:off x="6519672" y="4389120"/>
            <a:ext cx="219456" cy="18288"/>
          </a:xfrm>
          <a:prstGeom prst="rect">
            <a:avLst/>
          </a:prstGeom>
          <a:solidFill>
            <a:srgbClr val="C3CCD6"/>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91" name="Shape 391"/>
          <p:cNvSpPr txBox="1"/>
          <p:nvPr/>
        </p:nvSpPr>
        <p:spPr>
          <a:xfrm>
            <a:off x="6446520" y="4425696"/>
            <a:ext cx="365760" cy="118872"/>
          </a:xfrm>
          <a:prstGeom prst="roundRect">
            <a:avLst>
              <a:gd name="adj" fmla="val 10000"/>
            </a:avLst>
          </a:prstGeom>
          <a:noFill/>
          <a:ln>
            <a:noFill/>
          </a:ln>
        </p:spPr>
        <p:txBody>
          <a:bodyPr wrap="square" lIns="0" tIns="0" rIns="0" bIns="0" anchor="t" rtlCol="0">
            <a:noAutofit/>
          </a:bodyPr>
          <a:lstStyle/>
          <a:p>
            <a:pPr marL="0" indent="0" algn="ctr">
              <a:spcBef>
                <a:spcPts val="0"/>
              </a:spcBef>
              <a:buNone/>
            </a:pPr>
            <a:r>
              <a:rPr lang="en-GB" sz="500" dirty="0">
                <a:solidFill>
                  <a:srgbClr val="5B6678"/>
                </a:solidFill>
                <a:latin typeface="Google Sans Flex"/>
                <a:ea typeface="Google Sans Flex"/>
                <a:cs typeface="Google Sans Flex"/>
                <a:sym typeface="Google Sans Flex"/>
              </a:rPr>
              <a:t>2 wk</a:t>
            </a:r>
            <a:endParaRPr lang="en-GB" sz="500"/>
          </a:p>
        </p:txBody>
      </p:sp>
      <p:sp>
        <p:nvSpPr>
          <p:cNvPr id="392" name="Shape 392"/>
          <p:cNvSpPr/>
          <p:nvPr/>
        </p:nvSpPr>
        <p:spPr>
          <a:xfrm>
            <a:off x="6867144" y="4389120"/>
            <a:ext cx="219456" cy="18288"/>
          </a:xfrm>
          <a:prstGeom prst="rect">
            <a:avLst/>
          </a:prstGeom>
          <a:solidFill>
            <a:srgbClr val="C3CCD6"/>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93" name="Shape 393"/>
          <p:cNvSpPr txBox="1"/>
          <p:nvPr/>
        </p:nvSpPr>
        <p:spPr>
          <a:xfrm>
            <a:off x="6793992" y="4425696"/>
            <a:ext cx="365760" cy="118872"/>
          </a:xfrm>
          <a:prstGeom prst="roundRect">
            <a:avLst>
              <a:gd name="adj" fmla="val 10000"/>
            </a:avLst>
          </a:prstGeom>
          <a:noFill/>
          <a:ln>
            <a:noFill/>
          </a:ln>
        </p:spPr>
        <p:txBody>
          <a:bodyPr wrap="square" lIns="0" tIns="0" rIns="0" bIns="0" anchor="t" rtlCol="0">
            <a:noAutofit/>
          </a:bodyPr>
          <a:lstStyle/>
          <a:p>
            <a:pPr marL="0" indent="0" algn="ctr">
              <a:spcBef>
                <a:spcPts val="0"/>
              </a:spcBef>
              <a:buNone/>
            </a:pPr>
            <a:r>
              <a:rPr lang="en-GB" sz="500" dirty="0">
                <a:solidFill>
                  <a:srgbClr val="5B6678"/>
                </a:solidFill>
                <a:latin typeface="Google Sans Flex"/>
                <a:ea typeface="Google Sans Flex"/>
                <a:cs typeface="Google Sans Flex"/>
                <a:sym typeface="Google Sans Flex"/>
              </a:rPr>
              <a:t>last wk</a:t>
            </a:r>
            <a:endParaRPr lang="en-GB" sz="500"/>
          </a:p>
        </p:txBody>
      </p:sp>
      <p:sp>
        <p:nvSpPr>
          <p:cNvPr id="394" name="Shape 394"/>
          <p:cNvSpPr/>
          <p:nvPr/>
        </p:nvSpPr>
        <p:spPr>
          <a:xfrm>
            <a:off x="7214616" y="3968496"/>
            <a:ext cx="219456" cy="438912"/>
          </a:xfrm>
          <a:prstGeom prst="rect">
            <a:avLst/>
          </a:prstGeom>
          <a:solidFill>
            <a:srgbClr val="B45309"/>
          </a:solidFill>
          <a:ln>
            <a:noFill/>
          </a:ln>
        </p:spPr>
        <p:txBody>
          <a:bodyPr wrap="square" lIns="36576" tIns="36576" rIns="36576" bIns="36576" anchor="t" rtlCol="0">
            <a:noAutofit/>
          </a:bodyPr>
          <a:lstStyle/>
          <a:p>
            <a:pPr marL="0" indent="0" algn="l">
              <a:spcBef>
                <a:spcPts val="0"/>
              </a:spcBef>
              <a:buNone/>
            </a:pPr>
            <a:endParaRPr lang="en-GB" sz="800"/>
          </a:p>
        </p:txBody>
      </p:sp>
      <p:sp>
        <p:nvSpPr>
          <p:cNvPr id="395" name="Shape 395"/>
          <p:cNvSpPr txBox="1"/>
          <p:nvPr/>
        </p:nvSpPr>
        <p:spPr>
          <a:xfrm>
            <a:off x="7141464" y="4425696"/>
            <a:ext cx="365760" cy="118872"/>
          </a:xfrm>
          <a:prstGeom prst="roundRect">
            <a:avLst>
              <a:gd name="adj" fmla="val 10000"/>
            </a:avLst>
          </a:prstGeom>
          <a:noFill/>
          <a:ln>
            <a:noFill/>
          </a:ln>
        </p:spPr>
        <p:txBody>
          <a:bodyPr wrap="square" lIns="0" tIns="0" rIns="0" bIns="0" anchor="t" rtlCol="0">
            <a:noAutofit/>
          </a:bodyPr>
          <a:lstStyle/>
          <a:p>
            <a:pPr marL="0" indent="0" algn="ctr">
              <a:spcBef>
                <a:spcPts val="0"/>
              </a:spcBef>
              <a:buNone/>
            </a:pPr>
            <a:r>
              <a:rPr lang="en-GB" sz="500" dirty="0">
                <a:solidFill>
                  <a:srgbClr val="5B6678"/>
                </a:solidFill>
                <a:latin typeface="Google Sans Flex"/>
                <a:ea typeface="Google Sans Flex"/>
                <a:cs typeface="Google Sans Flex"/>
                <a:sym typeface="Google Sans Flex"/>
              </a:rPr>
              <a:t>7 days</a:t>
            </a:r>
            <a:endParaRPr lang="en-GB" sz="500"/>
          </a:p>
        </p:txBody>
      </p:sp>
      <p:sp>
        <p:nvSpPr>
          <p:cNvPr id="396" name="Shape 396"/>
          <p:cNvSpPr txBox="1"/>
          <p:nvPr/>
        </p:nvSpPr>
        <p:spPr>
          <a:xfrm>
            <a:off x="7589520" y="3950208"/>
            <a:ext cx="1143000" cy="54864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900" dirty="0">
                <a:solidFill>
                  <a:srgbClr val="1F2937"/>
                </a:solidFill>
                <a:latin typeface="Google Sans Flex Medium"/>
                <a:ea typeface="Google Sans Flex Medium"/>
                <a:cs typeface="Google Sans Flex Medium"/>
                <a:sym typeface="Google Sans Flex Medium"/>
              </a:rPr>
              <a:t>4 chats</a:t>
            </a:r>
            <a:endParaRPr lang="en-GB" sz="900"/>
          </a:p>
          <a:p>
            <a:pPr marL="0" indent="0" algn="l">
              <a:spcBef>
                <a:spcPts val="0"/>
              </a:spcBef>
              <a:buNone/>
            </a:pPr>
            <a:r>
              <a:rPr lang="en-GB" sz="600" dirty="0">
                <a:solidFill>
                  <a:srgbClr val="5B6678"/>
                </a:solidFill>
                <a:latin typeface="Google Sans Flex"/>
                <a:ea typeface="Google Sans Flex"/>
                <a:cs typeface="Google Sans Flex"/>
                <a:sym typeface="Google Sans Flex"/>
              </a:rPr>
              <a:t>Mark (today), Paolo, Grace, Jerome</a:t>
            </a:r>
            <a:endParaRPr lang="en-GB" sz="600"/>
          </a:p>
        </p:txBody>
      </p:sp>
      <p:sp>
        <p:nvSpPr>
          <p:cNvPr id="397" name="Shape 397"/>
          <p:cNvSpPr txBox="1"/>
          <p:nvPr/>
        </p:nvSpPr>
        <p:spPr>
          <a:xfrm>
            <a:off x="6080759" y="4590288"/>
            <a:ext cx="2624327" cy="292608"/>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600" dirty="0">
                <a:solidFill>
                  <a:srgbClr val="334155"/>
                </a:solidFill>
                <a:latin typeface="Google Sans Flex"/>
                <a:ea typeface="Google Sans Flex"/>
                <a:cs typeface="Google Sans Flex"/>
                <a:sym typeface="Google Sans Flex"/>
              </a:rPr>
              <a:t>Next: ship only once you find the payment in your own GCash history.</a:t>
            </a:r>
            <a:endParaRPr lang="en-GB" sz="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Google Shape;145;p21"/>
          <p:cNvSpPr/>
          <p:nvPr/>
        </p:nvSpPr>
        <p:spPr>
          <a:xfrm>
            <a:off x="317500" y="1422400"/>
            <a:ext cx="2286000" cy="749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Seller dashboard</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React on Firebase Hosting</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Firebase Authentication</a:t>
            </a:r>
            <a:endParaRPr sz="1100">
              <a:latin typeface="Google Sans Flex"/>
              <a:ea typeface="Google Sans Flex"/>
              <a:cs typeface="Google Sans Flex"/>
              <a:sym typeface="Google Sans Flex"/>
            </a:endParaRPr>
          </a:p>
        </p:txBody>
      </p:sp>
      <p:sp>
        <p:nvSpPr>
          <p:cNvPr id="113" name="Google Shape;146;p21"/>
          <p:cNvSpPr/>
          <p:nvPr/>
        </p:nvSpPr>
        <p:spPr>
          <a:xfrm>
            <a:off x="3225800" y="1574800"/>
            <a:ext cx="2667000" cy="1409700"/>
          </a:xfrm>
          <a:prstGeom prst="roundRect">
            <a:avLst>
              <a:gd fmla="val 16667" name="adj"/>
            </a:avLst>
          </a:prstGeom>
          <a:solidFill>
            <a:srgbClr val="E5F5EB"/>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Application backend</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FastAPI on Cloud Run</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Order and payment rules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Evidence checks and webhook validation</a:t>
            </a:r>
            <a:endParaRPr sz="1100">
              <a:latin typeface="Google Sans Flex"/>
              <a:ea typeface="Google Sans Flex"/>
              <a:cs typeface="Google Sans Flex"/>
              <a:sym typeface="Google Sans Flex"/>
            </a:endParaRPr>
          </a:p>
        </p:txBody>
      </p:sp>
      <p:sp>
        <p:nvSpPr>
          <p:cNvPr id="114" name="Google Shape;147;p21"/>
          <p:cNvSpPr/>
          <p:nvPr/>
        </p:nvSpPr>
        <p:spPr>
          <a:xfrm>
            <a:off x="317500" y="2425700"/>
            <a:ext cx="2286000" cy="7113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Messenger</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Conversations, confirmations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and customer complaints</a:t>
            </a:r>
            <a:endParaRPr sz="1100">
              <a:latin typeface="Google Sans Flex"/>
              <a:ea typeface="Google Sans Flex"/>
              <a:cs typeface="Google Sans Flex"/>
              <a:sym typeface="Google Sans Flex"/>
            </a:endParaRPr>
          </a:p>
        </p:txBody>
      </p:sp>
      <p:sp>
        <p:nvSpPr>
          <p:cNvPr id="115" name="Google Shape;148;p21"/>
          <p:cNvSpPr/>
          <p:nvPr/>
        </p:nvSpPr>
        <p:spPr>
          <a:xfrm>
            <a:off x="317500" y="3403600"/>
            <a:ext cx="22860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Commerce services</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PayMongo (test), Lalamove (sandbox)</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Google Maps Platform</a:t>
            </a:r>
            <a:endParaRPr sz="1100">
              <a:latin typeface="Google Sans Flex"/>
              <a:ea typeface="Google Sans Flex"/>
              <a:cs typeface="Google Sans Flex"/>
              <a:sym typeface="Google Sans Flex"/>
            </a:endParaRPr>
          </a:p>
        </p:txBody>
      </p:sp>
      <p:sp>
        <p:nvSpPr>
          <p:cNvPr id="116" name="Google Shape;149;p21"/>
          <p:cNvSpPr/>
          <p:nvPr/>
        </p:nvSpPr>
        <p:spPr>
          <a:xfrm>
            <a:off x="6515100" y="1397000"/>
            <a:ext cx="2311500" cy="7365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Gemini on Vertex AI</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Structured extraction</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Photo and video analysis</a:t>
            </a:r>
            <a:endParaRPr sz="1100">
              <a:latin typeface="Google Sans Flex"/>
              <a:ea typeface="Google Sans Flex"/>
              <a:cs typeface="Google Sans Flex"/>
              <a:sym typeface="Google Sans Flex"/>
            </a:endParaRPr>
          </a:p>
        </p:txBody>
      </p:sp>
      <p:sp>
        <p:nvSpPr>
          <p:cNvPr id="117" name="Google Shape;150;p21"/>
          <p:cNvSpPr/>
          <p:nvPr/>
        </p:nvSpPr>
        <p:spPr>
          <a:xfrm>
            <a:off x="6515100" y="2349500"/>
            <a:ext cx="2311500" cy="7746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ADK claim reviewer</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Read-only evidence tools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Cited recommendations</a:t>
            </a:r>
            <a:endParaRPr sz="1100">
              <a:latin typeface="Google Sans Flex"/>
              <a:ea typeface="Google Sans Flex"/>
              <a:cs typeface="Google Sans Flex"/>
              <a:sym typeface="Google Sans Flex"/>
            </a:endParaRPr>
          </a:p>
        </p:txBody>
      </p:sp>
      <p:sp>
        <p:nvSpPr>
          <p:cNvPr id="118" name="Google Shape;151;p21"/>
          <p:cNvSpPr/>
          <p:nvPr/>
        </p:nvSpPr>
        <p:spPr>
          <a:xfrm>
            <a:off x="6515100" y="3365500"/>
            <a:ext cx="2311500" cy="749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Memory Bank</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Store-scoped retrieval</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Past seller decisions</a:t>
            </a:r>
            <a:endParaRPr sz="1100">
              <a:latin typeface="Google Sans Flex"/>
              <a:ea typeface="Google Sans Flex"/>
              <a:cs typeface="Google Sans Flex"/>
              <a:sym typeface="Google Sans Flex"/>
            </a:endParaRPr>
          </a:p>
        </p:txBody>
      </p:sp>
      <p:sp>
        <p:nvSpPr>
          <p:cNvPr id="119" name="Google Shape;152;p21"/>
          <p:cNvSpPr/>
          <p:nvPr/>
        </p:nvSpPr>
        <p:spPr>
          <a:xfrm>
            <a:off x="3225800" y="3632200"/>
            <a:ext cx="2667000" cy="7113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Firestore and Cloud Storage</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Orders, decisions and events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Hashed photo and video evidence</a:t>
            </a:r>
            <a:endParaRPr sz="1100">
              <a:latin typeface="Google Sans Flex"/>
              <a:ea typeface="Google Sans Flex"/>
              <a:cs typeface="Google Sans Flex"/>
              <a:sym typeface="Google Sans Flex"/>
            </a:endParaRPr>
          </a:p>
        </p:txBody>
      </p:sp>
      <p:cxnSp>
        <p:nvCxnSpPr>
          <p:cNvPr id="120" name="Google Shape;153;p21"/>
          <p:cNvCxnSpPr/>
          <p:nvPr/>
        </p:nvCxnSpPr>
        <p:spPr>
          <a:xfrm>
            <a:off x="2603500" y="18161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1" name="Google Shape;154;p21"/>
          <p:cNvCxnSpPr/>
          <p:nvPr/>
        </p:nvCxnSpPr>
        <p:spPr>
          <a:xfrm>
            <a:off x="2603500" y="27686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2" name="Google Shape;155;p21"/>
          <p:cNvCxnSpPr/>
          <p:nvPr/>
        </p:nvCxnSpPr>
        <p:spPr>
          <a:xfrm>
            <a:off x="2603500" y="3797300"/>
            <a:ext cx="330300" cy="12600"/>
          </a:xfrm>
          <a:prstGeom prst="straightConnector1">
            <a:avLst/>
          </a:prstGeom>
          <a:noFill/>
          <a:ln cap="flat" cmpd="sng" w="16500">
            <a:solidFill>
              <a:srgbClr val="91A3B8"/>
            </a:solidFill>
            <a:prstDash val="solid"/>
            <a:round/>
            <a:headEnd len="med" w="med" type="none"/>
            <a:tailEnd len="med" w="med" type="none"/>
          </a:ln>
        </p:spPr>
      </p:cxnSp>
      <p:cxnSp>
        <p:nvCxnSpPr>
          <p:cNvPr id="123" name="Google Shape;156;p21"/>
          <p:cNvCxnSpPr/>
          <p:nvPr/>
        </p:nvCxnSpPr>
        <p:spPr>
          <a:xfrm flipH="1" rot="10800000">
            <a:off x="2933700" y="2857400"/>
            <a:ext cx="12600" cy="939900"/>
          </a:xfrm>
          <a:prstGeom prst="straightConnector1">
            <a:avLst/>
          </a:prstGeom>
          <a:noFill/>
          <a:ln cap="flat" cmpd="sng" w="16500">
            <a:solidFill>
              <a:srgbClr val="91A3B8"/>
            </a:solidFill>
            <a:prstDash val="solid"/>
            <a:round/>
            <a:headEnd len="med" w="med" type="none"/>
            <a:tailEnd len="med" w="med" type="none"/>
          </a:ln>
        </p:spPr>
      </p:cxnSp>
      <p:cxnSp>
        <p:nvCxnSpPr>
          <p:cNvPr id="124" name="Google Shape;157;p21"/>
          <p:cNvCxnSpPr/>
          <p:nvPr/>
        </p:nvCxnSpPr>
        <p:spPr>
          <a:xfrm>
            <a:off x="2933700" y="2857500"/>
            <a:ext cx="29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5" name="Google Shape;158;p21"/>
          <p:cNvCxnSpPr/>
          <p:nvPr/>
        </p:nvCxnSpPr>
        <p:spPr>
          <a:xfrm>
            <a:off x="5892800" y="17653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6" name="Google Shape;159;p21"/>
          <p:cNvCxnSpPr/>
          <p:nvPr/>
        </p:nvCxnSpPr>
        <p:spPr>
          <a:xfrm>
            <a:off x="5892800" y="27432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7" name="Google Shape;160;p21"/>
          <p:cNvCxnSpPr/>
          <p:nvPr/>
        </p:nvCxnSpPr>
        <p:spPr>
          <a:xfrm>
            <a:off x="7670800" y="3124200"/>
            <a:ext cx="12600" cy="241200"/>
          </a:xfrm>
          <a:prstGeom prst="straightConnector1">
            <a:avLst/>
          </a:prstGeom>
          <a:noFill/>
          <a:ln cap="flat" cmpd="sng" w="16500">
            <a:solidFill>
              <a:srgbClr val="91A3B8"/>
            </a:solidFill>
            <a:prstDash val="solid"/>
            <a:round/>
            <a:headEnd len="med" w="med" type="none"/>
            <a:tailEnd len="med" w="med" type="triangle"/>
          </a:ln>
        </p:spPr>
      </p:cxnSp>
      <p:cxnSp>
        <p:nvCxnSpPr>
          <p:cNvPr id="128" name="Google Shape;161;p21"/>
          <p:cNvCxnSpPr/>
          <p:nvPr/>
        </p:nvCxnSpPr>
        <p:spPr>
          <a:xfrm>
            <a:off x="4559300" y="2984500"/>
            <a:ext cx="12600" cy="647700"/>
          </a:xfrm>
          <a:prstGeom prst="straightConnector1">
            <a:avLst/>
          </a:prstGeom>
          <a:noFill/>
          <a:ln cap="flat" cmpd="sng" w="16500">
            <a:solidFill>
              <a:srgbClr val="91A3B8"/>
            </a:solidFill>
            <a:prstDash val="solid"/>
            <a:round/>
            <a:headEnd len="med" w="med" type="none"/>
            <a:tailEnd len="med" w="med" type="triangle"/>
          </a:ln>
        </p:spPr>
      </p:cxnSp>
      <p:cxnSp>
        <p:nvCxnSpPr>
          <p:cNvPr id="129" name="Google Shape;162;p21"/>
          <p:cNvCxnSpPr/>
          <p:nvPr/>
        </p:nvCxnSpPr>
        <p:spPr>
          <a:xfrm>
            <a:off x="5892800" y="2921000"/>
            <a:ext cx="292200" cy="12600"/>
          </a:xfrm>
          <a:prstGeom prst="straightConnector1">
            <a:avLst/>
          </a:prstGeom>
          <a:noFill/>
          <a:ln cap="flat" cmpd="sng" w="16500">
            <a:solidFill>
              <a:srgbClr val="91A3B8"/>
            </a:solidFill>
            <a:prstDash val="solid"/>
            <a:round/>
            <a:headEnd len="med" w="med" type="none"/>
            <a:tailEnd len="med" w="med" type="none"/>
          </a:ln>
        </p:spPr>
      </p:cxnSp>
      <p:cxnSp>
        <p:nvCxnSpPr>
          <p:cNvPr id="130" name="Google Shape;163;p21"/>
          <p:cNvCxnSpPr/>
          <p:nvPr/>
        </p:nvCxnSpPr>
        <p:spPr>
          <a:xfrm>
            <a:off x="6184900" y="2921000"/>
            <a:ext cx="12600" cy="1714500"/>
          </a:xfrm>
          <a:prstGeom prst="straightConnector1">
            <a:avLst/>
          </a:prstGeom>
          <a:noFill/>
          <a:ln cap="flat" cmpd="sng" w="16500">
            <a:solidFill>
              <a:srgbClr val="91A3B8"/>
            </a:solidFill>
            <a:prstDash val="solid"/>
            <a:round/>
            <a:headEnd len="med" w="med" type="none"/>
            <a:tailEnd len="med" w="med" type="none"/>
          </a:ln>
        </p:spPr>
      </p:cxnSp>
      <p:cxnSp>
        <p:nvCxnSpPr>
          <p:cNvPr id="131" name="Google Shape;164;p21"/>
          <p:cNvCxnSpPr/>
          <p:nvPr/>
        </p:nvCxnSpPr>
        <p:spPr>
          <a:xfrm>
            <a:off x="6184900" y="4635500"/>
            <a:ext cx="330300" cy="12600"/>
          </a:xfrm>
          <a:prstGeom prst="straightConnector1">
            <a:avLst/>
          </a:prstGeom>
          <a:noFill/>
          <a:ln cap="flat" cmpd="sng" w="16500">
            <a:solidFill>
              <a:srgbClr val="91A3B8"/>
            </a:solidFill>
            <a:prstDash val="solid"/>
            <a:round/>
            <a:headEnd len="med" w="med" type="none"/>
            <a:tailEnd len="med" w="med" type="triangle"/>
          </a:ln>
        </p:spPr>
      </p:cxnSp>
      <p:cxnSp>
        <p:nvCxnSpPr>
          <p:cNvPr id="132" name="Google Shape;165;p21"/>
          <p:cNvCxnSpPr/>
          <p:nvPr/>
        </p:nvCxnSpPr>
        <p:spPr>
          <a:xfrm flipH="1" rot="10800000">
            <a:off x="7670800" y="2133500"/>
            <a:ext cx="12600" cy="216000"/>
          </a:xfrm>
          <a:prstGeom prst="straightConnector1">
            <a:avLst/>
          </a:prstGeom>
          <a:noFill/>
          <a:ln cap="flat" cmpd="sng" w="16500">
            <a:solidFill>
              <a:srgbClr val="91A3B8"/>
            </a:solidFill>
            <a:prstDash val="solid"/>
            <a:round/>
            <a:headEnd len="med" w="med" type="none"/>
            <a:tailEnd len="med" w="med" type="triangle"/>
          </a:ln>
        </p:spPr>
      </p:cxnSp>
      <p:sp>
        <p:nvSpPr>
          <p:cNvPr id="133" name="Google Shape;166;p21"/>
          <p:cNvSpPr/>
          <p:nvPr/>
        </p:nvSpPr>
        <p:spPr>
          <a:xfrm>
            <a:off x="6515100" y="4318000"/>
            <a:ext cx="2311500" cy="6351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Model Armor</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Input screening</a:t>
            </a:r>
            <a:endParaRPr sz="1100">
              <a:latin typeface="Google Sans Flex"/>
              <a:ea typeface="Google Sans Flex"/>
              <a:cs typeface="Google Sans Flex"/>
              <a:sym typeface="Google Sans Flex"/>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Google Shape;175;p22"/>
          <p:cNvSpPr txBox="1"/>
          <p:nvPr/>
        </p:nvSpPr>
        <p:spPr>
          <a:xfrm>
            <a:off x="3429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AI and agent orchestration</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Gemini on Vertex AI: text, image and video</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Google ADK: claim reviewer with evidence tools</a:t>
            </a:r>
            <a:endParaRPr sz="1200">
              <a:latin typeface="Google Sans Flex"/>
              <a:ea typeface="Google Sans Flex"/>
              <a:cs typeface="Google Sans Flex"/>
              <a:sym typeface="Google Sans Flex"/>
            </a:endParaRPr>
          </a:p>
        </p:txBody>
      </p:sp>
      <p:sp>
        <p:nvSpPr>
          <p:cNvPr id="121" name="Google Shape;176;p22"/>
          <p:cNvSpPr txBox="1"/>
          <p:nvPr/>
        </p:nvSpPr>
        <p:spPr>
          <a:xfrm>
            <a:off x="3429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Memory and AI screening</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Memory Bank: similar seller decisions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Model Armor: injection and unsafe-link checks</a:t>
            </a:r>
            <a:endParaRPr sz="1200">
              <a:latin typeface="Google Sans Flex"/>
              <a:ea typeface="Google Sans Flex"/>
              <a:cs typeface="Google Sans Flex"/>
              <a:sym typeface="Google Sans Flex"/>
            </a:endParaRPr>
          </a:p>
        </p:txBody>
      </p:sp>
      <p:sp>
        <p:nvSpPr>
          <p:cNvPr id="122" name="Google Shape;177;p22"/>
          <p:cNvSpPr txBox="1"/>
          <p:nvPr/>
        </p:nvSpPr>
        <p:spPr>
          <a:xfrm>
            <a:off x="3429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Application development</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React, TypeScript and Vite: seller dashboard</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Python, FastAPI and Pydantic: backend</a:t>
            </a:r>
            <a:endParaRPr sz="1200">
              <a:latin typeface="Google Sans Flex"/>
              <a:ea typeface="Google Sans Flex"/>
              <a:cs typeface="Google Sans Flex"/>
              <a:sym typeface="Google Sans Flex"/>
            </a:endParaRPr>
          </a:p>
        </p:txBody>
      </p:sp>
      <p:sp>
        <p:nvSpPr>
          <p:cNvPr id="123" name="Google Shape;178;p22"/>
          <p:cNvSpPr txBox="1"/>
          <p:nvPr/>
        </p:nvSpPr>
        <p:spPr>
          <a:xfrm>
            <a:off x="47625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Cloud infrastructure and security</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Firebase Hosting and Cloud Run</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Firestore, Cloud Storage, Firebase Auth</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Secret Manager for integration credentials</a:t>
            </a:r>
            <a:endParaRPr sz="1200">
              <a:latin typeface="Google Sans Flex"/>
              <a:ea typeface="Google Sans Flex"/>
              <a:cs typeface="Google Sans Flex"/>
              <a:sym typeface="Google Sans Flex"/>
            </a:endParaRPr>
          </a:p>
        </p:txBody>
      </p:sp>
      <p:sp>
        <p:nvSpPr>
          <p:cNvPr id="124" name="Google Shape;179;p22"/>
          <p:cNvSpPr txBox="1"/>
          <p:nvPr/>
        </p:nvSpPr>
        <p:spPr>
          <a:xfrm>
            <a:off x="47625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Commerce integrations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Messenger Graph API and webhooks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PayMongo (test), Lalamove (sandbox)</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Google Maps: geocoding and delivery pins</a:t>
            </a:r>
            <a:endParaRPr sz="1200">
              <a:latin typeface="Google Sans Flex"/>
              <a:ea typeface="Google Sans Flex"/>
              <a:cs typeface="Google Sans Flex"/>
              <a:sym typeface="Google Sans Flex"/>
            </a:endParaRPr>
          </a:p>
        </p:txBody>
      </p:sp>
      <p:sp>
        <p:nvSpPr>
          <p:cNvPr id="125" name="Google Shape;180;p22"/>
          <p:cNvSpPr txBox="1"/>
          <p:nvPr/>
        </p:nvSpPr>
        <p:spPr>
          <a:xfrm>
            <a:off x="47625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Demo and evaluation</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Gemini Flash-Lite: simulated customers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Gemini image generation and Veo: samples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pytest and live Gemini evaluations</a:t>
            </a:r>
            <a:endParaRPr sz="1200">
              <a:latin typeface="Google Sans Flex"/>
              <a:ea typeface="Google Sans Flex"/>
              <a:cs typeface="Google Sans Flex"/>
              <a:sym typeface="Google Sans Fle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Google Shape;189;p23"/>
          <p:cNvSpPr txBox="1"/>
          <p:nvPr/>
        </p:nvSpPr>
        <p:spPr>
          <a:xfrm>
            <a:off x="347472" y="1033271"/>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AI cost measured per action by our evaluation; infrastructure at Google Cloud's list prices for asia-southeast1 (Cloud Billing Catalog, Oct 2026). USD.</a:t>
            </a:r>
            <a:endParaRPr sz="700">
              <a:latin typeface="Google Sans Flex"/>
              <a:ea typeface="Google Sans Flex"/>
              <a:cs typeface="Google Sans Flex"/>
              <a:sym typeface="Google Sans Flex"/>
            </a:endParaRPr>
          </a:p>
        </p:txBody>
      </p:sp>
      <p:sp>
        <p:nvSpPr>
          <p:cNvPr id="129" name="Google Shape;190;p23"/>
          <p:cNvSpPr/>
          <p:nvPr/>
        </p:nvSpPr>
        <p:spPr>
          <a:xfrm>
            <a:off x="347472"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$0.014</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Gemini per order</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draft with checks, one receipt read, one packing check</a:t>
            </a:r>
            <a:endParaRPr sz="700">
              <a:latin typeface="Google Sans Flex"/>
              <a:ea typeface="Google Sans Flex"/>
              <a:cs typeface="Google Sans Flex"/>
              <a:sym typeface="Google Sans Flex"/>
            </a:endParaRPr>
          </a:p>
        </p:txBody>
      </p:sp>
      <p:sp>
        <p:nvSpPr>
          <p:cNvPr id="130" name="Google Shape;191;p23"/>
          <p:cNvSpPr/>
          <p:nvPr/>
        </p:nvSpPr>
        <p:spPr>
          <a:xfrm>
            <a:off x="2494026"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$13.6</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a month, always-warm server</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one Cloud Run instance idle at Tier 2 rates; $0 if it scales to zero</a:t>
            </a:r>
            <a:endParaRPr sz="700">
              <a:latin typeface="Google Sans Flex"/>
              <a:ea typeface="Google Sans Flex"/>
              <a:cs typeface="Google Sans Flex"/>
              <a:sym typeface="Google Sans Flex"/>
            </a:endParaRPr>
          </a:p>
        </p:txBody>
      </p:sp>
      <p:sp>
        <p:nvSpPr>
          <p:cNvPr id="131" name="Google Shape;192;p23"/>
          <p:cNvSpPr/>
          <p:nvPr/>
        </p:nvSpPr>
        <p:spPr>
          <a:xfrm>
            <a:off x="4640580"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~$19</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a month at 300 orders</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 small seller: AI with re-checks and claims, plus the warm instance</a:t>
            </a:r>
            <a:endParaRPr sz="700">
              <a:latin typeface="Google Sans Flex"/>
              <a:ea typeface="Google Sans Flex"/>
              <a:cs typeface="Google Sans Flex"/>
              <a:sym typeface="Google Sans Flex"/>
            </a:endParaRPr>
          </a:p>
        </p:txBody>
      </p:sp>
      <p:sp>
        <p:nvSpPr>
          <p:cNvPr id="132" name="Google Shape;193;p23"/>
          <p:cNvSpPr/>
          <p:nvPr/>
        </p:nvSpPr>
        <p:spPr>
          <a:xfrm>
            <a:off x="6787134"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$30</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a day, demo ceiling</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5,000 AI calls a day for all demo visitors, 250 each</a:t>
            </a:r>
            <a:endParaRPr sz="700">
              <a:latin typeface="Google Sans Flex"/>
              <a:ea typeface="Google Sans Flex"/>
              <a:cs typeface="Google Sans Flex"/>
              <a:sym typeface="Google Sans Flex"/>
            </a:endParaRPr>
          </a:p>
        </p:txBody>
      </p:sp>
      <p:sp>
        <p:nvSpPr>
          <p:cNvPr id="133" name="Google Shape;194;p23"/>
          <p:cNvSpPr txBox="1"/>
          <p:nvPr/>
        </p:nvSpPr>
        <p:spPr>
          <a:xfrm>
            <a:off x="347472" y="2212848"/>
            <a:ext cx="40233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AI cost per action</a:t>
            </a:r>
            <a:r>
              <a:rPr lang="en-GB" cap="none" strike="noStrike" sz="700">
                <a:latin typeface="Google Sans Flex"/>
                <a:ea typeface="Google Sans Flex"/>
                <a:cs typeface="Google Sans Flex"/>
                <a:sym typeface="Google Sans Flex"/>
              </a:rPr>
              <a:t>  ·  measured, median</a:t>
            </a:r>
            <a:endParaRPr sz="700">
              <a:latin typeface="Google Sans Flex"/>
              <a:ea typeface="Google Sans Flex"/>
              <a:cs typeface="Google Sans Flex"/>
              <a:sym typeface="Google Sans Flex"/>
            </a:endParaRPr>
          </a:p>
        </p:txBody>
      </p:sp>
      <p:graphicFrame>
        <p:nvGraphicFramePr>
          <p:cNvPr id="134" name="Google Shape;195;p23"/>
          <p:cNvGraphicFramePr/>
          <p:nvPr/>
        </p:nvGraphicFramePr>
        <p:xfrm>
          <a:off x="347472" y="2423160"/>
          <a:ext cx="3000000" cy="3000000"/>
        </p:xfrm>
        <a:graphic>
          <a:graphicData uri="http://schemas.openxmlformats.org/drawingml/2006/table">
            <a:tbl>
              <a:tblPr>
                <a:noFill/>
              </a:tblPr>
              <a:tblGrid>
                <a:gridCol w="1783075"/>
                <a:gridCol w="502925"/>
                <a:gridCol w="777250"/>
                <a:gridCol w="685800"/>
              </a:tblGrid>
              <a:tr h="19660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Action</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Calls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Tokens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Cost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Draft order + checks</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2,638</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$0.0057</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GCash receipt read</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1,918</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$0.0044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Packing photo check</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2,050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$0.0041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Claim review (ADK agent)</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5,965</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$0.0123</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Typical order (first three)</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 </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$0.0142</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35" name="Google Shape;196;p23"/>
          <p:cNvSpPr txBox="1"/>
          <p:nvPr/>
        </p:nvSpPr>
        <p:spPr>
          <a:xfrm>
            <a:off x="347472" y="3675887"/>
            <a:ext cx="37491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Tokens include Gemini's thinking, at gemini-3.8-flash's list price of $1.50 / $7.50 per 1M input / output tokens. Checks run again when the customer writes again, and some orders need a claim review: we budget 1.3× the typical order.</a:t>
            </a:r>
            <a:endParaRPr sz="700">
              <a:latin typeface="Google Sans Flex"/>
              <a:ea typeface="Google Sans Flex"/>
              <a:cs typeface="Google Sans Flex"/>
              <a:sym typeface="Google Sans Flex"/>
            </a:endParaRPr>
          </a:p>
        </p:txBody>
      </p:sp>
      <p:sp>
        <p:nvSpPr>
          <p:cNvPr id="136" name="Google Shape;197;p23"/>
          <p:cNvSpPr txBox="1"/>
          <p:nvPr/>
        </p:nvSpPr>
        <p:spPr>
          <a:xfrm>
            <a:off x="4599432" y="2212848"/>
            <a:ext cx="41970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Monthly estimate</a:t>
            </a:r>
            <a:r>
              <a:rPr lang="en-GB" cap="none" strike="noStrike" sz="700">
                <a:latin typeface="Google Sans Flex"/>
                <a:ea typeface="Google Sans Flex"/>
                <a:cs typeface="Google Sans Flex"/>
                <a:sym typeface="Google Sans Flex"/>
              </a:rPr>
              <a:t>  ·  one seller</a:t>
            </a:r>
            <a:endParaRPr sz="700">
              <a:latin typeface="Google Sans Flex"/>
              <a:ea typeface="Google Sans Flex"/>
              <a:cs typeface="Google Sans Flex"/>
              <a:sym typeface="Google Sans Flex"/>
            </a:endParaRPr>
          </a:p>
        </p:txBody>
      </p:sp>
      <p:graphicFrame>
        <p:nvGraphicFramePr>
          <p:cNvPr id="137" name="Google Shape;198;p23"/>
          <p:cNvGraphicFramePr/>
          <p:nvPr/>
        </p:nvGraphicFramePr>
        <p:xfrm>
          <a:off x="4599432" y="2423160"/>
          <a:ext cx="3000000" cy="3000000"/>
        </p:xfrm>
        <a:graphic>
          <a:graphicData uri="http://schemas.openxmlformats.org/drawingml/2006/table">
            <a:tbl>
              <a:tblPr>
                <a:noFill/>
              </a:tblPr>
              <a:tblGrid>
                <a:gridCol w="1874525"/>
                <a:gridCol w="1005850"/>
                <a:gridCol w="1133850"/>
              </a:tblGrid>
              <a:tr h="19660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Item</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300 orders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3,000 orders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Gemini (Vertex AI), 1.3× typical order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$5.54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$55.38</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Cloud Run, 1 warm instance</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$13.61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$13.61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Cloud Run busy time (estimate)</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free tier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 $1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Firestore, Storage, Hosting</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free tier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free tier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Secret Manager (10 secrets)</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$0.24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$0.24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Total</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$19.39</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$69.99</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38" name="Google Shape;199;p23"/>
          <p:cNvSpPr txBox="1"/>
          <p:nvPr/>
        </p:nvSpPr>
        <p:spPr>
          <a:xfrm>
            <a:off x="4599432" y="3886200"/>
            <a:ext cx="419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Free tiers: Cloud Run (Tier 2) 128,571 vCPU-s and 2M requests a month; Firestore 50,000 reads and 20,000 writes a day, 1 GiB. Busy time assumes about 50 instance-seconds per order.</a:t>
            </a:r>
            <a:endParaRPr sz="700">
              <a:latin typeface="Google Sans Flex"/>
              <a:ea typeface="Google Sans Flex"/>
              <a:cs typeface="Google Sans Flex"/>
              <a:sym typeface="Google Sans Flex"/>
            </a:endParaRPr>
          </a:p>
        </p:txBody>
      </p:sp>
      <p:sp>
        <p:nvSpPr>
          <p:cNvPr id="139" name="Google Shape;200;p23"/>
          <p:cNvSpPr/>
          <p:nvPr/>
        </p:nvSpPr>
        <p:spPr>
          <a:xfrm>
            <a:off x="347472" y="4206240"/>
            <a:ext cx="8449200" cy="713100"/>
          </a:xfrm>
          <a:prstGeom prst="roundRect">
            <a:avLst>
              <a:gd fmla="val 8000" name="adj"/>
            </a:avLst>
          </a:prstGeom>
          <a:noFill/>
          <a:ln w="9525">
            <a:solidFill>
              <a:schemeClr val="dk1"/>
            </a:solid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Paid by the seller or customer, not by Suri: </a:t>
            </a:r>
            <a:r>
              <a:rPr lang="en-GB" cap="none" strike="noStrike" sz="700">
                <a:latin typeface="Google Sans Flex"/>
                <a:ea typeface="Google Sans Flex"/>
                <a:cs typeface="Google Sans Flex"/>
                <a:sym typeface="Google Sans Flex"/>
              </a:rPr>
              <a:t>PayMongo's transaction fees, Lalamove delivery fees and GCash transfers. Messenger and the Graph API are free.</a:t>
            </a:r>
            <a:endParaRPr sz="700">
              <a:latin typeface="Google Sans Flex"/>
              <a:ea typeface="Google Sans Flex"/>
              <a:cs typeface="Google Sans Flex"/>
              <a:sym typeface="Google Sans Flex"/>
            </a:endParaRPr>
          </a:p>
          <a:p>
            <a:pPr indent="0" lvl="0" marL="0" marR="0" rtl="0" algn="l">
              <a:lnSpc>
                <a:spcPct val="100000"/>
              </a:lnSpc>
              <a:spcBef>
                <a:spcPts val="300"/>
              </a:spcBef>
              <a:spcAft>
                <a:spcPts val="0"/>
              </a:spcAft>
              <a:buNone/>
            </a:pPr>
            <a:r>
              <a:rPr lang="en-GB" cap="none" strike="noStrike" sz="700">
                <a:latin typeface="Google Sans Flex Medium"/>
                <a:ea typeface="Google Sans Flex Medium"/>
                <a:cs typeface="Google Sans Flex Medium"/>
                <a:sym typeface="Google Sans Flex Medium"/>
              </a:rPr>
              <a:t>Ways to cut it: </a:t>
            </a:r>
            <a:r>
              <a:rPr lang="en-GB" cap="none" strike="noStrike" sz="700">
                <a:latin typeface="Google Sans Flex"/>
                <a:ea typeface="Google Sans Flex"/>
                <a:cs typeface="Google Sans Flex"/>
                <a:sym typeface="Google Sans Flex"/>
              </a:rPr>
              <a:t>scale to zero outside selling hours ($13.6 less a month, with a cold start); Flex or batch pricing for non-urgent checks halves the Gemini price; cached checks already avoid repeat calls when a chat is opened again.</a:t>
            </a:r>
            <a:endParaRPr sz="700">
              <a:latin typeface="Google Sans Flex"/>
              <a:ea typeface="Google Sans Flex"/>
              <a:cs typeface="Google Sans Flex"/>
              <a:sym typeface="Google Sans Fle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301" name="Prototype screenshot: Checks before shipping" descr="Prototype screenshot: Checks before shipping"/>
          <p:cNvPicPr>
            <a:picLocks noChangeAspect="1"/>
          </p:cNvPicPr>
          <p:nvPr/>
        </p:nvPicPr>
        <p:blipFill>
          <a:blip r:embed="rId10"/>
          <a:stretch>
            <a:fillRect/>
          </a:stretch>
        </p:blipFill>
        <p:spPr>
          <a:xfrm>
            <a:off x="347472" y="1188720"/>
            <a:ext cx="2304288" cy="1645920"/>
          </a:xfrm>
          <a:prstGeom prst="rect">
            <a:avLst/>
          </a:prstGeom>
          <a:ln w="9525">
            <a:solidFill>
              <a:srgbClr val="91A3B8"/>
            </a:solidFill>
          </a:ln>
        </p:spPr>
      </p:pic>
      <p:sp>
        <p:nvSpPr>
          <p:cNvPr id="302" name="Shape 302"/>
          <p:cNvSpPr txBox="1"/>
          <p:nvPr/>
        </p:nvSpPr>
        <p:spPr>
          <a:xfrm>
            <a:off x="2798064" y="1207008"/>
            <a:ext cx="1691640" cy="164592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Checks before shipping</a:t>
            </a:r>
            <a:endParaRPr lang="en-GB" sz="1100"/>
          </a:p>
          <a:p>
            <a:pPr marL="0" indent="0" algn="l">
              <a:spcBef>
                <a:spcPts val="400"/>
              </a:spcBef>
              <a:buNone/>
            </a:pPr>
            <a:r>
              <a:rPr lang="en-GB" sz="900" dirty="0">
                <a:solidFill>
                  <a:srgbClr val="334155"/>
                </a:solidFill>
                <a:latin typeface="Google Sans Flex"/>
                <a:ea typeface="Google Sans Flex"/>
                <a:cs typeface="Google Sans Flex"/>
                <a:sym typeface="Google Sans Flex"/>
              </a:rPr>
              <a:t>Beside the chat, the AI lists what to verify, quoting the customer, with what to do. Here: a code request, then a threat when the seller says no.</a:t>
            </a:r>
            <a:endParaRPr lang="en-GB" sz="900"/>
          </a:p>
        </p:txBody>
      </p:sp>
      <p:pic>
        <p:nvPicPr>
          <p:cNvPr id="303" name="Prototype screenshot: GCash receipt check" descr="Prototype screenshot: GCash receipt check"/>
          <p:cNvPicPr>
            <a:picLocks noChangeAspect="1"/>
          </p:cNvPicPr>
          <p:nvPr/>
        </p:nvPicPr>
        <p:blipFill>
          <a:blip r:embed="rId11"/>
          <a:stretch>
            <a:fillRect/>
          </a:stretch>
        </p:blipFill>
        <p:spPr>
          <a:xfrm>
            <a:off x="4645152" y="1188720"/>
            <a:ext cx="2304288" cy="1645920"/>
          </a:xfrm>
          <a:prstGeom prst="rect">
            <a:avLst/>
          </a:prstGeom>
          <a:ln w="9525">
            <a:solidFill>
              <a:srgbClr val="91A3B8"/>
            </a:solidFill>
          </a:ln>
        </p:spPr>
      </p:pic>
      <p:sp>
        <p:nvSpPr>
          <p:cNvPr id="304" name="Shape 304"/>
          <p:cNvSpPr txBox="1"/>
          <p:nvPr/>
        </p:nvSpPr>
        <p:spPr>
          <a:xfrm>
            <a:off x="7095744" y="1207008"/>
            <a:ext cx="1691640" cy="164592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GCash receipt check</a:t>
            </a:r>
            <a:endParaRPr lang="en-GB" sz="1100"/>
          </a:p>
          <a:p>
            <a:pPr marL="0" indent="0" algn="l">
              <a:spcBef>
                <a:spcPts val="400"/>
              </a:spcBef>
              <a:buNone/>
            </a:pPr>
            <a:r>
              <a:rPr lang="en-GB" sz="900" dirty="0">
                <a:solidFill>
                  <a:srgbClr val="334155"/>
                </a:solidFill>
                <a:latin typeface="Google Sans Flex"/>
                <a:ea typeface="Google Sans Flex"/>
                <a:cs typeface="Google Sans Flex"/>
                <a:sym typeface="Google Sans Flex"/>
              </a:rPr>
              <a:t>Gemini reads the screenshot; code checks it against the order and the seller's GCash account. The recipient doesn't fit, so it isn't proof.</a:t>
            </a:r>
            <a:endParaRPr lang="en-GB" sz="900"/>
          </a:p>
        </p:txBody>
      </p:sp>
      <p:pic>
        <p:nvPicPr>
          <p:cNvPr id="305" name="Prototype screenshot: AI claim review" descr="Prototype screenshot: AI claim review"/>
          <p:cNvPicPr>
            <a:picLocks noChangeAspect="1"/>
          </p:cNvPicPr>
          <p:nvPr/>
        </p:nvPicPr>
        <p:blipFill>
          <a:blip r:embed="rId12"/>
          <a:stretch>
            <a:fillRect/>
          </a:stretch>
        </p:blipFill>
        <p:spPr>
          <a:xfrm>
            <a:off x="347472" y="2999232"/>
            <a:ext cx="2304288" cy="1645920"/>
          </a:xfrm>
          <a:prstGeom prst="rect">
            <a:avLst/>
          </a:prstGeom>
          <a:ln w="9525">
            <a:solidFill>
              <a:srgbClr val="91A3B8"/>
            </a:solidFill>
          </a:ln>
        </p:spPr>
      </p:pic>
      <p:sp>
        <p:nvSpPr>
          <p:cNvPr id="306" name="Shape 306"/>
          <p:cNvSpPr txBox="1"/>
          <p:nvPr/>
        </p:nvSpPr>
        <p:spPr>
          <a:xfrm>
            <a:off x="2798064" y="3017520"/>
            <a:ext cx="1691640" cy="164592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AI claim review</a:t>
            </a:r>
            <a:endParaRPr lang="en-GB" sz="1100"/>
          </a:p>
          <a:p>
            <a:pPr marL="0" indent="0" algn="l">
              <a:spcBef>
                <a:spcPts val="400"/>
              </a:spcBef>
              <a:buNone/>
            </a:pPr>
            <a:r>
              <a:rPr lang="en-GB" sz="900" dirty="0">
                <a:solidFill>
                  <a:srgbClr val="334155"/>
                </a:solidFill>
                <a:latin typeface="Google Sans Flex"/>
                <a:ea typeface="Google Sans Flex"/>
                <a:cs typeface="Google Sans Flex"/>
                <a:sym typeface="Google Sans Flex"/>
              </a:rPr>
              <a:t>The ADK agent compares her photo and unboxing video with the packing records. Every finding cites the evidence it rests on.</a:t>
            </a:r>
            <a:endParaRPr lang="en-GB" sz="900"/>
          </a:p>
        </p:txBody>
      </p:sp>
      <p:pic>
        <p:nvPicPr>
          <p:cNvPr id="307" name="Prototype screenshot: Patterns across chats" descr="Prototype screenshot: Patterns across chats"/>
          <p:cNvPicPr>
            <a:picLocks noChangeAspect="1"/>
          </p:cNvPicPr>
          <p:nvPr/>
        </p:nvPicPr>
        <p:blipFill>
          <a:blip r:embed="rId13"/>
          <a:stretch>
            <a:fillRect/>
          </a:stretch>
        </p:blipFill>
        <p:spPr>
          <a:xfrm>
            <a:off x="4645152" y="2999232"/>
            <a:ext cx="2304288" cy="1645920"/>
          </a:xfrm>
          <a:prstGeom prst="rect">
            <a:avLst/>
          </a:prstGeom>
          <a:ln w="9525">
            <a:solidFill>
              <a:srgbClr val="91A3B8"/>
            </a:solidFill>
          </a:ln>
        </p:spPr>
      </p:pic>
      <p:sp>
        <p:nvSpPr>
          <p:cNvPr id="308" name="Shape 308"/>
          <p:cNvSpPr txBox="1"/>
          <p:nvPr/>
        </p:nvSpPr>
        <p:spPr>
          <a:xfrm>
            <a:off x="7095744" y="3017520"/>
            <a:ext cx="1691640" cy="1645920"/>
          </a:xfrm>
          <a:prstGeom prst="roundRect">
            <a:avLst>
              <a:gd name="adj" fmla="val 10000"/>
            </a:avLst>
          </a:prstGeom>
          <a:noFill/>
          <a:ln>
            <a:noFill/>
          </a:ln>
        </p:spPr>
        <p:txBody>
          <a:bodyPr wrap="square" lIns="0" tIns="0" rIns="0" bIns="0" anchor="t" rtlCol="0">
            <a:noAutofit/>
          </a:bodyPr>
          <a:lstStyle/>
          <a:p>
            <a:pPr marL="0" indent="0" algn="l">
              <a:spcBef>
                <a:spcPts val="0"/>
              </a:spcBef>
              <a:buNone/>
            </a:pPr>
            <a:r>
              <a:rPr lang="en-GB" sz="1100" dirty="0">
                <a:solidFill>
                  <a:srgbClr val="1F2937"/>
                </a:solidFill>
                <a:latin typeface="Google Sans Flex Medium"/>
                <a:ea typeface="Google Sans Flex Medium"/>
                <a:cs typeface="Google Sans Flex Medium"/>
                <a:sym typeface="Google Sans Flex Medium"/>
              </a:rPr>
              <a:t>Patterns across chats</a:t>
            </a:r>
            <a:endParaRPr lang="en-GB" sz="1100"/>
          </a:p>
          <a:p>
            <a:pPr marL="0" indent="0" algn="l">
              <a:spcBef>
                <a:spcPts val="400"/>
              </a:spcBef>
              <a:buNone/>
            </a:pPr>
            <a:r>
              <a:rPr lang="en-GB" sz="900" dirty="0">
                <a:solidFill>
                  <a:srgbClr val="334155"/>
                </a:solidFill>
                <a:latin typeface="Google Sans Flex"/>
                <a:ea typeface="Google Sans Flex"/>
                <a:cs typeface="Google Sans Flex"/>
                <a:sym typeface="Google Sans Flex"/>
              </a:rPr>
              <a:t>Counts what the checks found across chats against the weeks before, and marks what changed since the seller's last look.</a:t>
            </a:r>
            <a:endParaRPr lang="en-GB"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Google Shape;217;p25"/>
          <p:cNvSpPr txBox="1"/>
          <p:nvPr/>
        </p:nvSpPr>
        <p:spPr>
          <a:xfrm>
            <a:off x="347472" y="1033271"/>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Deployed prototype (Cloud Run + Firebase Hosting) and make eval: 84 synthetic cases × 3 runs, scored in code. Gemini on Vertex AI (gemini-3.8-flash). Eval run 2026-10-18 12:55 UTC.</a:t>
            </a:r>
            <a:endParaRPr sz="700">
              <a:latin typeface="Google Sans Flex"/>
              <a:ea typeface="Google Sans Flex"/>
              <a:cs typeface="Google Sans Flex"/>
              <a:sym typeface="Google Sans Flex"/>
            </a:endParaRPr>
          </a:p>
        </p:txBody>
      </p:sp>
      <p:sp>
        <p:nvSpPr>
          <p:cNvPr id="145" name="Google Shape;218;p25"/>
          <p:cNvSpPr/>
          <p:nvPr/>
        </p:nvSpPr>
        <p:spPr>
          <a:xfrm>
            <a:off x="347472"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57/57</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risky messages caught</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checks before shipping; 0 false alarms in 129 runs</a:t>
            </a:r>
            <a:endParaRPr sz="700">
              <a:latin typeface="Google Sans Flex"/>
              <a:ea typeface="Google Sans Flex"/>
              <a:cs typeface="Google Sans Flex"/>
              <a:sym typeface="Google Sans Flex"/>
            </a:endParaRPr>
          </a:p>
        </p:txBody>
      </p:sp>
      <p:sp>
        <p:nvSpPr>
          <p:cNvPr id="146" name="Google Shape;219;p25"/>
          <p:cNvSpPr/>
          <p:nvPr/>
        </p:nvSpPr>
        <p:spPr>
          <a:xfrm>
            <a:off x="2494026"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0</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unsafe outcomes</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customer value in an order, false packing match, planted receipt text passed</a:t>
            </a:r>
            <a:endParaRPr sz="700">
              <a:latin typeface="Google Sans Flex"/>
              <a:ea typeface="Google Sans Flex"/>
              <a:cs typeface="Google Sans Flex"/>
              <a:sym typeface="Google Sans Flex"/>
            </a:endParaRPr>
          </a:p>
        </p:txBody>
      </p:sp>
      <p:sp>
        <p:nvSpPr>
          <p:cNvPr id="147" name="Google Shape;220;p25"/>
          <p:cNvSpPr/>
          <p:nvPr/>
        </p:nvSpPr>
        <p:spPr>
          <a:xfrm>
            <a:off x="4640580"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3.1 s</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checks, end to end</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median, live app; draft order 5.8 s</a:t>
            </a:r>
            <a:endParaRPr sz="700">
              <a:latin typeface="Google Sans Flex"/>
              <a:ea typeface="Google Sans Flex"/>
              <a:cs typeface="Google Sans Flex"/>
              <a:sym typeface="Google Sans Flex"/>
            </a:endParaRPr>
          </a:p>
        </p:txBody>
      </p:sp>
      <p:sp>
        <p:nvSpPr>
          <p:cNvPr id="148" name="Google Shape;221;p25"/>
          <p:cNvSpPr/>
          <p:nvPr/>
        </p:nvSpPr>
        <p:spPr>
          <a:xfrm>
            <a:off x="6787134"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$0.0057</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Gemini cost per action</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median, draft + checks; claim review $0.0123</a:t>
            </a:r>
            <a:endParaRPr sz="700">
              <a:latin typeface="Google Sans Flex"/>
              <a:ea typeface="Google Sans Flex"/>
              <a:cs typeface="Google Sans Flex"/>
              <a:sym typeface="Google Sans Flex"/>
            </a:endParaRPr>
          </a:p>
        </p:txBody>
      </p:sp>
      <p:sp>
        <p:nvSpPr>
          <p:cNvPr id="149" name="Google Shape;222;p25"/>
          <p:cNvSpPr txBox="1"/>
          <p:nvPr/>
        </p:nvSpPr>
        <p:spPr>
          <a:xfrm>
            <a:off x="347472" y="2075688"/>
            <a:ext cx="38862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AI accuracy</a:t>
            </a:r>
            <a:r>
              <a:rPr lang="en-GB" cap="none" strike="noStrike" sz="700">
                <a:latin typeface="Google Sans Flex"/>
                <a:ea typeface="Google Sans Flex"/>
                <a:cs typeface="Google Sans Flex"/>
                <a:sym typeface="Google Sans Flex"/>
              </a:rPr>
              <a:t>  ·  gemini-3.8-flash, 3 runs per case</a:t>
            </a:r>
            <a:endParaRPr sz="700">
              <a:latin typeface="Google Sans Flex"/>
              <a:ea typeface="Google Sans Flex"/>
              <a:cs typeface="Google Sans Flex"/>
              <a:sym typeface="Google Sans Flex"/>
            </a:endParaRPr>
          </a:p>
        </p:txBody>
      </p:sp>
      <p:graphicFrame>
        <p:nvGraphicFramePr>
          <p:cNvPr id="150" name="Google Shape;223;p25"/>
          <p:cNvGraphicFramePr/>
          <p:nvPr/>
        </p:nvGraphicFramePr>
        <p:xfrm>
          <a:off x="347472" y="2286000"/>
          <a:ext cx="3000000" cy="3000000"/>
        </p:xfrm>
        <a:graphic>
          <a:graphicData uri="http://schemas.openxmlformats.org/drawingml/2006/table">
            <a:tbl>
              <a:tblPr>
                <a:noFill/>
              </a:tblPr>
              <a:tblGrid>
                <a:gridCol w="1280150"/>
                <a:gridCol w="1645925"/>
                <a:gridCol w="960125"/>
              </a:tblGrid>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Task (cases)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Measure</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Result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rowSpan="3">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Chat → order (43)</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 </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 </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Fields correct</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951/954 (100%)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vMerge="1"/>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Checks caught / false alarms</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57/57 / 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vMerge="1"/>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Injection: customer value used</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Claim review (17)</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Acceptable action</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51/51 (100%)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Packing photos (20)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Line result / false match</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66/66 / 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GCash receipts (4)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Checks / planted text passed</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12/12 / 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51" name="Google Shape;224;p25"/>
          <p:cNvSpPr txBox="1"/>
          <p:nvPr/>
        </p:nvSpPr>
        <p:spPr>
          <a:xfrm>
            <a:off x="4370832" y="2075688"/>
            <a:ext cx="4425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Speed, tokens and cost per AI action</a:t>
            </a:r>
            <a:r>
              <a:rPr lang="en-GB" cap="none" strike="noStrike" sz="700">
                <a:latin typeface="Google Sans Flex"/>
                <a:ea typeface="Google Sans Flex"/>
                <a:cs typeface="Google Sans Flex"/>
                <a:sym typeface="Google Sans Flex"/>
              </a:rPr>
              <a:t>  ·  p50 / p95</a:t>
            </a:r>
            <a:endParaRPr sz="700">
              <a:latin typeface="Google Sans Flex"/>
              <a:ea typeface="Google Sans Flex"/>
              <a:cs typeface="Google Sans Flex"/>
              <a:sym typeface="Google Sans Flex"/>
            </a:endParaRPr>
          </a:p>
        </p:txBody>
      </p:sp>
      <p:graphicFrame>
        <p:nvGraphicFramePr>
          <p:cNvPr id="152" name="Google Shape;225;p25"/>
          <p:cNvGraphicFramePr/>
          <p:nvPr/>
        </p:nvGraphicFramePr>
        <p:xfrm>
          <a:off x="4370832" y="2286000"/>
          <a:ext cx="3000000" cy="3000000"/>
        </p:xfrm>
        <a:graphic>
          <a:graphicData uri="http://schemas.openxmlformats.org/drawingml/2006/table">
            <a:tbl>
              <a:tblPr>
                <a:noFill/>
              </a:tblPr>
              <a:tblGrid>
                <a:gridCol w="1261875"/>
                <a:gridCol w="914400"/>
                <a:gridCol w="1042425"/>
                <a:gridCol w="566925"/>
                <a:gridCol w="640075"/>
              </a:tblGrid>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Action</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Live app</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Model only (eval)</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Tokens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Cost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Draft order</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5.8 s / 8.6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rowSpan="2">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3.2 s / 10.9 s (both)</a:t>
                      </a:r>
                      <a:endParaRPr sz="700">
                        <a:latin typeface="Google Sans Flex"/>
                        <a:ea typeface="Google Sans Flex"/>
                        <a:cs typeface="Google Sans Flex"/>
                        <a:sym typeface="Google Sans Flex"/>
                      </a:endParaRPr>
                    </a:p>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 </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rowSpan="2">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2,638</a:t>
                      </a:r>
                      <a:endParaRPr sz="700">
                        <a:latin typeface="Google Sans Flex"/>
                        <a:ea typeface="Google Sans Flex"/>
                        <a:cs typeface="Google Sans Flex"/>
                        <a:sym typeface="Google Sans Flex"/>
                      </a:endParaRPr>
                    </a:p>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 </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rowSpan="2">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$0.0057</a:t>
                      </a:r>
                      <a:endParaRPr sz="700">
                        <a:latin typeface="Google Sans Flex"/>
                        <a:ea typeface="Google Sans Flex"/>
                        <a:cs typeface="Google Sans Flex"/>
                        <a:sym typeface="Google Sans Flex"/>
                      </a:endParaRPr>
                    </a:p>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 </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Checks before shipping</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3.1 s / 9.9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vMerge="1"/>
                <a:tc vMerge="1"/>
                <a:tc vMerge="1"/>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Packing photo check</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3.8 s / 8.4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2,050</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$0.0041</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Claim review (agent)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10.4 s p50</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15.0 s / 44.8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5,965</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$0.0123</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GCash receipt read</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3.4 s / 11.9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1,918</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$0.0044</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AI customer (Flash-Lite)</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1.2 s / 1.3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53" name="Google Shape;226;p25"/>
          <p:cNvSpPr txBox="1"/>
          <p:nvPr/>
        </p:nvSpPr>
        <p:spPr>
          <a:xfrm>
            <a:off x="347472" y="3685032"/>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Without AI: </a:t>
            </a:r>
            <a:r>
              <a:rPr lang="en-GB" cap="none" strike="noStrike" sz="700">
                <a:latin typeface="Google Sans Flex"/>
                <a:ea typeface="Google Sans Flex"/>
                <a:cs typeface="Google Sans Flex"/>
                <a:sym typeface="Google Sans Flex"/>
              </a:rPr>
              <a:t>pages 0.2 s–0.5 s p50; one warm 1-vCPU instance served 11.5 req/s at 10 concurrent users and 13.3 at 25, 0 errors in 600 requests.</a:t>
            </a:r>
            <a:endParaRPr sz="700">
              <a:latin typeface="Google Sans Flex"/>
              <a:ea typeface="Google Sans Flex"/>
              <a:cs typeface="Google Sans Flex"/>
              <a:sym typeface="Google Sans Flex"/>
            </a:endParaRPr>
          </a:p>
        </p:txBody>
      </p:sp>
      <p:sp>
        <p:nvSpPr>
          <p:cNvPr id="154" name="Google Shape;227;p25"/>
          <p:cNvSpPr/>
          <p:nvPr/>
        </p:nvSpPr>
        <p:spPr>
          <a:xfrm>
            <a:off x="347472" y="3922776"/>
            <a:ext cx="2743200" cy="1024200"/>
          </a:xfrm>
          <a:prstGeom prst="roundRect">
            <a:avLst>
              <a:gd fmla="val 8000" name="adj"/>
            </a:avLst>
          </a:prstGeom>
          <a:noFill/>
          <a:ln w="9525">
            <a:solidFill>
              <a:schemeClr val="dk1"/>
            </a:solid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Environment and method</a:t>
            </a:r>
            <a:endParaRPr sz="80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App: </a:t>
            </a:r>
            <a:r>
              <a:rPr lang="en-GB" cap="none" strike="noStrike" sz="650">
                <a:latin typeface="Google Sans Flex"/>
                <a:ea typeface="Google Sans Flex"/>
                <a:cs typeface="Google Sans Flex"/>
                <a:sym typeface="Google Sans Flex"/>
              </a:rPr>
              <a:t>Cloud Run asia-southeast1, 1 vCPU, 512 MiB, 1 warm instance; Firestore, Cloud Storage; Firebase Hosting.</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Live: </a:t>
            </a:r>
            <a:r>
              <a:rPr lang="en-GB" cap="none" strike="noStrike" sz="650">
                <a:latin typeface="Google Sans Flex"/>
                <a:ea typeface="Google Sans Flex"/>
                <a:cs typeface="Google Sans Flex"/>
                <a:sym typeface="Google Sans Flex"/>
              </a:rPr>
              <a:t>a laptop over the internet as new demo visitors; AI actions 5× each on fresh visitors, pages 20×, 200 requests at 1/10/25 users.</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Tokens: </a:t>
            </a:r>
            <a:r>
              <a:rPr lang="en-GB" cap="none" strike="noStrike" sz="650">
                <a:latin typeface="Google Sans Flex"/>
                <a:ea typeface="Google Sans Flex"/>
                <a:cs typeface="Google Sans Flex"/>
                <a:sym typeface="Google Sans Flex"/>
              </a:rPr>
              <a:t>Vertex usage metadata, thinking included, at list price $1.50 / $7.50 per 1M in / out.</a:t>
            </a:r>
            <a:endParaRPr sz="650">
              <a:latin typeface="Google Sans Flex"/>
              <a:ea typeface="Google Sans Flex"/>
              <a:cs typeface="Google Sans Flex"/>
              <a:sym typeface="Google Sans Flex"/>
            </a:endParaRPr>
          </a:p>
        </p:txBody>
      </p:sp>
      <p:sp>
        <p:nvSpPr>
          <p:cNvPr id="155" name="Google Shape;228;p25"/>
          <p:cNvSpPr/>
          <p:nvPr/>
        </p:nvSpPr>
        <p:spPr>
          <a:xfrm>
            <a:off x="3200400" y="3922776"/>
            <a:ext cx="2743200" cy="1024200"/>
          </a:xfrm>
          <a:prstGeom prst="roundRect">
            <a:avLst>
              <a:gd fmla="val 8000" name="adj"/>
            </a:avLst>
          </a:prstGeom>
          <a:noFill/>
          <a:ln w="9525">
            <a:solidFill>
              <a:schemeClr val="dk1"/>
            </a:solid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Constraints we hit</a:t>
            </a:r>
            <a:endParaRPr sz="80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Quotas: </a:t>
            </a:r>
            <a:r>
              <a:rPr lang="en-GB" cap="none" strike="noStrike" sz="650">
                <a:latin typeface="Google Sans Flex"/>
                <a:ea typeface="Google Sans Flex"/>
                <a:cs typeface="Google Sans Flex"/>
                <a:sym typeface="Google Sans Flex"/>
              </a:rPr>
              <a:t>Vertex AI pay-as-you-go, default quotas; no free-tier or raised limits assumed.</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429: </a:t>
            </a:r>
            <a:r>
              <a:rPr lang="en-GB" cap="none" strike="noStrike" sz="650">
                <a:latin typeface="Google Sans Flex"/>
                <a:ea typeface="Google Sans Flex"/>
                <a:cs typeface="Google Sans Flex"/>
                <a:sym typeface="Google Sans Flex"/>
              </a:rPr>
              <a:t>8 parallel eval workers hit RESOURCE_EXHAUSTED, so evals run 4 at a time.</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504: </a:t>
            </a:r>
            <a:r>
              <a:rPr lang="en-GB" cap="none" strike="noStrike" sz="650">
                <a:latin typeface="Google Sans Flex"/>
                <a:ea typeface="Google Sans Flex"/>
                <a:cs typeface="Google Sans Flex"/>
                <a:sym typeface="Google Sans Flex"/>
              </a:rPr>
              <a:t>Vertex sometimes times out under load: a 90 s timeout per call, one retry on chat actions; demo capped at 5,000 AI calls a day.</a:t>
            </a:r>
            <a:endParaRPr sz="650">
              <a:latin typeface="Google Sans Flex"/>
              <a:ea typeface="Google Sans Flex"/>
              <a:cs typeface="Google Sans Flex"/>
              <a:sym typeface="Google Sans Flex"/>
            </a:endParaRPr>
          </a:p>
        </p:txBody>
      </p:sp>
      <p:sp>
        <p:nvSpPr>
          <p:cNvPr id="156" name="Google Shape;229;p25"/>
          <p:cNvSpPr/>
          <p:nvPr/>
        </p:nvSpPr>
        <p:spPr>
          <a:xfrm>
            <a:off x="6053328" y="3922776"/>
            <a:ext cx="2743200" cy="1024200"/>
          </a:xfrm>
          <a:prstGeom prst="roundRect">
            <a:avLst>
              <a:gd fmla="val 8000" name="adj"/>
            </a:avLst>
          </a:prstGeom>
          <a:noFill/>
          <a:ln w="9525">
            <a:solidFill>
              <a:schemeClr val="dk1"/>
            </a:solid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How we keep it fast</a:t>
            </a:r>
            <a:endParaRPr sz="80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a:ea typeface="Google Sans Flex"/>
                <a:cs typeface="Google Sans Flex"/>
                <a:sym typeface="Google Sans Flex"/>
              </a:rPr>
              <a:t>Checks run once per new customer message and are stored; briefs are cached; the claim agent runs on low thinking.</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a:ea typeface="Google Sans Flex"/>
                <a:cs typeface="Google Sans Flex"/>
                <a:sym typeface="Google Sans Flex"/>
              </a:rPr>
              <a:t>AI calls go straight to Cloud Run (300 s), past Hosting's 60 s limit; 1 warm instance, 30 requests each.</a:t>
            </a:r>
            <a:endParaRPr sz="650">
              <a:latin typeface="Google Sans Flex"/>
              <a:ea typeface="Google Sans Flex"/>
              <a:cs typeface="Google Sans Flex"/>
              <a:sym typeface="Google Sans Fle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Google Shape;238;p26"/>
          <p:cNvSpPr txBox="1"/>
          <p:nvPr/>
        </p:nvSpPr>
        <p:spPr>
          <a:xfrm>
            <a:off x="3429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Learning from resolved claims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Use seller corrections and resolved outcomes to</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improve recall and propose packing lessons.</a:t>
            </a:r>
            <a:endParaRPr sz="1200">
              <a:latin typeface="Google Sans Flex"/>
              <a:ea typeface="Google Sans Flex"/>
              <a:cs typeface="Google Sans Flex"/>
              <a:sym typeface="Google Sans Flex"/>
            </a:endParaRPr>
          </a:p>
        </p:txBody>
      </p:sp>
      <p:sp>
        <p:nvSpPr>
          <p:cNvPr id="153" name="Google Shape;239;p26"/>
          <p:cNvSpPr txBox="1"/>
          <p:nvPr/>
        </p:nvSpPr>
        <p:spPr>
          <a:xfrm>
            <a:off x="3429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Conversational shopping</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Help customers discover products, choose variants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and build orders using the seller’s catalog and stock.</a:t>
            </a:r>
            <a:endParaRPr sz="1200">
              <a:latin typeface="Google Sans Flex"/>
              <a:ea typeface="Google Sans Flex"/>
              <a:cs typeface="Google Sans Flex"/>
              <a:sym typeface="Google Sans Flex"/>
            </a:endParaRPr>
          </a:p>
        </p:txBody>
      </p:sp>
      <p:sp>
        <p:nvSpPr>
          <p:cNvPr id="154" name="Google Shape;240;p26"/>
          <p:cNvSpPr txBox="1"/>
          <p:nvPr/>
        </p:nvSpPr>
        <p:spPr>
          <a:xfrm>
            <a:off x="3429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Customer and sales insights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Surface demand, common questions, repeat purchases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and customer-stated reasons for abandoned orders.</a:t>
            </a:r>
            <a:endParaRPr sz="1200">
              <a:latin typeface="Google Sans Flex"/>
              <a:ea typeface="Google Sans Flex"/>
              <a:cs typeface="Google Sans Flex"/>
              <a:sym typeface="Google Sans Flex"/>
            </a:endParaRPr>
          </a:p>
        </p:txBody>
      </p:sp>
      <p:sp>
        <p:nvSpPr>
          <p:cNvPr id="155" name="Google Shape;241;p26"/>
          <p:cNvSpPr txBox="1"/>
          <p:nvPr/>
        </p:nvSpPr>
        <p:spPr>
          <a:xfrm>
            <a:off x="47625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Production and payment integrations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Pilot with sellers and add provider-confirmed</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payments and reconciliation. Explore direct GCash</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access, subject to partner approval.</a:t>
            </a:r>
            <a:endParaRPr sz="1200">
              <a:latin typeface="Google Sans Flex"/>
              <a:ea typeface="Google Sans Flex"/>
              <a:cs typeface="Google Sans Flex"/>
              <a:sym typeface="Google Sans Flex"/>
            </a:endParaRPr>
          </a:p>
        </p:txBody>
      </p:sp>
      <p:sp>
        <p:nvSpPr>
          <p:cNvPr id="156" name="Google Shape;242;p26"/>
          <p:cNvSpPr txBox="1"/>
          <p:nvPr/>
        </p:nvSpPr>
        <p:spPr>
          <a:xfrm>
            <a:off x="47625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Multi-store onboarding and team access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Add store onboarding and staff permissions.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Keep each store’s records and memories isolated.</a:t>
            </a:r>
            <a:endParaRPr sz="1200">
              <a:latin typeface="Google Sans Flex"/>
              <a:ea typeface="Google Sans Flex"/>
              <a:cs typeface="Google Sans Flex"/>
              <a:sym typeface="Google Sans Flex"/>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 - https://github.com/kevsoriano/servermaya</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 - http://servermaya-ai-builder-cup.web.app/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